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59" r:id="rId4"/>
    <p:sldId id="260" r:id="rId5"/>
    <p:sldId id="262" r:id="rId6"/>
    <p:sldId id="264" r:id="rId7"/>
    <p:sldId id="261" r:id="rId8"/>
    <p:sldId id="263" r:id="rId9"/>
    <p:sldId id="265" r:id="rId10"/>
    <p:sldId id="266" r:id="rId11"/>
    <p:sldId id="267" r:id="rId12"/>
    <p:sldId id="271" r:id="rId13"/>
    <p:sldId id="272" r:id="rId14"/>
    <p:sldId id="270" r:id="rId15"/>
    <p:sldId id="27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0E4B08B-9273-485B-8B38-426E86CCDE04}" type="datetimeFigureOut">
              <a:rPr lang="en-KE" smtClean="0"/>
              <a:t>19/04/2026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5C19F66-FDCB-4CE6-84BA-ABDF2C213B9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9064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4B08B-9273-485B-8B38-426E86CCDE04}" type="datetimeFigureOut">
              <a:rPr lang="en-KE" smtClean="0"/>
              <a:t>19/04/2026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19F66-FDCB-4CE6-84BA-ABDF2C213B9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563878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E4B08B-9273-485B-8B38-426E86CCDE04}" type="datetimeFigureOut">
              <a:rPr lang="en-KE" smtClean="0"/>
              <a:t>19/04/2026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5C19F66-FDCB-4CE6-84BA-ABDF2C213B9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145204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4B08B-9273-485B-8B38-426E86CCDE04}" type="datetimeFigureOut">
              <a:rPr lang="en-KE" smtClean="0"/>
              <a:t>19/04/2026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19F66-FDCB-4CE6-84BA-ABDF2C213B9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533482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4B08B-9273-485B-8B38-426E86CCDE04}" type="datetimeFigureOut">
              <a:rPr lang="en-KE" smtClean="0"/>
              <a:t>19/04/2026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19F66-FDCB-4CE6-84BA-ABDF2C213B9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040276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4B08B-9273-485B-8B38-426E86CCDE04}" type="datetimeFigureOut">
              <a:rPr lang="en-KE" smtClean="0"/>
              <a:t>19/04/2026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19F66-FDCB-4CE6-84BA-ABDF2C213B9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00279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4B08B-9273-485B-8B38-426E86CCDE04}" type="datetimeFigureOut">
              <a:rPr lang="en-KE" smtClean="0"/>
              <a:t>19/04/2026</a:t>
            </a:fld>
            <a:endParaRPr lang="en-K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19F66-FDCB-4CE6-84BA-ABDF2C213B9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414530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4B08B-9273-485B-8B38-426E86CCDE04}" type="datetimeFigureOut">
              <a:rPr lang="en-KE" smtClean="0"/>
              <a:t>19/04/2026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19F66-FDCB-4CE6-84BA-ABDF2C213B9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55000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4B08B-9273-485B-8B38-426E86CCDE04}" type="datetimeFigureOut">
              <a:rPr lang="en-KE" smtClean="0"/>
              <a:t>19/04/2026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19F66-FDCB-4CE6-84BA-ABDF2C213B9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40500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4B08B-9273-485B-8B38-426E86CCDE04}" type="datetimeFigureOut">
              <a:rPr lang="en-KE" smtClean="0"/>
              <a:t>19/04/2026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19F66-FDCB-4CE6-84BA-ABDF2C213B9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307044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E4B08B-9273-485B-8B38-426E86CCDE04}" type="datetimeFigureOut">
              <a:rPr lang="en-KE" smtClean="0"/>
              <a:t>19/04/2026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5C19F66-FDCB-4CE6-84BA-ABDF2C213B9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837944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E4B08B-9273-485B-8B38-426E86CCDE04}" type="datetimeFigureOut">
              <a:rPr lang="en-KE" smtClean="0"/>
              <a:t>19/04/2026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5C19F66-FDCB-4CE6-84BA-ABDF2C213B92}" type="slidenum">
              <a:rPr lang="en-KE" smtClean="0"/>
              <a:t>‹#›</a:t>
            </a:fld>
            <a:endParaRPr lang="en-KE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1788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E4B08B-9273-485B-8B38-426E86CCDE04}" type="datetimeFigureOut">
              <a:rPr lang="en-KE" smtClean="0"/>
              <a:t>19/04/2026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K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5C19F66-FDCB-4CE6-84BA-ABDF2C213B9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194688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4B08B-9273-485B-8B38-426E86CCDE04}" type="datetimeFigureOut">
              <a:rPr lang="en-KE" smtClean="0"/>
              <a:t>19/04/2026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19F66-FDCB-4CE6-84BA-ABDF2C213B9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9411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4B08B-9273-485B-8B38-426E86CCDE04}" type="datetimeFigureOut">
              <a:rPr lang="en-KE" smtClean="0"/>
              <a:t>19/04/2026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19F66-FDCB-4CE6-84BA-ABDF2C213B9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3159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4B08B-9273-485B-8B38-426E86CCDE04}" type="datetimeFigureOut">
              <a:rPr lang="en-KE" smtClean="0"/>
              <a:t>19/04/2026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19F66-FDCB-4CE6-84BA-ABDF2C213B9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8467856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E4B08B-9273-485B-8B38-426E86CCDE04}" type="datetimeFigureOut">
              <a:rPr lang="en-KE" smtClean="0"/>
              <a:t>19/04/2026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5C19F66-FDCB-4CE6-84BA-ABDF2C213B9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885814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4B08B-9273-485B-8B38-426E86CCDE04}" type="datetimeFigureOut">
              <a:rPr lang="en-KE" smtClean="0"/>
              <a:t>19/04/2026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19F66-FDCB-4CE6-84BA-ABDF2C213B9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922862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F97B-013E-1208-C7E1-F10246FC03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Algerian" panose="04020705040A02060702" pitchFamily="82" charset="0"/>
              </a:rPr>
              <a:t>bulldog2:vuln hub walkthrough</a:t>
            </a:r>
            <a:endParaRPr lang="en-KE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DBB35-B890-9573-A2D6-31C4CD72C8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70C0"/>
                </a:solidFill>
                <a:latin typeface="Algerian" panose="04020705040A02060702" pitchFamily="82" charset="0"/>
              </a:rPr>
              <a:t>Tools used: kali </a:t>
            </a:r>
            <a:r>
              <a:rPr lang="en-US" dirty="0" err="1">
                <a:solidFill>
                  <a:srgbClr val="0070C0"/>
                </a:solidFill>
                <a:latin typeface="Algerian" panose="04020705040A02060702" pitchFamily="82" charset="0"/>
              </a:rPr>
              <a:t>linux</a:t>
            </a:r>
            <a:r>
              <a:rPr lang="en-US" dirty="0">
                <a:solidFill>
                  <a:srgbClr val="0070C0"/>
                </a:solidFill>
                <a:latin typeface="Algerian" panose="04020705040A02060702" pitchFamily="82" charset="0"/>
              </a:rPr>
              <a:t> ,virtual box .</a:t>
            </a:r>
          </a:p>
          <a:p>
            <a:r>
              <a:rPr lang="en-US" dirty="0">
                <a:solidFill>
                  <a:srgbClr val="0070C0"/>
                </a:solidFill>
                <a:latin typeface="Algerian" panose="04020705040A02060702" pitchFamily="82" charset="0"/>
              </a:rPr>
              <a:t>Created by : Ryan Brian</a:t>
            </a:r>
            <a:endParaRPr lang="en-KE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695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B0C05-8FE3-908F-5AF3-ACB1BA006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957944"/>
            <a:ext cx="4114800" cy="1295400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B0F0"/>
                </a:solidFill>
                <a:latin typeface="Algerian" panose="04020705040A02060702" pitchFamily="82" charset="0"/>
              </a:rPr>
              <a:t>Host discovery using </a:t>
            </a:r>
            <a:r>
              <a:rPr lang="en-US" sz="1800" dirty="0" err="1">
                <a:solidFill>
                  <a:srgbClr val="00B0F0"/>
                </a:solidFill>
                <a:latin typeface="Algerian" panose="04020705040A02060702" pitchFamily="82" charset="0"/>
              </a:rPr>
              <a:t>nmap</a:t>
            </a:r>
            <a:r>
              <a:rPr lang="en-US" sz="1800" dirty="0">
                <a:solidFill>
                  <a:srgbClr val="00B0F0"/>
                </a:solidFill>
                <a:latin typeface="Algerian" panose="04020705040A02060702" pitchFamily="82" charset="0"/>
              </a:rPr>
              <a:t>.</a:t>
            </a:r>
            <a:endParaRPr lang="en-KE" sz="1800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CE6AD7-B7AE-3A4E-4AC7-42D5BA7D51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863" y="870856"/>
            <a:ext cx="7196137" cy="523602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F47D80-31F0-997D-B1FF-94570A284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362201"/>
            <a:ext cx="4114800" cy="3856484"/>
          </a:xfrm>
        </p:spPr>
        <p:txBody>
          <a:bodyPr/>
          <a:lstStyle/>
          <a:p>
            <a:r>
              <a:rPr lang="en-US" dirty="0"/>
              <a:t>For host discover using </a:t>
            </a:r>
            <a:r>
              <a:rPr lang="en-US" dirty="0" err="1"/>
              <a:t>nmap</a:t>
            </a:r>
            <a:r>
              <a:rPr lang="en-US" dirty="0"/>
              <a:t> I used the command :</a:t>
            </a: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rgbClr val="FFC000"/>
                </a:solidFill>
              </a:rPr>
              <a:t>Sudo </a:t>
            </a:r>
            <a:r>
              <a:rPr lang="en-US" dirty="0" err="1">
                <a:solidFill>
                  <a:srgbClr val="FFC000"/>
                </a:solidFill>
              </a:rPr>
              <a:t>nmap</a:t>
            </a:r>
            <a:r>
              <a:rPr lang="en-US" dirty="0">
                <a:solidFill>
                  <a:srgbClr val="FFC000"/>
                </a:solidFill>
              </a:rPr>
              <a:t>  –</a:t>
            </a:r>
            <a:r>
              <a:rPr lang="en-US" dirty="0" err="1">
                <a:solidFill>
                  <a:srgbClr val="FFC000"/>
                </a:solidFill>
              </a:rPr>
              <a:t>sn</a:t>
            </a:r>
            <a:r>
              <a:rPr lang="en-US" dirty="0">
                <a:solidFill>
                  <a:srgbClr val="FFC000"/>
                </a:solidFill>
              </a:rPr>
              <a:t> 192.168.1.0/24</a:t>
            </a:r>
            <a:br>
              <a:rPr lang="en-US" dirty="0"/>
            </a:br>
            <a:endParaRPr lang="en-US" dirty="0"/>
          </a:p>
          <a:p>
            <a:r>
              <a:rPr lang="en-US" dirty="0"/>
              <a:t>From the screenshot we can see the bulldog2 machine discovered.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782991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200BB-6DCE-4832-BB4E-0F97AB6F8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208314"/>
            <a:ext cx="4114800" cy="1513115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B0F0"/>
                </a:solidFill>
                <a:latin typeface="Algerian" panose="04020705040A02060702" pitchFamily="82" charset="0"/>
              </a:rPr>
              <a:t>the screenshot below shows vulnerability scan using </a:t>
            </a:r>
            <a:r>
              <a:rPr lang="en-US" sz="1800" dirty="0" err="1">
                <a:solidFill>
                  <a:srgbClr val="00B0F0"/>
                </a:solidFill>
                <a:latin typeface="Algerian" panose="04020705040A02060702" pitchFamily="82" charset="0"/>
              </a:rPr>
              <a:t>nmap</a:t>
            </a:r>
            <a:r>
              <a:rPr lang="en-US" sz="1800" dirty="0">
                <a:solidFill>
                  <a:srgbClr val="00B0F0"/>
                </a:solidFill>
                <a:latin typeface="Algerian" panose="04020705040A02060702" pitchFamily="82" charset="0"/>
              </a:rPr>
              <a:t> for the host we discovered early.</a:t>
            </a:r>
            <a:endParaRPr lang="en-KE" sz="1800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BA28DA0-6E92-8AE6-290D-740328CE4A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863" y="1078708"/>
            <a:ext cx="6510337" cy="480694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02456B-1353-A1F0-6B67-912417B04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721430"/>
            <a:ext cx="4114800" cy="3167742"/>
          </a:xfrm>
        </p:spPr>
        <p:txBody>
          <a:bodyPr/>
          <a:lstStyle/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Apache vulnerability (CVE-2011-3192)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- This is a 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false positive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! 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The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 target is running 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nginx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, NOT Apache. Nmap incorrectly identified this vulnerability.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455522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1F4AA-85C0-5E67-96FC-1658174B9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B0F0"/>
                </a:solidFill>
                <a:latin typeface="Algerian" panose="04020705040A02060702" pitchFamily="82" charset="0"/>
              </a:rPr>
              <a:t>Using page source to get the </a:t>
            </a:r>
            <a:r>
              <a:rPr lang="en-US" sz="1800" dirty="0" err="1">
                <a:solidFill>
                  <a:srgbClr val="00B0F0"/>
                </a:solidFill>
                <a:latin typeface="Algerian" panose="04020705040A02060702" pitchFamily="82" charset="0"/>
              </a:rPr>
              <a:t>json</a:t>
            </a:r>
            <a:r>
              <a:rPr lang="en-US" sz="1800" dirty="0">
                <a:solidFill>
                  <a:srgbClr val="00B0F0"/>
                </a:solidFill>
                <a:latin typeface="Algerian" panose="04020705040A02060702" pitchFamily="82" charset="0"/>
              </a:rPr>
              <a:t> script</a:t>
            </a:r>
            <a:endParaRPr lang="en-KE" sz="1800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C8F6B3-B37D-EAC5-ADC7-068930A1BB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630" y="236544"/>
            <a:ext cx="6041570" cy="327954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26E9C-95BF-9350-DF37-A17D0164D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2" y="3124198"/>
            <a:ext cx="4114800" cy="3429001"/>
          </a:xfrm>
        </p:spPr>
        <p:txBody>
          <a:bodyPr/>
          <a:lstStyle/>
          <a:p>
            <a:r>
              <a:rPr lang="en-US" dirty="0"/>
              <a:t>Here I checked the script under user  registration and login to understand how user registration works.</a:t>
            </a:r>
            <a:endParaRPr lang="en-K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A66950-BCB7-63DB-447F-26B47BA74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457" y="3527925"/>
            <a:ext cx="7663543" cy="327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946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356FE-2103-F898-FD1C-6E85BCE1D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53372"/>
            <a:ext cx="4114800" cy="1028571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B0F0"/>
                </a:solidFill>
                <a:latin typeface="Algerian" panose="04020705040A02060702" pitchFamily="82" charset="0"/>
              </a:rPr>
              <a:t>User registration</a:t>
            </a:r>
            <a:endParaRPr lang="en-KE" sz="1800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57697EE-617F-E127-F672-B475933D65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349" y="3724384"/>
            <a:ext cx="6510337" cy="189411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ABDF3-07F2-3D05-A33F-F66102202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481943"/>
            <a:ext cx="4114800" cy="3736741"/>
          </a:xfrm>
        </p:spPr>
        <p:txBody>
          <a:bodyPr/>
          <a:lstStyle/>
          <a:p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The registration endpoint was disabled in the UI but still active on the backend allowing direct API access via curl to bypass client-side restrictions.</a:t>
            </a:r>
            <a:endParaRPr lang="en-K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B9FBD5-B164-B1BB-4BCA-A64B3F1E6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762" y="1239502"/>
            <a:ext cx="8895238" cy="1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289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A77ED-B264-13F0-7B5C-48457BFD7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B0F0"/>
                </a:solidFill>
                <a:latin typeface="Algerian" panose="04020705040A02060702" pitchFamily="82" charset="0"/>
              </a:rPr>
              <a:t>Confirmation for the user I </a:t>
            </a:r>
            <a:r>
              <a:rPr lang="en-US" sz="1800" dirty="0" err="1">
                <a:solidFill>
                  <a:srgbClr val="00B0F0"/>
                </a:solidFill>
                <a:latin typeface="Algerian" panose="04020705040A02060702" pitchFamily="82" charset="0"/>
              </a:rPr>
              <a:t>registred</a:t>
            </a:r>
            <a:r>
              <a:rPr lang="en-US" sz="1800" dirty="0">
                <a:solidFill>
                  <a:srgbClr val="00B0F0"/>
                </a:solidFill>
                <a:latin typeface="Algerian" panose="04020705040A02060702" pitchFamily="82" charset="0"/>
              </a:rPr>
              <a:t>.</a:t>
            </a:r>
            <a:endParaRPr lang="en-KE" sz="1800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17ADEF-2EBF-AE51-56AE-4166604F93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863" y="1524001"/>
            <a:ext cx="6510337" cy="345077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91D8A-05F8-58EA-BC8A-448F46474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user I tried to create was a success and I can login into the user account.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625268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9F8D1-9247-1DBD-8913-F632C64BD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B0F0"/>
                </a:solidFill>
                <a:latin typeface="Algerian" panose="04020705040A02060702" pitchFamily="82" charset="0"/>
              </a:rPr>
              <a:t>Changing the authentication level from standard user to master admin user.</a:t>
            </a:r>
            <a:endParaRPr lang="en-KE" sz="1800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327B06B-2551-07F8-548B-8BA22D92E9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348" y="3429000"/>
            <a:ext cx="6510337" cy="312237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1E849-296D-6D55-D90A-2C7C10648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endParaRPr lang="en-US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From the first screenshot : The app only checks local Storage for admin status - it doesn't re-verify with the server</a:t>
            </a:r>
          </a:p>
          <a:p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In the second shot : The application trusted client-side JWT claims modifying the '</a:t>
            </a: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auth_level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' from '</a:t>
            </a: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standard_user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' to '</a:t>
            </a: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master_admin_user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' in local storage granted administrative privileges.</a:t>
            </a:r>
            <a:endParaRPr lang="en-K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3ACC99-BD78-6304-0F87-E4592DDAA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288" y="1215875"/>
            <a:ext cx="6662398" cy="190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7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AFFF3-A825-8948-A292-31549B0F7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B0F0"/>
                </a:solidFill>
                <a:latin typeface="Algerian" panose="04020705040A02060702" pitchFamily="82" charset="0"/>
              </a:rPr>
              <a:t>from the first shot we can see the admin panel has been added this is due to the change made from standard user to master admin user.</a:t>
            </a:r>
            <a:endParaRPr lang="en-KE" sz="1800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8C9438-3ABA-DF51-2755-A0A1A3496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863" y="202309"/>
            <a:ext cx="6510337" cy="2856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B9333-7CA8-881F-A831-94FC347AC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After modifying the JWT '</a:t>
            </a: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auth_level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' to '</a:t>
            </a: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master_admin_user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' in </a:t>
            </a: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localStorage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, the application's '</a:t>
            </a: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isAdmin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()' function returned true, revealing the hidden Admin Dashboard button and granting access to privileged features like Link+ CLI authentication.</a:t>
            </a:r>
          </a:p>
          <a:p>
            <a:r>
              <a:rPr lang="en-US" b="1" dirty="0">
                <a:solidFill>
                  <a:srgbClr val="F9FAFB"/>
                </a:solidFill>
                <a:latin typeface="quote-cjk-patch"/>
              </a:rPr>
              <a:t>The second shot: </a:t>
            </a:r>
            <a:r>
              <a:rPr lang="en-US" b="1" dirty="0"/>
              <a:t>Login request sends username/password in JSON format to the </a:t>
            </a:r>
            <a:r>
              <a:rPr lang="en-US" dirty="0"/>
              <a:t>/users/authenticate</a:t>
            </a:r>
            <a:r>
              <a:rPr lang="en-US" b="1" dirty="0"/>
              <a:t> endpoint, which returns a JWT token containing the user's </a:t>
            </a:r>
            <a:r>
              <a:rPr lang="en-US" b="1" dirty="0" err="1"/>
              <a:t>auth_level</a:t>
            </a:r>
            <a:r>
              <a:rPr lang="en-US" b="1" dirty="0"/>
              <a:t> for client-side storage.</a:t>
            </a:r>
            <a:endParaRPr lang="en-K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60497D-1AD5-7A28-4C9F-61ED6B3F57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286" y="3058885"/>
            <a:ext cx="6705600" cy="346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357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429F2-D8D8-EB29-86FD-9F889FF0A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B0F0"/>
                </a:solidFill>
                <a:latin typeface="Algerian" panose="04020705040A02060702" pitchFamily="82" charset="0"/>
              </a:rPr>
              <a:t>Gaining a reverse shell connection .</a:t>
            </a:r>
            <a:endParaRPr lang="en-KE" sz="1800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D12F2E-2538-49D8-4025-1B0CE6EA1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892" y="589121"/>
            <a:ext cx="6510337" cy="158423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43260B-6C47-6920-DBD7-1AABA0383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The first shot is :  </a:t>
            </a: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Netcat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 listener captures the connection, spawning a shell as the 'node' user on the target system.</a:t>
            </a:r>
          </a:p>
          <a:p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The second shot is : Command injection payload embedded in the password field of the </a:t>
            </a:r>
            <a:r>
              <a:rPr lang="en-US" b="0" i="0" dirty="0">
                <a:solidFill>
                  <a:srgbClr val="F9FAFB"/>
                </a:solidFill>
                <a:effectLst/>
                <a:latin typeface="Menlo"/>
              </a:rPr>
              <a:t>/users/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Menlo"/>
              </a:rPr>
              <a:t>linkauthenticate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 request, using a reverse shell one-liner to execute system commands on the server.</a:t>
            </a:r>
            <a:endParaRPr lang="en-K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D0DD71-22D1-8CFE-3995-6DC28CD47C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041" y="2324100"/>
            <a:ext cx="6816038" cy="422394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  <p:sp>
        <p:nvSpPr>
          <p:cNvPr id="3" name="Minus Sign 2">
            <a:extLst>
              <a:ext uri="{FF2B5EF4-FFF2-40B4-BE49-F238E27FC236}">
                <a16:creationId xmlns:a16="http://schemas.microsoft.com/office/drawing/2014/main" id="{75A603D4-7D27-FE8F-0CDE-59587EE6FF87}"/>
              </a:ext>
            </a:extLst>
          </p:cNvPr>
          <p:cNvSpPr/>
          <p:nvPr/>
        </p:nvSpPr>
        <p:spPr>
          <a:xfrm>
            <a:off x="10178143" y="6028828"/>
            <a:ext cx="696686" cy="480102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815841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4450E-144E-97B3-75C3-E2471BE02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B0F0"/>
                </a:solidFill>
                <a:latin typeface="Algerian" panose="04020705040A02060702" pitchFamily="82" charset="0"/>
              </a:rPr>
              <a:t>Stabilizing the reverse connection.</a:t>
            </a:r>
            <a:endParaRPr lang="en-KE" sz="1800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E497D31-EECD-65C2-AE44-53397211A2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206" y="1350473"/>
            <a:ext cx="6510337" cy="375492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FE045-0060-2627-8C82-3BEA17555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After gaining a reverse shell, I used Python PTY spawning to  upgrade the unstable /bin/</a:t>
            </a: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sh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 to a fully interactive /bin/bash shell with job control.</a:t>
            </a:r>
          </a:p>
          <a:p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Python PTY spawning stabilized the raw reverse shell into a fully interactive bash session.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698644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D2A70-6B7A-7875-B8D5-EF31F8D13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B0F0"/>
                </a:solidFill>
                <a:latin typeface="Algerian" panose="04020705040A02060702" pitchFamily="82" charset="0"/>
              </a:rPr>
              <a:t>Enumerating the /</a:t>
            </a:r>
            <a:r>
              <a:rPr lang="en-US" sz="1800" dirty="0" err="1">
                <a:solidFill>
                  <a:srgbClr val="00B0F0"/>
                </a:solidFill>
                <a:latin typeface="Algerian" panose="04020705040A02060702" pitchFamily="82" charset="0"/>
              </a:rPr>
              <a:t>etc</a:t>
            </a:r>
            <a:r>
              <a:rPr lang="en-US" sz="1800" dirty="0">
                <a:solidFill>
                  <a:srgbClr val="00B0F0"/>
                </a:solidFill>
                <a:latin typeface="Algerian" panose="04020705040A02060702" pitchFamily="82" charset="0"/>
              </a:rPr>
              <a:t> directory.</a:t>
            </a:r>
            <a:endParaRPr lang="en-KE" sz="1800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ABBBA27-105A-7232-BA28-FC2BC738B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806" y="1535530"/>
            <a:ext cx="6510337" cy="317733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A9F98-7B9A-0DFF-CA89-32D344646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The /</a:t>
            </a: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etc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/passwd file has world-writable permissions (777), allowing any user to add a new root user and escalate privileges.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781164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E7683-A972-11F0-B987-F7148F1C6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B0F0"/>
                </a:solidFill>
                <a:latin typeface="Algerian" panose="04020705040A02060702" pitchFamily="82" charset="0"/>
              </a:rPr>
              <a:t>Password hashing and creating of user with the right permissions.</a:t>
            </a:r>
            <a:endParaRPr lang="en-KE" sz="1800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37C3A-3BF6-AA73-CEFC-0C74AEF73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The first shot : A password hash was generated using Perl's crypt() function, then appended to /</a:t>
            </a: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etc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/passwd with UID 0 to create a new root user.</a:t>
            </a:r>
          </a:p>
          <a:p>
            <a:r>
              <a:rPr lang="en-US" b="1" dirty="0">
                <a:solidFill>
                  <a:srgbClr val="F9FAFB"/>
                </a:solidFill>
                <a:latin typeface="quote-cjk-patch"/>
              </a:rPr>
              <a:t>In the second screen shot :</a:t>
            </a:r>
            <a:r>
              <a:rPr lang="en-US" b="1" dirty="0"/>
              <a:t>A new user with UID 0 (root privileges) was added to the world-writable /</a:t>
            </a:r>
            <a:r>
              <a:rPr lang="en-US" b="1" dirty="0" err="1"/>
              <a:t>etc</a:t>
            </a:r>
            <a:r>
              <a:rPr lang="en-US" b="1" dirty="0"/>
              <a:t>/passwd file using a precomputed password hash.</a:t>
            </a:r>
            <a:endParaRPr lang="en-K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B52C70-23E6-16EE-1D8F-F194B4C47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270" y="1435742"/>
            <a:ext cx="4666667" cy="1219048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7396421-86DB-7AC7-BB6A-580DA7018F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4171" y="3310095"/>
            <a:ext cx="6400000" cy="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940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64DBF-906C-715B-28B2-D929F7DB8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B0F0"/>
                </a:solidFill>
                <a:latin typeface="Algerian" panose="04020705040A02060702" pitchFamily="82" charset="0"/>
              </a:rPr>
              <a:t>Confirmation if the user was created successfully.</a:t>
            </a:r>
            <a:endParaRPr lang="en-KE" sz="1800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529B34-F6AB-A099-815A-585FD607CE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863" y="957588"/>
            <a:ext cx="6510337" cy="504918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728D9-AA4C-F378-2310-34DF54710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The last line confirms a new user 'ryan' with UID 0 (root privileges) was successfully appended to /</a:t>
            </a: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etc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/passwd, enabling immediate privilege escalation.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303787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30B3F-F17F-59A2-9BB6-41AB9028C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B0F0"/>
                </a:solidFill>
                <a:latin typeface="Algerian" panose="04020705040A02060702" pitchFamily="82" charset="0"/>
              </a:rPr>
              <a:t>Getting the flag</a:t>
            </a:r>
            <a:r>
              <a:rPr lang="en-US" dirty="0"/>
              <a:t>.</a:t>
            </a:r>
            <a:endParaRPr lang="en-K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9E05B4B-B7EE-7B8B-3D04-A6358FF7FA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863" y="1476340"/>
            <a:ext cx="6510337" cy="401168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45D68-4359-CC24-67DC-222BEF55A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After escalating to root via the world-writable /</a:t>
            </a: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etc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/passwd, reading /root/flag.txt confirmed successful compromise of the Bulldog 2 VM.</a:t>
            </a:r>
          </a:p>
          <a:p>
            <a:endParaRPr lang="en-US" b="1" dirty="0">
              <a:solidFill>
                <a:srgbClr val="F9FAFB"/>
              </a:solidFill>
              <a:latin typeface="quote-cjk-patch"/>
            </a:endParaRPr>
          </a:p>
          <a:p>
            <a:endParaRPr lang="en-US" b="1" dirty="0">
              <a:solidFill>
                <a:srgbClr val="F9FAFB"/>
              </a:solidFill>
              <a:latin typeface="quote-cjk-patch"/>
            </a:endParaRPr>
          </a:p>
          <a:p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A chain of vulnerabilities including insecure direct object reference, client-side authorization, command injection, and world-writable system files led to full root compromise.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974002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87816-C1FF-6116-ADC9-9AF6ED66B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495" y="1124702"/>
            <a:ext cx="10146186" cy="987128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rgbClr val="00B050"/>
                </a:solidFill>
                <a:latin typeface="Algerian" panose="04020705040A02060702" pitchFamily="82" charset="0"/>
              </a:rPr>
              <a:t>Registration Bypass → JWT Manipulation → Admin Access</a:t>
            </a:r>
            <a:br>
              <a:rPr lang="en-US" sz="2000" dirty="0">
                <a:solidFill>
                  <a:srgbClr val="00B050"/>
                </a:solidFill>
                <a:latin typeface="Algerian" panose="04020705040A02060702" pitchFamily="82" charset="0"/>
              </a:rPr>
            </a:br>
            <a:r>
              <a:rPr lang="en-US" sz="2000" dirty="0">
                <a:solidFill>
                  <a:srgbClr val="00B050"/>
                </a:solidFill>
                <a:latin typeface="Algerian" panose="04020705040A02060702" pitchFamily="82" charset="0"/>
              </a:rPr>
              <a:t>        ↓</a:t>
            </a:r>
            <a:br>
              <a:rPr lang="en-US" sz="2000" dirty="0">
                <a:solidFill>
                  <a:srgbClr val="00B050"/>
                </a:solidFill>
                <a:latin typeface="Algerian" panose="04020705040A02060702" pitchFamily="82" charset="0"/>
              </a:rPr>
            </a:br>
            <a:r>
              <a:rPr lang="en-US" sz="2000" dirty="0">
                <a:solidFill>
                  <a:srgbClr val="00B050"/>
                </a:solidFill>
                <a:latin typeface="Algerian" panose="04020705040A02060702" pitchFamily="82" charset="0"/>
              </a:rPr>
              <a:t>Command Injection → Reverse Shell</a:t>
            </a:r>
            <a:br>
              <a:rPr lang="en-US" sz="2000" dirty="0">
                <a:solidFill>
                  <a:srgbClr val="00B050"/>
                </a:solidFill>
                <a:latin typeface="Algerian" panose="04020705040A02060702" pitchFamily="82" charset="0"/>
              </a:rPr>
            </a:br>
            <a:r>
              <a:rPr lang="en-US" sz="2000" dirty="0">
                <a:solidFill>
                  <a:srgbClr val="00B050"/>
                </a:solidFill>
                <a:latin typeface="Algerian" panose="04020705040A02060702" pitchFamily="82" charset="0"/>
              </a:rPr>
              <a:t>        ↓</a:t>
            </a:r>
            <a:br>
              <a:rPr lang="en-US" sz="2000" dirty="0">
                <a:solidFill>
                  <a:srgbClr val="00B050"/>
                </a:solidFill>
                <a:latin typeface="Algerian" panose="04020705040A02060702" pitchFamily="82" charset="0"/>
              </a:rPr>
            </a:br>
            <a:r>
              <a:rPr lang="en-US" sz="2000" dirty="0">
                <a:solidFill>
                  <a:srgbClr val="00B050"/>
                </a:solidFill>
                <a:latin typeface="Algerian" panose="04020705040A02060702" pitchFamily="82" charset="0"/>
              </a:rPr>
              <a:t>Writable /</a:t>
            </a:r>
            <a:r>
              <a:rPr lang="en-US" sz="2000" dirty="0" err="1">
                <a:solidFill>
                  <a:srgbClr val="00B050"/>
                </a:solidFill>
                <a:latin typeface="Algerian" panose="04020705040A02060702" pitchFamily="82" charset="0"/>
              </a:rPr>
              <a:t>etc</a:t>
            </a:r>
            <a:r>
              <a:rPr lang="en-US" sz="2000" dirty="0">
                <a:solidFill>
                  <a:srgbClr val="00B050"/>
                </a:solidFill>
                <a:latin typeface="Algerian" panose="04020705040A02060702" pitchFamily="82" charset="0"/>
              </a:rPr>
              <a:t>/passwd → ROOT → FLAG </a:t>
            </a:r>
            <a:r>
              <a:rPr lang="en-KE" sz="2000" dirty="0">
                <a:solidFill>
                  <a:srgbClr val="00B050"/>
                </a:solidFill>
                <a:latin typeface="Algerian" panose="04020705040A02060702" pitchFamily="82" charset="0"/>
              </a:rPr>
              <a:t>🏆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D3818-2FB8-E441-9DD3-B00812C16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467" y="2111830"/>
            <a:ext cx="10144654" cy="374468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Vulnerabilities Identified:</a:t>
            </a:r>
          </a:p>
          <a:p>
            <a:r>
              <a:rPr lang="en-US" dirty="0">
                <a:solidFill>
                  <a:srgbClr val="FF0000"/>
                </a:solidFill>
              </a:rPr>
              <a:t>└── IDOR (User enumeration)</a:t>
            </a:r>
          </a:p>
          <a:p>
            <a:r>
              <a:rPr lang="en-US" dirty="0">
                <a:solidFill>
                  <a:srgbClr val="FF0000"/>
                </a:solidFill>
              </a:rPr>
              <a:t>└── Broken Access Control (JWT manipulation)</a:t>
            </a:r>
          </a:p>
          <a:p>
            <a:r>
              <a:rPr lang="en-US" dirty="0">
                <a:solidFill>
                  <a:srgbClr val="FF0000"/>
                </a:solidFill>
              </a:rPr>
              <a:t>└── Command Injection (Reverse shell)</a:t>
            </a:r>
          </a:p>
          <a:p>
            <a:r>
              <a:rPr lang="en-US" dirty="0">
                <a:solidFill>
                  <a:srgbClr val="FF0000"/>
                </a:solidFill>
              </a:rPr>
              <a:t>└── Privilege Escalation (Writable /</a:t>
            </a:r>
            <a:r>
              <a:rPr lang="en-US" dirty="0" err="1">
                <a:solidFill>
                  <a:srgbClr val="FF0000"/>
                </a:solidFill>
              </a:rPr>
              <a:t>etc</a:t>
            </a:r>
            <a:r>
              <a:rPr lang="en-US" dirty="0">
                <a:solidFill>
                  <a:srgbClr val="FF0000"/>
                </a:solidFill>
              </a:rPr>
              <a:t>/passwd)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Remediation:</a:t>
            </a:r>
          </a:p>
          <a:p>
            <a:r>
              <a:rPr lang="en-US" dirty="0">
                <a:solidFill>
                  <a:srgbClr val="FF0000"/>
                </a:solidFill>
              </a:rPr>
              <a:t>├── Server-side authorization checks</a:t>
            </a:r>
          </a:p>
          <a:p>
            <a:r>
              <a:rPr lang="en-US" dirty="0">
                <a:solidFill>
                  <a:srgbClr val="FF0000"/>
                </a:solidFill>
              </a:rPr>
              <a:t>├── Input sanitization</a:t>
            </a:r>
          </a:p>
          <a:p>
            <a:r>
              <a:rPr lang="en-US" dirty="0">
                <a:solidFill>
                  <a:srgbClr val="FF0000"/>
                </a:solidFill>
              </a:rPr>
              <a:t>└── Strict file permissions (644 for /</a:t>
            </a:r>
            <a:r>
              <a:rPr lang="en-US" dirty="0" err="1">
                <a:solidFill>
                  <a:srgbClr val="FF0000"/>
                </a:solidFill>
              </a:rPr>
              <a:t>etc</a:t>
            </a:r>
            <a:r>
              <a:rPr lang="en-US" dirty="0">
                <a:solidFill>
                  <a:srgbClr val="FF0000"/>
                </a:solidFill>
              </a:rPr>
              <a:t>/passwd)</a:t>
            </a:r>
            <a:endParaRPr lang="en-K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61016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146</TotalTime>
  <Words>752</Words>
  <Application>Microsoft Office PowerPoint</Application>
  <PresentationFormat>Widescreen</PresentationFormat>
  <Paragraphs>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Algerian</vt:lpstr>
      <vt:lpstr>Arial</vt:lpstr>
      <vt:lpstr>Century Gothic</vt:lpstr>
      <vt:lpstr>Menlo</vt:lpstr>
      <vt:lpstr>quote-cjk-patch</vt:lpstr>
      <vt:lpstr>Vapor Trail</vt:lpstr>
      <vt:lpstr>bulldog2:vuln hub walkthrough</vt:lpstr>
      <vt:lpstr>Host discovery using nmap.</vt:lpstr>
      <vt:lpstr>the screenshot below shows vulnerability scan using nmap for the host we discovered early.</vt:lpstr>
      <vt:lpstr>Using page source to get the json script</vt:lpstr>
      <vt:lpstr>User registration</vt:lpstr>
      <vt:lpstr>Confirmation for the user I registred.</vt:lpstr>
      <vt:lpstr>Changing the authentication level from standard user to master admin user.</vt:lpstr>
      <vt:lpstr>from the first shot we can see the admin panel has been added this is due to the change made from standard user to master admin user.</vt:lpstr>
      <vt:lpstr>Gaining a reverse shell connection .</vt:lpstr>
      <vt:lpstr>Stabilizing the reverse connection.</vt:lpstr>
      <vt:lpstr>Enumerating the /etc directory.</vt:lpstr>
      <vt:lpstr>Password hashing and creating of user with the right permissions.</vt:lpstr>
      <vt:lpstr>Confirmation if the user was created successfully.</vt:lpstr>
      <vt:lpstr>Getting the flag.</vt:lpstr>
      <vt:lpstr>Registration Bypass → JWT Manipulation → Admin Access         ↓ Command Injection → Reverse Shell         ↓ Writable /etc/passwd → ROOT → FLAG 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brian</dc:creator>
  <cp:lastModifiedBy>ryan brian</cp:lastModifiedBy>
  <cp:revision>6</cp:revision>
  <dcterms:created xsi:type="dcterms:W3CDTF">2026-04-18T18:16:26Z</dcterms:created>
  <dcterms:modified xsi:type="dcterms:W3CDTF">2026-04-19T16:15:28Z</dcterms:modified>
</cp:coreProperties>
</file>