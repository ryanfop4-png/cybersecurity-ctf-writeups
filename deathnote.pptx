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3/16/2026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84722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3/16/2026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89112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3/16/2026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31660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3/16/2026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59211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3/16/2026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18911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3/16/2026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3097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3/16/2026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53400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3/16/2026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68314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3/16/2026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56677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3/16/2026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822711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3/16/2026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300396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3/16/2026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639651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3/16/2026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3041262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3/16/2026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0975462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3/16/2026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8924856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3/16/2026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71703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3/16/2026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8825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DA38F49-B3E2-4BF0-BEC7-C30D34ABBB8D}" type="datetime1">
              <a:rPr lang="en-US" smtClean="0"/>
              <a:t>3/16/2026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1152320172"/>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mailto:kira@127.0.0.1"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51E256-35EC-026E-AE61-ACD17751329A}"/>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E5BFB95C-CB91-199B-8917-C6BD095CFD57}"/>
              </a:ext>
            </a:extLst>
          </p:cNvPr>
          <p:cNvSpPr>
            <a:spLocks noGrp="1"/>
          </p:cNvSpPr>
          <p:nvPr>
            <p:ph type="ctrTitle"/>
          </p:nvPr>
        </p:nvSpPr>
        <p:spPr>
          <a:xfrm>
            <a:off x="185057" y="914400"/>
            <a:ext cx="11345952" cy="3427867"/>
          </a:xfrm>
        </p:spPr>
        <p:txBody>
          <a:bodyPr anchor="t">
            <a:normAutofit/>
          </a:bodyPr>
          <a:lstStyle/>
          <a:p>
            <a:pPr algn="r"/>
            <a:r>
              <a:rPr lang="en-US" sz="3600" dirty="0" err="1">
                <a:solidFill>
                  <a:srgbClr val="00B050"/>
                </a:solidFill>
                <a:latin typeface="Algerian" panose="04020705040A02060702" pitchFamily="82" charset="0"/>
              </a:rPr>
              <a:t>Deathnote</a:t>
            </a:r>
            <a:r>
              <a:rPr lang="en-US" sz="3600" dirty="0">
                <a:solidFill>
                  <a:srgbClr val="00B050"/>
                </a:solidFill>
                <a:latin typeface="Algerian" panose="04020705040A02060702" pitchFamily="82" charset="0"/>
              </a:rPr>
              <a:t> VM - Penetration Testing Report</a:t>
            </a:r>
            <a:br>
              <a:rPr lang="en-US" sz="3600" dirty="0">
                <a:solidFill>
                  <a:srgbClr val="00B050"/>
                </a:solidFill>
                <a:latin typeface="Algerian" panose="04020705040A02060702" pitchFamily="82" charset="0"/>
              </a:rPr>
            </a:br>
            <a:r>
              <a:rPr lang="en-US" sz="3600" dirty="0">
                <a:solidFill>
                  <a:srgbClr val="00B050"/>
                </a:solidFill>
                <a:latin typeface="Algerian" panose="04020705040A02060702" pitchFamily="82" charset="0"/>
              </a:rPr>
              <a:t>tools :kali </a:t>
            </a:r>
            <a:r>
              <a:rPr lang="en-US" sz="3600" dirty="0" err="1">
                <a:solidFill>
                  <a:srgbClr val="00B050"/>
                </a:solidFill>
                <a:latin typeface="Algerian" panose="04020705040A02060702" pitchFamily="82" charset="0"/>
              </a:rPr>
              <a:t>linux,virtual</a:t>
            </a:r>
            <a:r>
              <a:rPr lang="en-US" sz="3600" dirty="0">
                <a:solidFill>
                  <a:srgbClr val="00B050"/>
                </a:solidFill>
                <a:latin typeface="Algerian" panose="04020705040A02060702" pitchFamily="82" charset="0"/>
              </a:rPr>
              <a:t> box/</a:t>
            </a:r>
            <a:r>
              <a:rPr lang="en-US" sz="3600" dirty="0" err="1">
                <a:solidFill>
                  <a:srgbClr val="00B050"/>
                </a:solidFill>
                <a:latin typeface="Algerian" panose="04020705040A02060702" pitchFamily="82" charset="0"/>
              </a:rPr>
              <a:t>vmware</a:t>
            </a:r>
            <a:br>
              <a:rPr lang="en-US" sz="3600" dirty="0">
                <a:solidFill>
                  <a:srgbClr val="00B050"/>
                </a:solidFill>
                <a:latin typeface="Algerian" panose="04020705040A02060702" pitchFamily="82" charset="0"/>
              </a:rPr>
            </a:br>
            <a:r>
              <a:rPr lang="en-US" sz="1100" dirty="0">
                <a:solidFill>
                  <a:srgbClr val="00B050"/>
                </a:solidFill>
                <a:latin typeface="Algerian" panose="04020705040A02060702" pitchFamily="82" charset="0"/>
              </a:rPr>
              <a:t>ryan brian</a:t>
            </a:r>
            <a:endParaRPr lang="en-KE" sz="1100" dirty="0">
              <a:solidFill>
                <a:srgbClr val="00B050"/>
              </a:solidFill>
              <a:latin typeface="Algerian" panose="04020705040A02060702" pitchFamily="82" charset="0"/>
            </a:endParaRPr>
          </a:p>
        </p:txBody>
      </p:sp>
      <p:sp>
        <p:nvSpPr>
          <p:cNvPr id="3" name="Subtitle 2">
            <a:extLst>
              <a:ext uri="{FF2B5EF4-FFF2-40B4-BE49-F238E27FC236}">
                <a16:creationId xmlns:a16="http://schemas.microsoft.com/office/drawing/2014/main" id="{5C076DE9-4B23-8935-AC14-5DA441DF38AD}"/>
              </a:ext>
            </a:extLst>
          </p:cNvPr>
          <p:cNvSpPr>
            <a:spLocks noGrp="1"/>
          </p:cNvSpPr>
          <p:nvPr>
            <p:ph type="subTitle" idx="1"/>
          </p:nvPr>
        </p:nvSpPr>
        <p:spPr>
          <a:xfrm>
            <a:off x="6589835" y="5253051"/>
            <a:ext cx="4941173" cy="812923"/>
          </a:xfrm>
        </p:spPr>
        <p:txBody>
          <a:bodyPr anchor="t">
            <a:normAutofit/>
          </a:bodyPr>
          <a:lstStyle/>
          <a:p>
            <a:pPr algn="r"/>
            <a:endParaRPr lang="en-KE">
              <a:solidFill>
                <a:srgbClr val="FFFFFF"/>
              </a:solidFill>
            </a:endParaRPr>
          </a:p>
        </p:txBody>
      </p:sp>
    </p:spTree>
    <p:extLst>
      <p:ext uri="{BB962C8B-B14F-4D97-AF65-F5344CB8AC3E}">
        <p14:creationId xmlns:p14="http://schemas.microsoft.com/office/powerpoint/2010/main" val="43946471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0068059-9097-4F05-BA38-CDD7DBF77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64A015-EDB3-4688-8B77-925530541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1035"/>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B32A8D-DF51-44B8-0D6E-44C67A66E502}"/>
              </a:ext>
            </a:extLst>
          </p:cNvPr>
          <p:cNvSpPr>
            <a:spLocks noGrp="1"/>
          </p:cNvSpPr>
          <p:nvPr>
            <p:ph type="title"/>
          </p:nvPr>
        </p:nvSpPr>
        <p:spPr>
          <a:xfrm>
            <a:off x="913794" y="643467"/>
            <a:ext cx="9600217" cy="3585834"/>
          </a:xfrm>
        </p:spPr>
        <p:txBody>
          <a:bodyPr vert="horz" lIns="91440" tIns="45720" rIns="91440" bIns="45720" rtlCol="0" anchor="b">
            <a:normAutofit/>
          </a:bodyPr>
          <a:lstStyle/>
          <a:p>
            <a:r>
              <a:rPr lang="en-US" dirty="0">
                <a:effectLst/>
              </a:rPr>
              <a:t>Machine Information</a:t>
            </a:r>
            <a:br>
              <a:rPr lang="en-US" dirty="0">
                <a:effectLst/>
              </a:rPr>
            </a:br>
            <a:r>
              <a:rPr lang="en-US" dirty="0">
                <a:effectLst/>
              </a:rPr>
              <a:t>Name:</a:t>
            </a:r>
            <a:r>
              <a:rPr lang="en-US" b="0" dirty="0">
                <a:effectLst/>
              </a:rPr>
              <a:t> </a:t>
            </a:r>
            <a:r>
              <a:rPr lang="en-US" b="0" dirty="0" err="1">
                <a:effectLst/>
              </a:rPr>
              <a:t>Deathnote</a:t>
            </a:r>
            <a:r>
              <a:rPr lang="en-US" b="0" dirty="0">
                <a:effectLst/>
              </a:rPr>
              <a:t>: 1</a:t>
            </a:r>
            <a:br>
              <a:rPr lang="en-US" b="0" dirty="0">
                <a:effectLst/>
              </a:rPr>
            </a:br>
            <a:r>
              <a:rPr lang="en-US" dirty="0">
                <a:effectLst/>
              </a:rPr>
              <a:t>Platform:</a:t>
            </a:r>
            <a:r>
              <a:rPr lang="en-US" b="0" dirty="0">
                <a:effectLst/>
              </a:rPr>
              <a:t> </a:t>
            </a:r>
            <a:r>
              <a:rPr lang="en-US" b="0" dirty="0" err="1">
                <a:effectLst/>
              </a:rPr>
              <a:t>VulnHub</a:t>
            </a:r>
            <a:br>
              <a:rPr lang="en-US" b="0" dirty="0">
                <a:effectLst/>
              </a:rPr>
            </a:br>
            <a:r>
              <a:rPr lang="en-US" dirty="0">
                <a:effectLst/>
              </a:rPr>
              <a:t>Difficulty:</a:t>
            </a:r>
            <a:r>
              <a:rPr lang="en-US" b="0" dirty="0">
                <a:effectLst/>
              </a:rPr>
              <a:t> Easy</a:t>
            </a:r>
            <a:br>
              <a:rPr lang="en-US" b="0" dirty="0">
                <a:effectLst/>
              </a:rPr>
            </a:br>
            <a:r>
              <a:rPr lang="en-US" dirty="0">
                <a:effectLst/>
              </a:rPr>
              <a:t>Objective:</a:t>
            </a:r>
            <a:r>
              <a:rPr lang="en-US" b="0" dirty="0">
                <a:effectLst/>
              </a:rPr>
              <a:t> Get root access and capture flags</a:t>
            </a:r>
            <a:br>
              <a:rPr lang="en-US" b="0" dirty="0">
                <a:effectLst/>
              </a:rPr>
            </a:br>
            <a:endParaRPr lang="en-US" sz="4000" dirty="0"/>
          </a:p>
        </p:txBody>
      </p:sp>
    </p:spTree>
    <p:extLst>
      <p:ext uri="{BB962C8B-B14F-4D97-AF65-F5344CB8AC3E}">
        <p14:creationId xmlns:p14="http://schemas.microsoft.com/office/powerpoint/2010/main" val="2684761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068059-9097-4F05-BA38-CDD7DBF77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64A015-EDB3-4688-8B77-925530541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1035"/>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21435-ABE3-07FE-6FC9-088F19C75E82}"/>
              </a:ext>
            </a:extLst>
          </p:cNvPr>
          <p:cNvSpPr>
            <a:spLocks noGrp="1"/>
          </p:cNvSpPr>
          <p:nvPr>
            <p:ph type="title"/>
          </p:nvPr>
        </p:nvSpPr>
        <p:spPr>
          <a:xfrm>
            <a:off x="913794" y="643467"/>
            <a:ext cx="9600217" cy="3585834"/>
          </a:xfrm>
        </p:spPr>
        <p:txBody>
          <a:bodyPr vert="horz" lIns="91440" tIns="45720" rIns="91440" bIns="45720" rtlCol="0" anchor="b">
            <a:normAutofit/>
          </a:bodyPr>
          <a:lstStyle/>
          <a:p>
            <a:pPr>
              <a:lnSpc>
                <a:spcPts val="2250"/>
              </a:lnSpc>
              <a:spcBef>
                <a:spcPts val="2400"/>
              </a:spcBef>
              <a:spcAft>
                <a:spcPts val="1200"/>
              </a:spcAft>
            </a:pPr>
            <a:r>
              <a:rPr lang="en-US" sz="2000" b="1" dirty="0">
                <a:solidFill>
                  <a:srgbClr val="F9FAFB"/>
                </a:solidFill>
                <a:effectLst/>
                <a:latin typeface="quote-cjk-patch"/>
              </a:rPr>
              <a:t>Methodology Overview</a:t>
            </a:r>
            <a:br>
              <a:rPr lang="en-US" sz="2000" b="1" dirty="0">
                <a:solidFill>
                  <a:srgbClr val="F9FAFB"/>
                </a:solidFill>
                <a:effectLst/>
                <a:latin typeface="quote-cjk-patch"/>
              </a:rPr>
            </a:br>
            <a:r>
              <a:rPr lang="en-US" sz="2000" b="1" i="0" dirty="0">
                <a:solidFill>
                  <a:srgbClr val="F9FAFB"/>
                </a:solidFill>
                <a:effectLst/>
                <a:latin typeface="quote-cjk-patch"/>
              </a:rPr>
              <a:t>Reconnaissance</a:t>
            </a:r>
            <a:r>
              <a:rPr lang="en-US" sz="2000" b="0" i="0" dirty="0">
                <a:solidFill>
                  <a:srgbClr val="F9FAFB"/>
                </a:solidFill>
                <a:effectLst/>
                <a:latin typeface="quote-cjk-patch"/>
              </a:rPr>
              <a:t> - Network scanning &amp; service enumeration</a:t>
            </a:r>
            <a:br>
              <a:rPr lang="en-US" sz="2000" b="0" i="0" dirty="0">
                <a:solidFill>
                  <a:srgbClr val="F9FAFB"/>
                </a:solidFill>
                <a:effectLst/>
                <a:latin typeface="quote-cjk-patch"/>
              </a:rPr>
            </a:br>
            <a:r>
              <a:rPr lang="en-US" sz="2000" b="1" i="0" dirty="0">
                <a:solidFill>
                  <a:srgbClr val="F9FAFB"/>
                </a:solidFill>
                <a:effectLst/>
                <a:latin typeface="quote-cjk-patch"/>
              </a:rPr>
              <a:t>Web Application Analysis</a:t>
            </a:r>
            <a:r>
              <a:rPr lang="en-US" sz="2000" b="0" i="0" dirty="0">
                <a:solidFill>
                  <a:srgbClr val="F9FAFB"/>
                </a:solidFill>
                <a:effectLst/>
                <a:latin typeface="quote-cjk-patch"/>
              </a:rPr>
              <a:t> - Directory brute-forcing, hidden files</a:t>
            </a:r>
            <a:br>
              <a:rPr lang="en-US" sz="2000" b="0" i="0" dirty="0">
                <a:solidFill>
                  <a:srgbClr val="F9FAFB"/>
                </a:solidFill>
                <a:effectLst/>
                <a:latin typeface="quote-cjk-patch"/>
              </a:rPr>
            </a:br>
            <a:r>
              <a:rPr lang="en-US" sz="2000" b="0" dirty="0"/>
              <a:t>Configuration File Analysis</a:t>
            </a:r>
            <a:br>
              <a:rPr lang="en-US" sz="2000" b="0" i="0" dirty="0">
                <a:solidFill>
                  <a:srgbClr val="F9FAFB"/>
                </a:solidFill>
                <a:effectLst/>
                <a:latin typeface="quote-cjk-patch"/>
              </a:rPr>
            </a:br>
            <a:r>
              <a:rPr lang="en-US" sz="2000" b="1" i="0" dirty="0">
                <a:solidFill>
                  <a:srgbClr val="F9FAFB"/>
                </a:solidFill>
                <a:effectLst/>
                <a:latin typeface="quote-cjk-patch"/>
              </a:rPr>
              <a:t>Privilege Escalation</a:t>
            </a:r>
            <a:r>
              <a:rPr lang="en-US" sz="2000" b="0" i="0" dirty="0">
                <a:solidFill>
                  <a:srgbClr val="F9FAFB"/>
                </a:solidFill>
                <a:effectLst/>
                <a:latin typeface="quote-cjk-patch"/>
              </a:rPr>
              <a:t> - Lateral movement &amp; </a:t>
            </a:r>
            <a:r>
              <a:rPr lang="en-US" sz="2000" b="0" i="0" dirty="0" err="1">
                <a:solidFill>
                  <a:srgbClr val="F9FAFB"/>
                </a:solidFill>
                <a:effectLst/>
                <a:latin typeface="quote-cjk-patch"/>
              </a:rPr>
              <a:t>sudo</a:t>
            </a:r>
            <a:r>
              <a:rPr lang="en-US" sz="2000" b="0" i="0" dirty="0">
                <a:solidFill>
                  <a:srgbClr val="F9FAFB"/>
                </a:solidFill>
                <a:effectLst/>
                <a:latin typeface="quote-cjk-patch"/>
              </a:rPr>
              <a:t> abuse</a:t>
            </a:r>
            <a:br>
              <a:rPr lang="en-US" sz="2000" b="0" i="0" dirty="0">
                <a:solidFill>
                  <a:srgbClr val="F9FAFB"/>
                </a:solidFill>
                <a:effectLst/>
                <a:latin typeface="quote-cjk-patch"/>
              </a:rPr>
            </a:br>
            <a:r>
              <a:rPr lang="en-US" sz="2000" b="1" i="0" dirty="0">
                <a:solidFill>
                  <a:srgbClr val="F9FAFB"/>
                </a:solidFill>
                <a:effectLst/>
                <a:latin typeface="quote-cjk-patch"/>
              </a:rPr>
              <a:t>Flag Capture</a:t>
            </a:r>
            <a:r>
              <a:rPr lang="en-US" sz="2000" b="0" i="0" dirty="0">
                <a:solidFill>
                  <a:srgbClr val="F9FAFB"/>
                </a:solidFill>
                <a:effectLst/>
                <a:latin typeface="quote-cjk-patch"/>
              </a:rPr>
              <a:t> - Root access achieved</a:t>
            </a:r>
            <a:br>
              <a:rPr lang="en-US" sz="2000" b="0" i="0" dirty="0">
                <a:solidFill>
                  <a:srgbClr val="F9FAFB"/>
                </a:solidFill>
                <a:effectLst/>
                <a:latin typeface="quote-cjk-patch"/>
              </a:rPr>
            </a:br>
            <a:endParaRPr lang="en-US" sz="4000" dirty="0"/>
          </a:p>
        </p:txBody>
      </p:sp>
    </p:spTree>
    <p:extLst>
      <p:ext uri="{BB962C8B-B14F-4D97-AF65-F5344CB8AC3E}">
        <p14:creationId xmlns:p14="http://schemas.microsoft.com/office/powerpoint/2010/main" val="1128030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6D845D-10E7-F58D-F243-166DBA6FD623}"/>
              </a:ext>
            </a:extLst>
          </p:cNvPr>
          <p:cNvSpPr>
            <a:spLocks noGrp="1"/>
          </p:cNvSpPr>
          <p:nvPr>
            <p:ph type="title"/>
          </p:nvPr>
        </p:nvSpPr>
        <p:spPr>
          <a:xfrm>
            <a:off x="696686" y="1122001"/>
            <a:ext cx="3040685" cy="4613999"/>
          </a:xfrm>
        </p:spPr>
        <p:txBody>
          <a:bodyPr anchor="ctr">
            <a:normAutofit/>
          </a:bodyPr>
          <a:lstStyle/>
          <a:p>
            <a:pPr algn="l">
              <a:lnSpc>
                <a:spcPts val="2250"/>
              </a:lnSpc>
              <a:spcBef>
                <a:spcPts val="2400"/>
              </a:spcBef>
              <a:spcAft>
                <a:spcPts val="1200"/>
              </a:spcAft>
              <a:buNone/>
            </a:pPr>
            <a:r>
              <a:rPr lang="en-US" sz="1200" b="1" dirty="0">
                <a:solidFill>
                  <a:srgbClr val="F9FAFB"/>
                </a:solidFill>
                <a:effectLst/>
                <a:latin typeface="quote-cjk-patch"/>
              </a:rPr>
              <a:t> </a:t>
            </a:r>
            <a:r>
              <a:rPr lang="en-US" sz="1200" b="1" dirty="0">
                <a:solidFill>
                  <a:srgbClr val="C00000"/>
                </a:solidFill>
                <a:effectLst/>
                <a:latin typeface="quote-cjk-patch"/>
              </a:rPr>
              <a:t>Network Discovery</a:t>
            </a:r>
            <a:br>
              <a:rPr lang="en-US" sz="1200" b="1" dirty="0">
                <a:solidFill>
                  <a:srgbClr val="F9FAFB"/>
                </a:solidFill>
                <a:effectLst/>
                <a:latin typeface="quote-cjk-patch"/>
              </a:rPr>
            </a:br>
            <a:r>
              <a:rPr lang="en-US" sz="1200" b="1" dirty="0">
                <a:solidFill>
                  <a:srgbClr val="F9FAFB"/>
                </a:solidFill>
                <a:effectLst/>
                <a:latin typeface="quote-cjk-patch"/>
              </a:rPr>
              <a:t>Findings:</a:t>
            </a:r>
            <a:br>
              <a:rPr lang="en-US" sz="1200" b="1" dirty="0">
                <a:solidFill>
                  <a:srgbClr val="F9FAFB"/>
                </a:solidFill>
                <a:effectLst/>
                <a:latin typeface="quote-cjk-patch"/>
              </a:rPr>
            </a:br>
            <a:r>
              <a:rPr lang="en-US" sz="1200" b="0" i="0" dirty="0">
                <a:solidFill>
                  <a:srgbClr val="F9FAFB"/>
                </a:solidFill>
                <a:effectLst/>
                <a:latin typeface="quote-cjk-patch"/>
              </a:rPr>
              <a:t>Port 22/</a:t>
            </a:r>
            <a:r>
              <a:rPr lang="en-US" sz="1200" b="0" i="0" dirty="0" err="1">
                <a:solidFill>
                  <a:srgbClr val="F9FAFB"/>
                </a:solidFill>
                <a:effectLst/>
                <a:latin typeface="quote-cjk-patch"/>
              </a:rPr>
              <a:t>tcp</a:t>
            </a:r>
            <a:r>
              <a:rPr lang="en-US" sz="1200" b="0" i="0" dirty="0">
                <a:solidFill>
                  <a:srgbClr val="F9FAFB"/>
                </a:solidFill>
                <a:effectLst/>
                <a:latin typeface="quote-cjk-patch"/>
              </a:rPr>
              <a:t> - OpenSSH 7.9p1</a:t>
            </a:r>
            <a:br>
              <a:rPr lang="en-US" sz="1200" b="0" i="0" dirty="0">
                <a:solidFill>
                  <a:srgbClr val="F9FAFB"/>
                </a:solidFill>
                <a:effectLst/>
                <a:latin typeface="quote-cjk-patch"/>
              </a:rPr>
            </a:br>
            <a:r>
              <a:rPr lang="en-US" sz="1200" b="0" i="0" dirty="0">
                <a:solidFill>
                  <a:srgbClr val="F9FAFB"/>
                </a:solidFill>
                <a:effectLst/>
                <a:latin typeface="quote-cjk-patch"/>
              </a:rPr>
              <a:t>Port 80/</a:t>
            </a:r>
            <a:r>
              <a:rPr lang="en-US" sz="1200" b="0" i="0" dirty="0" err="1">
                <a:solidFill>
                  <a:srgbClr val="F9FAFB"/>
                </a:solidFill>
                <a:effectLst/>
                <a:latin typeface="quote-cjk-patch"/>
              </a:rPr>
              <a:t>tcp</a:t>
            </a:r>
            <a:r>
              <a:rPr lang="en-US" sz="1200" b="0" i="0" dirty="0">
                <a:solidFill>
                  <a:srgbClr val="F9FAFB"/>
                </a:solidFill>
                <a:effectLst/>
                <a:latin typeface="quote-cjk-patch"/>
              </a:rPr>
              <a:t> - Apache httpd 2.4.38</a:t>
            </a:r>
            <a:br>
              <a:rPr lang="en-US" sz="1200" b="0" i="0" dirty="0">
                <a:solidFill>
                  <a:srgbClr val="F9FAFB"/>
                </a:solidFill>
                <a:effectLst/>
                <a:latin typeface="quote-cjk-patch"/>
              </a:rPr>
            </a:br>
            <a:r>
              <a:rPr lang="en-US" sz="1200" b="0" i="0" dirty="0">
                <a:solidFill>
                  <a:srgbClr val="F9FAFB"/>
                </a:solidFill>
                <a:effectLst/>
                <a:latin typeface="quote-cjk-patch"/>
              </a:rPr>
              <a:t>MAC Address: Oracle VirtualBox NIC</a:t>
            </a:r>
            <a:br>
              <a:rPr lang="en-US" sz="1200" b="0" i="0" dirty="0">
                <a:solidFill>
                  <a:srgbClr val="F9FAFB"/>
                </a:solidFill>
                <a:effectLst/>
                <a:latin typeface="quote-cjk-patch"/>
              </a:rPr>
            </a:br>
            <a:endParaRPr lang="en-KE" sz="24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35BB2C99-4E15-5100-870E-DC124C94AD69}"/>
              </a:ext>
            </a:extLst>
          </p:cNvPr>
          <p:cNvPicPr>
            <a:picLocks noGrp="1" noChangeAspect="1"/>
          </p:cNvPicPr>
          <p:nvPr>
            <p:ph idx="1"/>
          </p:nvPr>
        </p:nvPicPr>
        <p:blipFill>
          <a:blip r:embed="rId2"/>
          <a:stretch>
            <a:fillRect/>
          </a:stretch>
        </p:blipFill>
        <p:spPr>
          <a:xfrm>
            <a:off x="4310743" y="1122001"/>
            <a:ext cx="7576457" cy="4440599"/>
          </a:xfrm>
          <a:prstGeom prst="rect">
            <a:avLst/>
          </a:prstGeom>
        </p:spPr>
      </p:pic>
    </p:spTree>
    <p:extLst>
      <p:ext uri="{BB962C8B-B14F-4D97-AF65-F5344CB8AC3E}">
        <p14:creationId xmlns:p14="http://schemas.microsoft.com/office/powerpoint/2010/main" val="253032180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A65AD9-FB21-6171-B9BF-FEB913290612}"/>
              </a:ext>
            </a:extLst>
          </p:cNvPr>
          <p:cNvSpPr>
            <a:spLocks noGrp="1"/>
          </p:cNvSpPr>
          <p:nvPr>
            <p:ph type="title"/>
          </p:nvPr>
        </p:nvSpPr>
        <p:spPr>
          <a:xfrm>
            <a:off x="696686" y="1122001"/>
            <a:ext cx="3040685" cy="4613999"/>
          </a:xfrm>
        </p:spPr>
        <p:txBody>
          <a:bodyPr anchor="ctr">
            <a:normAutofit/>
          </a:bodyPr>
          <a:lstStyle/>
          <a:p>
            <a:pPr algn="l">
              <a:lnSpc>
                <a:spcPts val="2250"/>
              </a:lnSpc>
              <a:spcBef>
                <a:spcPts val="2400"/>
              </a:spcBef>
              <a:spcAft>
                <a:spcPts val="1200"/>
              </a:spcAft>
              <a:buNone/>
            </a:pPr>
            <a:r>
              <a:rPr lang="en-US" sz="1200" b="1" dirty="0">
                <a:solidFill>
                  <a:srgbClr val="C00000"/>
                </a:solidFill>
                <a:effectLst/>
                <a:latin typeface="quote-cjk-patch"/>
              </a:rPr>
              <a:t>Web Enumeration - Directory Busting</a:t>
            </a:r>
            <a:br>
              <a:rPr lang="en-US" sz="1200" b="1" dirty="0">
                <a:solidFill>
                  <a:srgbClr val="F9FAFB"/>
                </a:solidFill>
                <a:effectLst/>
                <a:latin typeface="quote-cjk-patch"/>
              </a:rPr>
            </a:br>
            <a:r>
              <a:rPr lang="en-US" sz="1200" b="1" dirty="0" err="1">
                <a:solidFill>
                  <a:schemeClr val="accent1"/>
                </a:solidFill>
                <a:effectLst/>
                <a:latin typeface="quote-cjk-patch"/>
              </a:rPr>
              <a:t>gobuster</a:t>
            </a:r>
            <a:r>
              <a:rPr lang="en-US" sz="1200" b="1" dirty="0">
                <a:solidFill>
                  <a:schemeClr val="accent1"/>
                </a:solidFill>
                <a:effectLst/>
                <a:latin typeface="quote-cjk-patch"/>
              </a:rPr>
              <a:t> </a:t>
            </a:r>
            <a:r>
              <a:rPr lang="en-US" sz="1200" b="1" dirty="0" err="1">
                <a:solidFill>
                  <a:schemeClr val="accent1"/>
                </a:solidFill>
                <a:effectLst/>
                <a:latin typeface="quote-cjk-patch"/>
              </a:rPr>
              <a:t>dir</a:t>
            </a:r>
            <a:r>
              <a:rPr lang="en-US" sz="1200" b="1" dirty="0">
                <a:solidFill>
                  <a:schemeClr val="accent1"/>
                </a:solidFill>
                <a:effectLst/>
                <a:latin typeface="quote-cjk-patch"/>
              </a:rPr>
              <a:t> -u http://192.168.1.168 -w /</a:t>
            </a:r>
            <a:r>
              <a:rPr lang="en-US" sz="1200" b="1" dirty="0" err="1">
                <a:solidFill>
                  <a:schemeClr val="accent1"/>
                </a:solidFill>
                <a:effectLst/>
                <a:latin typeface="quote-cjk-patch"/>
              </a:rPr>
              <a:t>usr</a:t>
            </a:r>
            <a:r>
              <a:rPr lang="en-US" sz="1200" b="1" dirty="0">
                <a:solidFill>
                  <a:schemeClr val="accent1"/>
                </a:solidFill>
                <a:effectLst/>
                <a:latin typeface="quote-cjk-patch"/>
              </a:rPr>
              <a:t>/share/wordlists/</a:t>
            </a:r>
            <a:r>
              <a:rPr lang="en-US" sz="1200" b="1" dirty="0" err="1">
                <a:solidFill>
                  <a:schemeClr val="accent1"/>
                </a:solidFill>
                <a:effectLst/>
                <a:latin typeface="quote-cjk-patch"/>
              </a:rPr>
              <a:t>dirb</a:t>
            </a:r>
            <a:r>
              <a:rPr lang="en-US" sz="1200" b="1" dirty="0">
                <a:solidFill>
                  <a:schemeClr val="accent1"/>
                </a:solidFill>
                <a:effectLst/>
                <a:latin typeface="quote-cjk-patch"/>
              </a:rPr>
              <a:t>/common.txt -x </a:t>
            </a:r>
            <a:r>
              <a:rPr lang="en-US" sz="1200" b="1" dirty="0" err="1">
                <a:solidFill>
                  <a:schemeClr val="accent1"/>
                </a:solidFill>
                <a:effectLst/>
                <a:latin typeface="quote-cjk-patch"/>
              </a:rPr>
              <a:t>txt,php,html</a:t>
            </a:r>
            <a:br>
              <a:rPr lang="en-US" sz="1200" b="1" dirty="0">
                <a:solidFill>
                  <a:schemeClr val="accent1"/>
                </a:solidFill>
                <a:effectLst/>
                <a:latin typeface="quote-cjk-patch"/>
              </a:rPr>
            </a:br>
            <a:r>
              <a:rPr lang="en-US" sz="1200" b="1" dirty="0">
                <a:solidFill>
                  <a:schemeClr val="bg1"/>
                </a:solidFill>
                <a:effectLst/>
                <a:latin typeface="quote-cjk-patch"/>
              </a:rPr>
              <a:t>replace the </a:t>
            </a:r>
            <a:r>
              <a:rPr lang="en-US" sz="1200" b="1" dirty="0" err="1">
                <a:solidFill>
                  <a:schemeClr val="bg1"/>
                </a:solidFill>
                <a:effectLst/>
                <a:latin typeface="quote-cjk-patch"/>
              </a:rPr>
              <a:t>ip</a:t>
            </a:r>
            <a:r>
              <a:rPr lang="en-US" sz="1200" b="1" dirty="0">
                <a:solidFill>
                  <a:schemeClr val="bg1"/>
                </a:solidFill>
                <a:effectLst/>
                <a:latin typeface="quote-cjk-patch"/>
              </a:rPr>
              <a:t> with your own from </a:t>
            </a:r>
            <a:r>
              <a:rPr lang="en-US" sz="1200" b="1" dirty="0" err="1">
                <a:solidFill>
                  <a:schemeClr val="bg1"/>
                </a:solidFill>
                <a:effectLst/>
                <a:latin typeface="quote-cjk-patch"/>
              </a:rPr>
              <a:t>nmap</a:t>
            </a:r>
            <a:r>
              <a:rPr lang="en-US" sz="1200" b="1" dirty="0">
                <a:solidFill>
                  <a:schemeClr val="bg1"/>
                </a:solidFill>
                <a:effectLst/>
                <a:latin typeface="quote-cjk-patch"/>
              </a:rPr>
              <a:t> scan</a:t>
            </a:r>
            <a:br>
              <a:rPr lang="en-US" sz="1200" b="1" dirty="0">
                <a:solidFill>
                  <a:schemeClr val="accent1"/>
                </a:solidFill>
                <a:effectLst/>
                <a:latin typeface="quote-cjk-patch"/>
              </a:rPr>
            </a:br>
            <a:r>
              <a:rPr lang="en-US" sz="1200" b="1" dirty="0">
                <a:solidFill>
                  <a:srgbClr val="FFFF00"/>
                </a:solidFill>
                <a:effectLst/>
                <a:latin typeface="quote-cjk-patch"/>
              </a:rPr>
              <a:t>Discovered Directories:</a:t>
            </a:r>
            <a:br>
              <a:rPr lang="en-US" sz="1200" b="1" dirty="0">
                <a:solidFill>
                  <a:srgbClr val="F9FAFB"/>
                </a:solidFill>
                <a:effectLst/>
                <a:latin typeface="quote-cjk-patch"/>
              </a:rPr>
            </a:br>
            <a:r>
              <a:rPr lang="en-US" sz="1200" b="0" i="0" dirty="0">
                <a:solidFill>
                  <a:srgbClr val="F9FAFB"/>
                </a:solidFill>
                <a:effectLst/>
                <a:latin typeface="Menlo"/>
              </a:rPr>
              <a:t>/</a:t>
            </a:r>
            <a:r>
              <a:rPr lang="en-US" sz="1200" b="0" i="0" dirty="0" err="1">
                <a:solidFill>
                  <a:srgbClr val="F9FAFB"/>
                </a:solidFill>
                <a:effectLst/>
                <a:latin typeface="Menlo"/>
              </a:rPr>
              <a:t>wordpress</a:t>
            </a:r>
            <a:r>
              <a:rPr lang="en-US" sz="1200" b="0" i="0" dirty="0">
                <a:solidFill>
                  <a:srgbClr val="F9FAFB"/>
                </a:solidFill>
                <a:effectLst/>
                <a:latin typeface="quote-cjk-patch"/>
              </a:rPr>
              <a:t> - WordPress CMS</a:t>
            </a:r>
            <a:br>
              <a:rPr lang="en-US" sz="1200" b="0" i="0" dirty="0">
                <a:solidFill>
                  <a:srgbClr val="F9FAFB"/>
                </a:solidFill>
                <a:effectLst/>
                <a:latin typeface="quote-cjk-patch"/>
              </a:rPr>
            </a:br>
            <a:r>
              <a:rPr lang="en-US" sz="1200" b="0" i="0" dirty="0">
                <a:solidFill>
                  <a:srgbClr val="F9FAFB"/>
                </a:solidFill>
                <a:effectLst/>
                <a:latin typeface="Menlo"/>
              </a:rPr>
              <a:t>/manual</a:t>
            </a:r>
            <a:r>
              <a:rPr lang="en-US" sz="1200" b="0" i="0" dirty="0">
                <a:solidFill>
                  <a:srgbClr val="F9FAFB"/>
                </a:solidFill>
                <a:effectLst/>
                <a:latin typeface="quote-cjk-patch"/>
              </a:rPr>
              <a:t> - Apache manual</a:t>
            </a:r>
            <a:br>
              <a:rPr lang="en-US" sz="1200" b="0" i="0" dirty="0">
                <a:solidFill>
                  <a:srgbClr val="F9FAFB"/>
                </a:solidFill>
                <a:effectLst/>
                <a:latin typeface="quote-cjk-patch"/>
              </a:rPr>
            </a:br>
            <a:r>
              <a:rPr lang="en-US" sz="1200" b="0" i="0" dirty="0">
                <a:solidFill>
                  <a:srgbClr val="F9FAFB"/>
                </a:solidFill>
                <a:effectLst/>
                <a:latin typeface="Menlo"/>
              </a:rPr>
              <a:t>/robots.txt</a:t>
            </a:r>
            <a:r>
              <a:rPr lang="en-US" sz="1200" b="0" i="0" dirty="0">
                <a:solidFill>
                  <a:srgbClr val="F9FAFB"/>
                </a:solidFill>
                <a:effectLst/>
                <a:latin typeface="quote-cjk-patch"/>
              </a:rPr>
              <a:t> - Found important clues</a:t>
            </a:r>
            <a:br>
              <a:rPr lang="en-US" sz="1200" b="0" i="0" dirty="0">
                <a:solidFill>
                  <a:srgbClr val="F9FAFB"/>
                </a:solidFill>
                <a:effectLst/>
                <a:latin typeface="quote-cjk-patch"/>
              </a:rPr>
            </a:br>
            <a:r>
              <a:rPr lang="en-US" sz="1200" b="0" i="0" dirty="0">
                <a:solidFill>
                  <a:srgbClr val="F9FAFB"/>
                </a:solidFill>
                <a:effectLst/>
                <a:latin typeface="Menlo"/>
              </a:rPr>
              <a:t>/server-status</a:t>
            </a:r>
            <a:br>
              <a:rPr lang="en-US" sz="1200" b="0" i="0" dirty="0">
                <a:solidFill>
                  <a:srgbClr val="F9FAFB"/>
                </a:solidFill>
                <a:effectLst/>
                <a:latin typeface="quote-cjk-patch"/>
              </a:rPr>
            </a:br>
            <a:endParaRPr lang="en-KE" sz="2400" dirty="0">
              <a:solidFill>
                <a:schemeClr val="accent1"/>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DFA84D87-D248-3430-C70E-F68B05A527E4}"/>
              </a:ext>
            </a:extLst>
          </p:cNvPr>
          <p:cNvPicPr>
            <a:picLocks noGrp="1" noChangeAspect="1"/>
          </p:cNvPicPr>
          <p:nvPr>
            <p:ph idx="1"/>
          </p:nvPr>
        </p:nvPicPr>
        <p:blipFill>
          <a:blip r:embed="rId2"/>
          <a:stretch>
            <a:fillRect/>
          </a:stretch>
        </p:blipFill>
        <p:spPr>
          <a:xfrm>
            <a:off x="4689928" y="355863"/>
            <a:ext cx="6565900" cy="3073137"/>
          </a:xfrm>
          <a:prstGeom prst="rect">
            <a:avLst/>
          </a:prstGeom>
        </p:spPr>
      </p:pic>
      <p:pic>
        <p:nvPicPr>
          <p:cNvPr id="6" name="Picture 5">
            <a:extLst>
              <a:ext uri="{FF2B5EF4-FFF2-40B4-BE49-F238E27FC236}">
                <a16:creationId xmlns:a16="http://schemas.microsoft.com/office/drawing/2014/main" id="{5228E3AB-E486-CDC5-25DE-13827E3B39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9928" y="3555349"/>
            <a:ext cx="6154009" cy="2838846"/>
          </a:xfrm>
          <a:prstGeom prst="rect">
            <a:avLst/>
          </a:prstGeom>
        </p:spPr>
      </p:pic>
    </p:spTree>
    <p:extLst>
      <p:ext uri="{BB962C8B-B14F-4D97-AF65-F5344CB8AC3E}">
        <p14:creationId xmlns:p14="http://schemas.microsoft.com/office/powerpoint/2010/main" val="422971222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68D3B6-1BD7-583E-25C6-AFD465C9A59E}"/>
              </a:ext>
            </a:extLst>
          </p:cNvPr>
          <p:cNvSpPr>
            <a:spLocks noGrp="1"/>
          </p:cNvSpPr>
          <p:nvPr>
            <p:ph type="title"/>
          </p:nvPr>
        </p:nvSpPr>
        <p:spPr>
          <a:xfrm>
            <a:off x="696686" y="1122001"/>
            <a:ext cx="3040685" cy="4613999"/>
          </a:xfrm>
        </p:spPr>
        <p:txBody>
          <a:bodyPr anchor="ctr">
            <a:normAutofit fontScale="90000"/>
          </a:bodyPr>
          <a:lstStyle/>
          <a:p>
            <a:pPr>
              <a:lnSpc>
                <a:spcPts val="2400"/>
              </a:lnSpc>
              <a:spcBef>
                <a:spcPts val="2400"/>
              </a:spcBef>
              <a:spcAft>
                <a:spcPts val="1200"/>
              </a:spcAft>
            </a:pPr>
            <a:r>
              <a:rPr lang="en-US" sz="1200" b="1" dirty="0">
                <a:solidFill>
                  <a:srgbClr val="FF0000"/>
                </a:solidFill>
                <a:effectLst/>
                <a:latin typeface="quote-cjk-patch"/>
              </a:rPr>
              <a:t>Hidden Clues - Image Analysis</a:t>
            </a:r>
            <a:br>
              <a:rPr lang="en-US" sz="1200" b="1" dirty="0">
                <a:solidFill>
                  <a:srgbClr val="F9FAFB"/>
                </a:solidFill>
                <a:effectLst/>
                <a:latin typeface="quote-cjk-patch"/>
              </a:rPr>
            </a:br>
            <a:r>
              <a:rPr lang="en-US" sz="1200" b="1" dirty="0" err="1">
                <a:solidFill>
                  <a:srgbClr val="F9FAFB"/>
                </a:solidFill>
                <a:effectLst/>
                <a:latin typeface="quote-cjk-patch"/>
              </a:rPr>
              <a:t>wget</a:t>
            </a:r>
            <a:r>
              <a:rPr lang="en-US" sz="1200" b="1" dirty="0">
                <a:solidFill>
                  <a:srgbClr val="F9FAFB"/>
                </a:solidFill>
                <a:effectLst/>
                <a:latin typeface="quote-cjk-patch"/>
              </a:rPr>
              <a:t> </a:t>
            </a:r>
            <a:r>
              <a:rPr lang="en-US" sz="1200" b="1" dirty="0">
                <a:solidFill>
                  <a:srgbClr val="FFFF00"/>
                </a:solidFill>
                <a:effectLst/>
                <a:latin typeface="quote-cjk-patch"/>
              </a:rPr>
              <a:t>http://192.168.1.168/important.jpg</a:t>
            </a:r>
            <a:br>
              <a:rPr lang="en-US" sz="1200" b="1" dirty="0">
                <a:solidFill>
                  <a:srgbClr val="FFFF00"/>
                </a:solidFill>
                <a:effectLst/>
                <a:latin typeface="quote-cjk-patch"/>
              </a:rPr>
            </a:br>
            <a:r>
              <a:rPr lang="en-US" sz="1200" b="1" dirty="0">
                <a:solidFill>
                  <a:srgbClr val="FFFF00"/>
                </a:solidFill>
                <a:effectLst/>
                <a:latin typeface="quote-cjk-patch"/>
              </a:rPr>
              <a:t>strings important.jpg</a:t>
            </a:r>
            <a:br>
              <a:rPr lang="en-US" sz="1200" b="1" dirty="0">
                <a:solidFill>
                  <a:srgbClr val="FFFF00"/>
                </a:solidFill>
                <a:effectLst/>
                <a:latin typeface="quote-cjk-patch"/>
              </a:rPr>
            </a:br>
            <a:r>
              <a:rPr lang="en-US" sz="1200" b="1" dirty="0">
                <a:solidFill>
                  <a:srgbClr val="FF0000"/>
                </a:solidFill>
                <a:effectLst/>
                <a:latin typeface="quote-cjk-patch"/>
              </a:rPr>
              <a:t>hidden message found:</a:t>
            </a:r>
            <a:br>
              <a:rPr lang="en-US" sz="1200" b="1" dirty="0">
                <a:solidFill>
                  <a:srgbClr val="FF0000"/>
                </a:solidFill>
                <a:effectLst/>
                <a:latin typeface="quote-cjk-patch"/>
              </a:rPr>
            </a:br>
            <a:r>
              <a:rPr lang="en-US" sz="1200" b="1" dirty="0" err="1">
                <a:solidFill>
                  <a:schemeClr val="bg1"/>
                </a:solidFill>
                <a:effectLst/>
                <a:latin typeface="quote-cjk-patch"/>
              </a:rPr>
              <a:t>i</a:t>
            </a:r>
            <a:r>
              <a:rPr lang="en-US" sz="1200" b="1" dirty="0">
                <a:solidFill>
                  <a:schemeClr val="bg1"/>
                </a:solidFill>
                <a:effectLst/>
                <a:latin typeface="quote-cjk-patch"/>
              </a:rPr>
              <a:t> am Soichiro Yagami, light's father</a:t>
            </a:r>
            <a:br>
              <a:rPr lang="en-US" sz="1200" b="1" dirty="0">
                <a:solidFill>
                  <a:schemeClr val="bg1"/>
                </a:solidFill>
                <a:effectLst/>
                <a:latin typeface="quote-cjk-patch"/>
              </a:rPr>
            </a:br>
            <a:r>
              <a:rPr lang="en-US" sz="1200" b="1" dirty="0" err="1">
                <a:solidFill>
                  <a:schemeClr val="bg1"/>
                </a:solidFill>
                <a:effectLst/>
                <a:latin typeface="quote-cjk-patch"/>
              </a:rPr>
              <a:t>i</a:t>
            </a:r>
            <a:r>
              <a:rPr lang="en-US" sz="1200" b="1" dirty="0">
                <a:solidFill>
                  <a:schemeClr val="bg1"/>
                </a:solidFill>
                <a:effectLst/>
                <a:latin typeface="quote-cjk-patch"/>
              </a:rPr>
              <a:t> have a doubt if I is true about the assumption that Light is </a:t>
            </a:r>
            <a:r>
              <a:rPr lang="en-US" sz="1200" b="1" dirty="0" err="1">
                <a:solidFill>
                  <a:schemeClr val="bg1"/>
                </a:solidFill>
                <a:effectLst/>
                <a:latin typeface="quote-cjk-patch"/>
              </a:rPr>
              <a:t>kira</a:t>
            </a:r>
            <a:br>
              <a:rPr lang="en-US" sz="1200" b="1" dirty="0">
                <a:solidFill>
                  <a:schemeClr val="bg1"/>
                </a:solidFill>
                <a:effectLst/>
                <a:latin typeface="quote-cjk-patch"/>
              </a:rPr>
            </a:br>
            <a:r>
              <a:rPr lang="en-US" sz="1200" b="1" dirty="0" err="1">
                <a:solidFill>
                  <a:schemeClr val="bg1"/>
                </a:solidFill>
                <a:effectLst/>
                <a:latin typeface="quote-cjk-patch"/>
              </a:rPr>
              <a:t>i</a:t>
            </a:r>
            <a:r>
              <a:rPr lang="en-US" sz="1200" b="1" dirty="0">
                <a:solidFill>
                  <a:schemeClr val="bg1"/>
                </a:solidFill>
                <a:effectLst/>
                <a:latin typeface="quote-cjk-patch"/>
              </a:rPr>
              <a:t> can only help you by giving something important</a:t>
            </a:r>
            <a:br>
              <a:rPr lang="en-US" sz="1200" b="1" dirty="0">
                <a:solidFill>
                  <a:schemeClr val="bg1"/>
                </a:solidFill>
                <a:effectLst/>
                <a:latin typeface="quote-cjk-patch"/>
              </a:rPr>
            </a:br>
            <a:r>
              <a:rPr lang="en-US" sz="1200" b="1" dirty="0">
                <a:solidFill>
                  <a:schemeClr val="bg1"/>
                </a:solidFill>
                <a:effectLst/>
                <a:latin typeface="quote-cjk-patch"/>
              </a:rPr>
              <a:t>login username </a:t>
            </a:r>
            <a:r>
              <a:rPr lang="en-US" sz="1200" b="1" dirty="0">
                <a:solidFill>
                  <a:srgbClr val="FF0000"/>
                </a:solidFill>
                <a:effectLst/>
                <a:latin typeface="quote-cjk-patch"/>
              </a:rPr>
              <a:t>: user.txt</a:t>
            </a:r>
            <a:br>
              <a:rPr lang="en-US" sz="1200" b="1" dirty="0">
                <a:solidFill>
                  <a:schemeClr val="bg1"/>
                </a:solidFill>
                <a:effectLst/>
                <a:latin typeface="quote-cjk-patch"/>
              </a:rPr>
            </a:br>
            <a:r>
              <a:rPr lang="en-US" sz="1200" b="1" dirty="0" err="1">
                <a:solidFill>
                  <a:schemeClr val="bg1"/>
                </a:solidFill>
                <a:effectLst/>
                <a:latin typeface="quote-cjk-patch"/>
              </a:rPr>
              <a:t>i</a:t>
            </a:r>
            <a:r>
              <a:rPr lang="en-US" sz="1200" b="1" dirty="0">
                <a:solidFill>
                  <a:schemeClr val="bg1"/>
                </a:solidFill>
                <a:effectLst/>
                <a:latin typeface="quote-cjk-patch"/>
              </a:rPr>
              <a:t> don't know the password.</a:t>
            </a:r>
            <a:br>
              <a:rPr lang="en-US" sz="1200" b="1" dirty="0">
                <a:solidFill>
                  <a:schemeClr val="bg1"/>
                </a:solidFill>
                <a:effectLst/>
                <a:latin typeface="quote-cjk-patch"/>
              </a:rPr>
            </a:br>
            <a:r>
              <a:rPr lang="en-US" sz="1200" b="1" dirty="0">
                <a:solidFill>
                  <a:schemeClr val="bg1"/>
                </a:solidFill>
                <a:effectLst/>
                <a:latin typeface="quote-cjk-patch"/>
              </a:rPr>
              <a:t>find it by yourself</a:t>
            </a:r>
            <a:br>
              <a:rPr lang="en-US" sz="1200" b="1" dirty="0">
                <a:solidFill>
                  <a:schemeClr val="bg1"/>
                </a:solidFill>
                <a:effectLst/>
                <a:latin typeface="quote-cjk-patch"/>
              </a:rPr>
            </a:br>
            <a:r>
              <a:rPr lang="en-US" sz="1200" b="1" dirty="0">
                <a:solidFill>
                  <a:schemeClr val="bg1"/>
                </a:solidFill>
                <a:effectLst/>
                <a:latin typeface="quote-cjk-patch"/>
              </a:rPr>
              <a:t>but </a:t>
            </a:r>
            <a:r>
              <a:rPr lang="en-US" sz="1200" b="1" dirty="0" err="1">
                <a:solidFill>
                  <a:schemeClr val="bg1"/>
                </a:solidFill>
                <a:effectLst/>
                <a:latin typeface="quote-cjk-patch"/>
              </a:rPr>
              <a:t>i</a:t>
            </a:r>
            <a:r>
              <a:rPr lang="en-US" sz="1200" b="1" dirty="0">
                <a:solidFill>
                  <a:schemeClr val="bg1"/>
                </a:solidFill>
                <a:effectLst/>
                <a:latin typeface="quote-cjk-patch"/>
              </a:rPr>
              <a:t> think it is in the hint section of site</a:t>
            </a:r>
            <a:endParaRPr lang="en-KE" sz="2400" dirty="0">
              <a:solidFill>
                <a:schemeClr val="bg1"/>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80E9CDD-3486-A314-1AE4-80F1236F4C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34058" y="323178"/>
            <a:ext cx="7520274" cy="2909879"/>
          </a:xfrm>
          <a:prstGeom prst="rect">
            <a:avLst/>
          </a:prstGeom>
        </p:spPr>
      </p:pic>
      <p:pic>
        <p:nvPicPr>
          <p:cNvPr id="6" name="Picture 5">
            <a:extLst>
              <a:ext uri="{FF2B5EF4-FFF2-40B4-BE49-F238E27FC236}">
                <a16:creationId xmlns:a16="http://schemas.microsoft.com/office/drawing/2014/main" id="{B2F54807-C554-500D-4E86-C8B34AF2837E}"/>
              </a:ext>
            </a:extLst>
          </p:cNvPr>
          <p:cNvPicPr>
            <a:picLocks noChangeAspect="1"/>
          </p:cNvPicPr>
          <p:nvPr/>
        </p:nvPicPr>
        <p:blipFill>
          <a:blip r:embed="rId3"/>
          <a:stretch>
            <a:fillRect/>
          </a:stretch>
        </p:blipFill>
        <p:spPr>
          <a:xfrm>
            <a:off x="4434058" y="3429000"/>
            <a:ext cx="7520274" cy="3105822"/>
          </a:xfrm>
          <a:prstGeom prst="rect">
            <a:avLst/>
          </a:prstGeom>
        </p:spPr>
      </p:pic>
    </p:spTree>
    <p:extLst>
      <p:ext uri="{BB962C8B-B14F-4D97-AF65-F5344CB8AC3E}">
        <p14:creationId xmlns:p14="http://schemas.microsoft.com/office/powerpoint/2010/main" val="393142429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4B897E-5A22-6E7C-C9F6-9CDFBF9EB81A}"/>
              </a:ext>
            </a:extLst>
          </p:cNvPr>
          <p:cNvSpPr>
            <a:spLocks noGrp="1"/>
          </p:cNvSpPr>
          <p:nvPr>
            <p:ph type="title"/>
          </p:nvPr>
        </p:nvSpPr>
        <p:spPr>
          <a:xfrm>
            <a:off x="696686" y="1122001"/>
            <a:ext cx="3040685" cy="4613999"/>
          </a:xfrm>
        </p:spPr>
        <p:txBody>
          <a:bodyPr anchor="ctr">
            <a:normAutofit/>
          </a:bodyPr>
          <a:lstStyle/>
          <a:p>
            <a:pPr algn="l">
              <a:lnSpc>
                <a:spcPts val="2250"/>
              </a:lnSpc>
              <a:spcBef>
                <a:spcPts val="2400"/>
              </a:spcBef>
              <a:spcAft>
                <a:spcPts val="1200"/>
              </a:spcAft>
              <a:buNone/>
            </a:pPr>
            <a:r>
              <a:rPr lang="en-US" sz="1200" b="1" dirty="0">
                <a:solidFill>
                  <a:srgbClr val="C00000"/>
                </a:solidFill>
                <a:effectLst/>
                <a:latin typeface="quote-cjk-patch"/>
              </a:rPr>
              <a:t>WordPress Enumeration</a:t>
            </a:r>
            <a:br>
              <a:rPr lang="en-US" sz="1200" b="1" dirty="0">
                <a:solidFill>
                  <a:srgbClr val="F9FAFB"/>
                </a:solidFill>
                <a:effectLst/>
                <a:latin typeface="quote-cjk-patch"/>
              </a:rPr>
            </a:br>
            <a:r>
              <a:rPr lang="en-US" sz="1200" b="1" dirty="0">
                <a:solidFill>
                  <a:srgbClr val="F9FAFB"/>
                </a:solidFill>
                <a:effectLst/>
                <a:latin typeface="quote-cjk-patch"/>
              </a:rPr>
              <a:t>in the browser </a:t>
            </a:r>
            <a:r>
              <a:rPr lang="en-US" sz="1200" dirty="0">
                <a:solidFill>
                  <a:srgbClr val="F9FAFB"/>
                </a:solidFill>
                <a:effectLst/>
                <a:latin typeface="quote-cjk-patch"/>
              </a:rPr>
              <a:t>search: </a:t>
            </a:r>
            <a:r>
              <a:rPr lang="en-US" sz="1200" b="0" dirty="0">
                <a:solidFill>
                  <a:srgbClr val="FFFF00"/>
                </a:solidFill>
                <a:effectLst/>
                <a:latin typeface="Menlo"/>
              </a:rPr>
              <a:t>http://192.168.1.168/wordpress/</a:t>
            </a:r>
            <a:br>
              <a:rPr lang="en-US" sz="1200" b="0" dirty="0">
                <a:solidFill>
                  <a:srgbClr val="FFFF00"/>
                </a:solidFill>
                <a:effectLst/>
                <a:latin typeface="Menlo"/>
              </a:rPr>
            </a:br>
            <a:r>
              <a:rPr lang="en-US" sz="1000" b="1" dirty="0">
                <a:solidFill>
                  <a:srgbClr val="F9FAFB"/>
                </a:solidFill>
                <a:effectLst/>
                <a:latin typeface="quote-cjk-patch"/>
              </a:rPr>
              <a:t>WordPress Post Discovery:</a:t>
            </a:r>
            <a:br>
              <a:rPr lang="en-US" sz="1000" b="1" dirty="0">
                <a:solidFill>
                  <a:srgbClr val="F9FAFB"/>
                </a:solidFill>
                <a:effectLst/>
                <a:latin typeface="quote-cjk-patch"/>
              </a:rPr>
            </a:br>
            <a:r>
              <a:rPr lang="en-US" sz="1000" b="1" i="0" dirty="0">
                <a:solidFill>
                  <a:srgbClr val="F9FAFB"/>
                </a:solidFill>
                <a:effectLst/>
                <a:latin typeface="quote-cjk-patch"/>
              </a:rPr>
              <a:t>Author</a:t>
            </a:r>
            <a:r>
              <a:rPr lang="en-US" sz="1000" b="0" i="0" dirty="0">
                <a:solidFill>
                  <a:srgbClr val="F9FAFB"/>
                </a:solidFill>
                <a:effectLst/>
                <a:latin typeface="quote-cjk-patch"/>
              </a:rPr>
              <a:t>: Light Yagami</a:t>
            </a:r>
            <a:br>
              <a:rPr lang="en-US" sz="1000" b="0" i="0" dirty="0">
                <a:solidFill>
                  <a:srgbClr val="F9FAFB"/>
                </a:solidFill>
                <a:effectLst/>
                <a:latin typeface="quote-cjk-patch"/>
              </a:rPr>
            </a:br>
            <a:r>
              <a:rPr lang="en-US" sz="1000" b="1" i="0" dirty="0">
                <a:solidFill>
                  <a:srgbClr val="F9FAFB"/>
                </a:solidFill>
                <a:effectLst/>
                <a:latin typeface="quote-cjk-patch"/>
              </a:rPr>
              <a:t>Content</a:t>
            </a:r>
            <a:r>
              <a:rPr lang="en-US" sz="1000" b="0" i="0" dirty="0">
                <a:solidFill>
                  <a:srgbClr val="F9FAFB"/>
                </a:solidFill>
                <a:effectLst/>
                <a:latin typeface="quote-cjk-patch"/>
              </a:rPr>
              <a:t>: "I am light </a:t>
            </a:r>
            <a:r>
              <a:rPr lang="en-US" sz="1000" b="0" i="0" dirty="0" err="1">
                <a:solidFill>
                  <a:srgbClr val="F9FAFB"/>
                </a:solidFill>
                <a:effectLst/>
                <a:latin typeface="quote-cjk-patch"/>
              </a:rPr>
              <a:t>yagami</a:t>
            </a:r>
            <a:r>
              <a:rPr lang="en-US" sz="1000" b="0" i="0" dirty="0">
                <a:solidFill>
                  <a:srgbClr val="F9FAFB"/>
                </a:solidFill>
                <a:effectLst/>
                <a:latin typeface="quote-cjk-patch"/>
              </a:rPr>
              <a:t>, son of Soichiro Yagami..."</a:t>
            </a:r>
            <a:br>
              <a:rPr lang="en-US" sz="1000" b="0" i="0" dirty="0">
                <a:solidFill>
                  <a:srgbClr val="F9FAFB"/>
                </a:solidFill>
                <a:effectLst/>
                <a:latin typeface="quote-cjk-patch"/>
              </a:rPr>
            </a:br>
            <a:r>
              <a:rPr lang="en-US" sz="1000" b="1" i="0" dirty="0">
                <a:solidFill>
                  <a:srgbClr val="F9FAFB"/>
                </a:solidFill>
                <a:effectLst/>
                <a:latin typeface="quote-cjk-patch"/>
              </a:rPr>
              <a:t>Important Line</a:t>
            </a:r>
            <a:r>
              <a:rPr lang="en-US" sz="1000" b="0" i="0" dirty="0">
                <a:solidFill>
                  <a:srgbClr val="F9FAFB"/>
                </a:solidFill>
                <a:effectLst/>
                <a:latin typeface="quote-cjk-patch"/>
              </a:rPr>
              <a:t>: "my fav line is iamjustice3"</a:t>
            </a:r>
            <a:br>
              <a:rPr lang="en-US" sz="800" b="0" i="0" dirty="0">
                <a:solidFill>
                  <a:srgbClr val="F9FAFB"/>
                </a:solidFill>
                <a:effectLst/>
                <a:latin typeface="quote-cjk-patch"/>
              </a:rPr>
            </a:br>
            <a:br>
              <a:rPr lang="en-US" sz="1200" b="0" dirty="0">
                <a:solidFill>
                  <a:srgbClr val="F9FAFB"/>
                </a:solidFill>
                <a:effectLst/>
                <a:latin typeface="Menlo"/>
              </a:rPr>
            </a:br>
            <a:endParaRPr lang="en-KE" sz="24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D87D69D-B299-894F-DAF9-4826C69E65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1700" y="1295400"/>
            <a:ext cx="6565900" cy="4288971"/>
          </a:xfrm>
          <a:prstGeom prst="rect">
            <a:avLst/>
          </a:prstGeom>
        </p:spPr>
      </p:pic>
    </p:spTree>
    <p:extLst>
      <p:ext uri="{BB962C8B-B14F-4D97-AF65-F5344CB8AC3E}">
        <p14:creationId xmlns:p14="http://schemas.microsoft.com/office/powerpoint/2010/main" val="204218208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BF5B59-A597-97A9-D133-DD3DC534896E}"/>
              </a:ext>
            </a:extLst>
          </p:cNvPr>
          <p:cNvSpPr>
            <a:spLocks noGrp="1"/>
          </p:cNvSpPr>
          <p:nvPr>
            <p:ph type="title"/>
          </p:nvPr>
        </p:nvSpPr>
        <p:spPr>
          <a:xfrm>
            <a:off x="696686" y="1122001"/>
            <a:ext cx="3040685" cy="4613999"/>
          </a:xfrm>
        </p:spPr>
        <p:txBody>
          <a:bodyPr anchor="ctr">
            <a:normAutofit/>
          </a:bodyPr>
          <a:lstStyle/>
          <a:p>
            <a:pPr algn="l">
              <a:lnSpc>
                <a:spcPts val="1650"/>
              </a:lnSpc>
              <a:spcBef>
                <a:spcPts val="1200"/>
              </a:spcBef>
              <a:spcAft>
                <a:spcPts val="1200"/>
              </a:spcAft>
              <a:buNone/>
            </a:pPr>
            <a:r>
              <a:rPr lang="en-US" sz="1200" b="1" dirty="0">
                <a:solidFill>
                  <a:srgbClr val="FF0000"/>
                </a:solidFill>
                <a:effectLst/>
                <a:latin typeface="quote-cjk-patch"/>
              </a:rPr>
              <a:t>Critical Discovery in wp-</a:t>
            </a:r>
            <a:r>
              <a:rPr lang="en-US" sz="1200" b="1" dirty="0" err="1">
                <a:solidFill>
                  <a:srgbClr val="FF0000"/>
                </a:solidFill>
                <a:effectLst/>
                <a:latin typeface="quote-cjk-patch"/>
              </a:rPr>
              <a:t>config.php</a:t>
            </a:r>
            <a:br>
              <a:rPr lang="en-US" sz="1200" b="1" dirty="0">
                <a:solidFill>
                  <a:srgbClr val="F9FAFB"/>
                </a:solidFill>
                <a:effectLst/>
                <a:latin typeface="quote-cjk-patch"/>
              </a:rPr>
            </a:br>
            <a:r>
              <a:rPr lang="en-US" sz="1200" b="0" i="0" dirty="0">
                <a:solidFill>
                  <a:srgbClr val="F9FAFB"/>
                </a:solidFill>
                <a:effectLst/>
                <a:latin typeface="quote-cjk-patch"/>
              </a:rPr>
              <a:t>The </a:t>
            </a:r>
            <a:r>
              <a:rPr lang="en-US" sz="1200" b="0" i="0" dirty="0">
                <a:solidFill>
                  <a:srgbClr val="F9FAFB"/>
                </a:solidFill>
                <a:effectLst/>
                <a:latin typeface="Menlo"/>
              </a:rPr>
              <a:t>wp-</a:t>
            </a:r>
            <a:r>
              <a:rPr lang="en-US" sz="1200" b="0" i="0" dirty="0" err="1">
                <a:solidFill>
                  <a:srgbClr val="F9FAFB"/>
                </a:solidFill>
                <a:effectLst/>
                <a:latin typeface="Menlo"/>
              </a:rPr>
              <a:t>config.php</a:t>
            </a:r>
            <a:r>
              <a:rPr lang="en-US" sz="1200" b="0" i="0" dirty="0">
                <a:solidFill>
                  <a:srgbClr val="F9FAFB"/>
                </a:solidFill>
                <a:effectLst/>
                <a:latin typeface="quote-cjk-patch"/>
              </a:rPr>
              <a:t> file reveals </a:t>
            </a:r>
            <a:r>
              <a:rPr lang="en-US" sz="1200" b="1" i="0" dirty="0">
                <a:solidFill>
                  <a:srgbClr val="F9FAFB"/>
                </a:solidFill>
                <a:effectLst/>
                <a:latin typeface="quote-cjk-patch"/>
              </a:rPr>
              <a:t>hardcoded database credentials</a:t>
            </a:r>
            <a:r>
              <a:rPr lang="en-US" sz="1200" b="0" i="0" dirty="0">
                <a:solidFill>
                  <a:srgbClr val="F9FAFB"/>
                </a:solidFill>
                <a:effectLst/>
                <a:latin typeface="quote-cjk-patch"/>
              </a:rPr>
              <a:t> that were reused for SSH access:</a:t>
            </a:r>
            <a:br>
              <a:rPr lang="en-US" sz="1200" b="0" i="0" dirty="0">
                <a:solidFill>
                  <a:srgbClr val="F9FAFB"/>
                </a:solidFill>
                <a:effectLst/>
                <a:latin typeface="quote-cjk-patch"/>
              </a:rPr>
            </a:br>
            <a:r>
              <a:rPr lang="en-US" sz="1200" b="1" dirty="0">
                <a:solidFill>
                  <a:srgbClr val="F9FAFB"/>
                </a:solidFill>
                <a:effectLst/>
                <a:latin typeface="quote-cjk-patch"/>
              </a:rPr>
              <a:t>Credentials Found:</a:t>
            </a:r>
            <a:br>
              <a:rPr lang="en-US" sz="1200" b="1" dirty="0">
                <a:solidFill>
                  <a:srgbClr val="F9FAFB"/>
                </a:solidFill>
                <a:effectLst/>
                <a:latin typeface="quote-cjk-patch"/>
              </a:rPr>
            </a:br>
            <a:r>
              <a:rPr lang="en-US" sz="1200" b="1" i="0" dirty="0">
                <a:solidFill>
                  <a:srgbClr val="FFFF00"/>
                </a:solidFill>
                <a:effectLst/>
                <a:latin typeface="quote-cjk-patch"/>
              </a:rPr>
              <a:t>Database Username</a:t>
            </a:r>
            <a:r>
              <a:rPr lang="en-US" sz="1200" b="0" i="0" dirty="0">
                <a:solidFill>
                  <a:srgbClr val="FFFF00"/>
                </a:solidFill>
                <a:effectLst/>
                <a:latin typeface="quote-cjk-patch"/>
              </a:rPr>
              <a:t>: </a:t>
            </a:r>
            <a:r>
              <a:rPr lang="en-US" sz="1200" b="0" i="0" dirty="0">
                <a:solidFill>
                  <a:srgbClr val="FFFF00"/>
                </a:solidFill>
                <a:effectLst/>
                <a:latin typeface="Menlo"/>
              </a:rPr>
              <a:t>l</a:t>
            </a:r>
            <a:br>
              <a:rPr lang="en-US" sz="1200" b="0" i="0" dirty="0">
                <a:solidFill>
                  <a:srgbClr val="FFFF00"/>
                </a:solidFill>
                <a:effectLst/>
                <a:latin typeface="quote-cjk-patch"/>
              </a:rPr>
            </a:br>
            <a:r>
              <a:rPr lang="en-US" sz="1200" b="1" i="0" dirty="0">
                <a:solidFill>
                  <a:srgbClr val="FFFF00"/>
                </a:solidFill>
                <a:effectLst/>
                <a:latin typeface="quote-cjk-patch"/>
              </a:rPr>
              <a:t>Database Password</a:t>
            </a:r>
            <a:r>
              <a:rPr lang="en-US" sz="1200" b="0" i="0" dirty="0">
                <a:solidFill>
                  <a:srgbClr val="FFFF00"/>
                </a:solidFill>
                <a:effectLst/>
                <a:latin typeface="quote-cjk-patch"/>
              </a:rPr>
              <a:t>: </a:t>
            </a:r>
            <a:r>
              <a:rPr lang="en-US" sz="1200" b="0" i="0" dirty="0">
                <a:solidFill>
                  <a:srgbClr val="FFFF00"/>
                </a:solidFill>
                <a:effectLst/>
                <a:latin typeface="Menlo"/>
              </a:rPr>
              <a:t>death4me</a:t>
            </a:r>
            <a:br>
              <a:rPr lang="en-US" sz="1200" b="0" i="0" dirty="0">
                <a:solidFill>
                  <a:srgbClr val="F9FAFB"/>
                </a:solidFill>
                <a:effectLst/>
                <a:latin typeface="quote-cjk-patch"/>
              </a:rPr>
            </a:br>
            <a:r>
              <a:rPr lang="en-US" sz="1200" b="0" i="0" dirty="0">
                <a:solidFill>
                  <a:srgbClr val="F9FAFB"/>
                </a:solidFill>
                <a:effectLst/>
                <a:latin typeface="quote-cjk-patch"/>
              </a:rPr>
              <a:t>This is a </a:t>
            </a:r>
            <a:r>
              <a:rPr lang="en-US" sz="1200" b="1" i="0" dirty="0">
                <a:solidFill>
                  <a:srgbClr val="F9FAFB"/>
                </a:solidFill>
                <a:effectLst/>
                <a:latin typeface="quote-cjk-patch"/>
              </a:rPr>
              <a:t>classic credential reuse vulnerability</a:t>
            </a:r>
            <a:r>
              <a:rPr lang="en-US" sz="1200" b="0" i="0" dirty="0">
                <a:solidFill>
                  <a:srgbClr val="F9FAFB"/>
                </a:solidFill>
                <a:effectLst/>
                <a:latin typeface="quote-cjk-patch"/>
              </a:rPr>
              <a:t> - the same password used for the WordPress database was also used for SSH login. This explains how we later accessed the system via SSH:</a:t>
            </a:r>
            <a:br>
              <a:rPr lang="en-US" sz="1200" b="0" i="0" dirty="0">
                <a:solidFill>
                  <a:srgbClr val="F9FAFB"/>
                </a:solidFill>
                <a:effectLst/>
                <a:latin typeface="quote-cjk-patch"/>
              </a:rPr>
            </a:br>
            <a:r>
              <a:rPr lang="en-US" sz="1200" b="0" i="0" dirty="0">
                <a:solidFill>
                  <a:srgbClr val="FFFF00"/>
                </a:solidFill>
                <a:effectLst/>
                <a:latin typeface="quote-cjk-patch"/>
              </a:rPr>
              <a:t>ssh l@192.168.1.168</a:t>
            </a:r>
            <a:br>
              <a:rPr lang="en-US" sz="1200" b="0" i="0" dirty="0">
                <a:solidFill>
                  <a:srgbClr val="FFFF00"/>
                </a:solidFill>
                <a:effectLst/>
                <a:latin typeface="quote-cjk-patch"/>
              </a:rPr>
            </a:br>
            <a:r>
              <a:rPr lang="en-US" sz="1200" b="0" i="0" dirty="0">
                <a:solidFill>
                  <a:srgbClr val="FFFF00"/>
                </a:solidFill>
                <a:effectLst/>
                <a:latin typeface="quote-cjk-patch"/>
              </a:rPr>
              <a:t>Password: death4me</a:t>
            </a:r>
            <a:endParaRPr lang="en-KE" sz="2400" dirty="0">
              <a:solidFill>
                <a:srgbClr val="FFFF00"/>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4720DE9-5791-C218-E025-5086B50BDD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56315" y="772887"/>
            <a:ext cx="7750628" cy="5225142"/>
          </a:xfrm>
          <a:prstGeom prst="rect">
            <a:avLst/>
          </a:prstGeom>
        </p:spPr>
      </p:pic>
    </p:spTree>
    <p:extLst>
      <p:ext uri="{BB962C8B-B14F-4D97-AF65-F5344CB8AC3E}">
        <p14:creationId xmlns:p14="http://schemas.microsoft.com/office/powerpoint/2010/main" val="145230741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05E1B-A040-C5AB-6FC5-E041A3546105}"/>
              </a:ext>
            </a:extLst>
          </p:cNvPr>
          <p:cNvSpPr>
            <a:spLocks noGrp="1"/>
          </p:cNvSpPr>
          <p:nvPr>
            <p:ph type="title"/>
          </p:nvPr>
        </p:nvSpPr>
        <p:spPr>
          <a:xfrm>
            <a:off x="391886" y="1122001"/>
            <a:ext cx="3345485" cy="5230326"/>
          </a:xfrm>
        </p:spPr>
        <p:txBody>
          <a:bodyPr anchor="ctr">
            <a:normAutofit/>
          </a:bodyPr>
          <a:lstStyle/>
          <a:p>
            <a:pPr algn="l">
              <a:lnSpc>
                <a:spcPts val="2250"/>
              </a:lnSpc>
              <a:spcBef>
                <a:spcPts val="2400"/>
              </a:spcBef>
              <a:spcAft>
                <a:spcPts val="1200"/>
              </a:spcAft>
              <a:buNone/>
            </a:pPr>
            <a:br>
              <a:rPr lang="fr-FR" sz="1200" b="0" i="0" dirty="0">
                <a:solidFill>
                  <a:srgbClr val="F9FAFB"/>
                </a:solidFill>
                <a:effectLst/>
                <a:latin typeface="quote-cjk-patch"/>
              </a:rPr>
            </a:br>
            <a:r>
              <a:rPr lang="fr-FR" sz="1200" b="1" i="0" dirty="0">
                <a:solidFill>
                  <a:srgbClr val="FF0000"/>
                </a:solidFill>
                <a:effectLst/>
                <a:latin typeface="quote-cjk-patch"/>
              </a:rPr>
              <a:t>User Flag Acquisition</a:t>
            </a:r>
            <a:br>
              <a:rPr lang="fr-FR" sz="1200" b="1" i="0" dirty="0">
                <a:solidFill>
                  <a:srgbClr val="F9FAFB"/>
                </a:solidFill>
                <a:effectLst/>
                <a:latin typeface="quote-cjk-patch"/>
              </a:rPr>
            </a:br>
            <a:r>
              <a:rPr lang="en-US" sz="1200" b="1" u="sng" dirty="0">
                <a:solidFill>
                  <a:srgbClr val="F9FAFB"/>
                </a:solidFill>
                <a:effectLst/>
                <a:latin typeface="quote-cjk-patch"/>
              </a:rPr>
              <a:t>First Screenshot Analysis:</a:t>
            </a:r>
            <a:br>
              <a:rPr lang="en-US" sz="1200" b="1" dirty="0">
                <a:solidFill>
                  <a:srgbClr val="F9FAFB"/>
                </a:solidFill>
                <a:effectLst/>
                <a:latin typeface="quote-cjk-patch"/>
              </a:rPr>
            </a:br>
            <a:r>
              <a:rPr lang="en-US" sz="1200" b="0" i="0" dirty="0">
                <a:solidFill>
                  <a:srgbClr val="F9FAFB"/>
                </a:solidFill>
                <a:effectLst/>
                <a:latin typeface="quote-cjk-patch"/>
              </a:rPr>
              <a:t>You successfully </a:t>
            </a:r>
            <a:r>
              <a:rPr lang="en-US" sz="1200" b="1" i="0" dirty="0" err="1">
                <a:solidFill>
                  <a:srgbClr val="F9FAFB"/>
                </a:solidFill>
                <a:effectLst/>
                <a:latin typeface="quote-cjk-patch"/>
              </a:rPr>
              <a:t>SSH'd</a:t>
            </a:r>
            <a:r>
              <a:rPr lang="en-US" sz="1200" b="1" i="0" dirty="0">
                <a:solidFill>
                  <a:srgbClr val="F9FAFB"/>
                </a:solidFill>
                <a:effectLst/>
                <a:latin typeface="quote-cjk-patch"/>
              </a:rPr>
              <a:t> as user </a:t>
            </a:r>
            <a:r>
              <a:rPr lang="en-US" sz="1200" b="0" i="0" dirty="0">
                <a:solidFill>
                  <a:srgbClr val="F9FAFB"/>
                </a:solidFill>
                <a:effectLst/>
                <a:latin typeface="Menlo"/>
              </a:rPr>
              <a:t>l</a:t>
            </a:r>
            <a:r>
              <a:rPr lang="en-US" sz="1200" b="0" i="0" dirty="0">
                <a:solidFill>
                  <a:srgbClr val="F9FAFB"/>
                </a:solidFill>
                <a:effectLst/>
                <a:latin typeface="quote-cjk-patch"/>
              </a:rPr>
              <a:t> using the credentials discovered in </a:t>
            </a:r>
            <a:r>
              <a:rPr lang="en-US" sz="1200" b="0" i="0" dirty="0">
                <a:solidFill>
                  <a:srgbClr val="F9FAFB"/>
                </a:solidFill>
                <a:effectLst/>
                <a:latin typeface="Menlo"/>
              </a:rPr>
              <a:t>wp-</a:t>
            </a:r>
            <a:r>
              <a:rPr lang="en-US" sz="1200" b="0" i="0" dirty="0" err="1">
                <a:solidFill>
                  <a:srgbClr val="F9FAFB"/>
                </a:solidFill>
                <a:effectLst/>
                <a:latin typeface="Menlo"/>
              </a:rPr>
              <a:t>config.php</a:t>
            </a:r>
            <a:r>
              <a:rPr lang="en-US" sz="1200" b="0" i="0" dirty="0">
                <a:solidFill>
                  <a:srgbClr val="F9FAFB"/>
                </a:solidFill>
                <a:effectLst/>
                <a:latin typeface="quote-cjk-patch"/>
              </a:rPr>
              <a:t>:</a:t>
            </a:r>
            <a:br>
              <a:rPr lang="en-US" sz="1200" b="0" i="0" dirty="0">
                <a:solidFill>
                  <a:srgbClr val="F9FAFB"/>
                </a:solidFill>
                <a:effectLst/>
                <a:latin typeface="quote-cjk-patch"/>
              </a:rPr>
            </a:br>
            <a:r>
              <a:rPr lang="en-US" sz="1200" b="1" i="0" dirty="0">
                <a:solidFill>
                  <a:srgbClr val="FFFF00"/>
                </a:solidFill>
                <a:effectLst/>
                <a:latin typeface="quote-cjk-patch"/>
              </a:rPr>
              <a:t>Username</a:t>
            </a:r>
            <a:r>
              <a:rPr lang="en-US" sz="1200" b="0" i="0" dirty="0">
                <a:solidFill>
                  <a:srgbClr val="FFFF00"/>
                </a:solidFill>
                <a:effectLst/>
                <a:latin typeface="quote-cjk-patch"/>
              </a:rPr>
              <a:t>: </a:t>
            </a:r>
            <a:r>
              <a:rPr lang="en-US" sz="1200" b="0" i="0" dirty="0">
                <a:solidFill>
                  <a:srgbClr val="FFFF00"/>
                </a:solidFill>
                <a:effectLst/>
                <a:latin typeface="Menlo"/>
              </a:rPr>
              <a:t>l</a:t>
            </a:r>
            <a:br>
              <a:rPr lang="en-US" sz="1200" b="0" i="0" dirty="0">
                <a:solidFill>
                  <a:srgbClr val="FFFF00"/>
                </a:solidFill>
                <a:effectLst/>
                <a:latin typeface="quote-cjk-patch"/>
              </a:rPr>
            </a:br>
            <a:r>
              <a:rPr lang="en-US" sz="1200" b="1" i="0" dirty="0">
                <a:solidFill>
                  <a:srgbClr val="FFFF00"/>
                </a:solidFill>
                <a:effectLst/>
                <a:latin typeface="quote-cjk-patch"/>
              </a:rPr>
              <a:t>Password</a:t>
            </a:r>
            <a:r>
              <a:rPr lang="en-US" sz="1200" b="0" i="0" dirty="0">
                <a:solidFill>
                  <a:srgbClr val="FFFF00"/>
                </a:solidFill>
                <a:effectLst/>
                <a:latin typeface="quote-cjk-patch"/>
              </a:rPr>
              <a:t>: </a:t>
            </a:r>
            <a:r>
              <a:rPr lang="en-US" sz="1200" b="0" i="0" dirty="0">
                <a:solidFill>
                  <a:srgbClr val="FFFF00"/>
                </a:solidFill>
                <a:effectLst/>
                <a:latin typeface="Menlo"/>
              </a:rPr>
              <a:t>death4me</a:t>
            </a:r>
            <a:br>
              <a:rPr lang="en-US" sz="1200" b="0" i="0" dirty="0">
                <a:solidFill>
                  <a:srgbClr val="F9FAFB"/>
                </a:solidFill>
                <a:effectLst/>
                <a:latin typeface="quote-cjk-patch"/>
              </a:rPr>
            </a:br>
            <a:r>
              <a:rPr lang="en-US" sz="1200" b="1" u="sng" dirty="0">
                <a:solidFill>
                  <a:srgbClr val="F9FAFB"/>
                </a:solidFill>
                <a:effectLst/>
                <a:latin typeface="quote-cjk-patch"/>
              </a:rPr>
              <a:t>Second Screenshot - Getting user.txt:</a:t>
            </a:r>
            <a:br>
              <a:rPr lang="en-US" sz="1200" b="1" dirty="0">
                <a:solidFill>
                  <a:srgbClr val="F9FAFB"/>
                </a:solidFill>
                <a:effectLst/>
                <a:latin typeface="quote-cjk-patch"/>
              </a:rPr>
            </a:br>
            <a:r>
              <a:rPr lang="en-US" sz="1200" b="1" dirty="0">
                <a:solidFill>
                  <a:srgbClr val="F9FAFB"/>
                </a:solidFill>
                <a:effectLst/>
                <a:latin typeface="quote-cjk-patch"/>
              </a:rPr>
              <a:t>from slide 6 when I checke</a:t>
            </a:r>
            <a:r>
              <a:rPr lang="en-US" sz="1200" dirty="0">
                <a:solidFill>
                  <a:srgbClr val="F9FAFB"/>
                </a:solidFill>
                <a:effectLst/>
                <a:latin typeface="quote-cjk-patch"/>
              </a:rPr>
              <a:t>d the content of important.jpg we are told username is in the file user.txt which we can see when we list everything under ‘l’ .</a:t>
            </a:r>
            <a:br>
              <a:rPr lang="en-US" sz="1200" dirty="0">
                <a:solidFill>
                  <a:srgbClr val="F9FAFB"/>
                </a:solidFill>
                <a:effectLst/>
                <a:latin typeface="quote-cjk-patch"/>
              </a:rPr>
            </a:br>
            <a:r>
              <a:rPr lang="en-US" sz="1200" b="1" i="0" dirty="0">
                <a:solidFill>
                  <a:srgbClr val="FF0000"/>
                </a:solidFill>
                <a:effectLst/>
                <a:latin typeface="quote-cjk-patch"/>
              </a:rPr>
              <a:t>Key Observation:</a:t>
            </a:r>
            <a:r>
              <a:rPr lang="en-US" sz="1200" b="0" i="0" dirty="0">
                <a:solidFill>
                  <a:srgbClr val="FF0000"/>
                </a:solidFill>
                <a:effectLst/>
                <a:latin typeface="quote-cjk-patch"/>
              </a:rPr>
              <a:t> </a:t>
            </a:r>
            <a:r>
              <a:rPr lang="en-US" sz="1200" b="0" i="0" dirty="0">
                <a:solidFill>
                  <a:srgbClr val="F9FAFB"/>
                </a:solidFill>
                <a:effectLst/>
                <a:latin typeface="quote-cjk-patch"/>
              </a:rPr>
              <a:t>The file </a:t>
            </a:r>
            <a:r>
              <a:rPr lang="en-US" sz="1200" b="0" i="0" dirty="0">
                <a:solidFill>
                  <a:srgbClr val="F9FAFB"/>
                </a:solidFill>
                <a:effectLst/>
                <a:latin typeface="Menlo"/>
              </a:rPr>
              <a:t>user.txt</a:t>
            </a:r>
            <a:r>
              <a:rPr lang="en-US" sz="1200" b="0" i="0" dirty="0">
                <a:solidFill>
                  <a:srgbClr val="F9FAFB"/>
                </a:solidFill>
                <a:effectLst/>
                <a:latin typeface="quote-cjk-patch"/>
              </a:rPr>
              <a:t> is owned by </a:t>
            </a:r>
            <a:r>
              <a:rPr lang="en-US" sz="1200" b="1" i="0" dirty="0">
                <a:solidFill>
                  <a:srgbClr val="F9FAFB"/>
                </a:solidFill>
                <a:effectLst/>
                <a:latin typeface="quote-cjk-patch"/>
              </a:rPr>
              <a:t>root</a:t>
            </a:r>
            <a:r>
              <a:rPr lang="en-US" sz="1200" b="0" i="0" dirty="0">
                <a:solidFill>
                  <a:srgbClr val="F9FAFB"/>
                </a:solidFill>
                <a:effectLst/>
                <a:latin typeface="quote-cjk-patch"/>
              </a:rPr>
              <a:t> but readable by user l .</a:t>
            </a:r>
            <a:endParaRPr lang="en-KE" sz="24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a:extLst>
              <a:ext uri="{FF2B5EF4-FFF2-40B4-BE49-F238E27FC236}">
                <a16:creationId xmlns:a16="http://schemas.microsoft.com/office/drawing/2014/main" id="{DDDA33B7-70CA-7B41-7011-AAE5B1B2A0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4585" y="505673"/>
            <a:ext cx="5096586" cy="2467319"/>
          </a:xfrm>
          <a:prstGeom prst="rect">
            <a:avLst/>
          </a:prstGeom>
        </p:spPr>
      </p:pic>
      <p:pic>
        <p:nvPicPr>
          <p:cNvPr id="13" name="Picture 12">
            <a:extLst>
              <a:ext uri="{FF2B5EF4-FFF2-40B4-BE49-F238E27FC236}">
                <a16:creationId xmlns:a16="http://schemas.microsoft.com/office/drawing/2014/main" id="{4A3EFB3B-0A69-88B6-9A73-03853F2CD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897" y="3089081"/>
            <a:ext cx="5319961" cy="3263246"/>
          </a:xfrm>
          <a:prstGeom prst="rect">
            <a:avLst/>
          </a:prstGeom>
        </p:spPr>
      </p:pic>
    </p:spTree>
    <p:extLst>
      <p:ext uri="{BB962C8B-B14F-4D97-AF65-F5344CB8AC3E}">
        <p14:creationId xmlns:p14="http://schemas.microsoft.com/office/powerpoint/2010/main" val="156420698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7812C2-B5C3-0FC7-5C31-585E3EDD3281}"/>
              </a:ext>
            </a:extLst>
          </p:cNvPr>
          <p:cNvSpPr>
            <a:spLocks noGrp="1"/>
          </p:cNvSpPr>
          <p:nvPr>
            <p:ph type="title"/>
          </p:nvPr>
        </p:nvSpPr>
        <p:spPr>
          <a:xfrm>
            <a:off x="696686" y="1122001"/>
            <a:ext cx="3040685" cy="4613999"/>
          </a:xfrm>
        </p:spPr>
        <p:txBody>
          <a:bodyPr anchor="ctr">
            <a:normAutofit/>
          </a:bodyPr>
          <a:lstStyle/>
          <a:p>
            <a:pPr algn="l"/>
            <a:r>
              <a:rPr lang="en-US" sz="1000" dirty="0">
                <a:solidFill>
                  <a:srgbClr val="FF0000"/>
                </a:solidFill>
              </a:rPr>
              <a:t>Reveling the content of user.txt and decoding</a:t>
            </a:r>
            <a:r>
              <a:rPr lang="en-US" sz="1000" dirty="0">
                <a:solidFill>
                  <a:srgbClr val="FFFFFF"/>
                </a:solidFill>
              </a:rPr>
              <a:t>.</a:t>
            </a:r>
            <a:br>
              <a:rPr lang="en-US" sz="1000" dirty="0">
                <a:solidFill>
                  <a:srgbClr val="FFFFFF"/>
                </a:solidFill>
              </a:rPr>
            </a:br>
            <a:br>
              <a:rPr lang="en-US" sz="1000" dirty="0">
                <a:solidFill>
                  <a:srgbClr val="FFFFFF"/>
                </a:solidFill>
              </a:rPr>
            </a:br>
            <a:br>
              <a:rPr lang="en-US" sz="1000" dirty="0">
                <a:solidFill>
                  <a:srgbClr val="FFFFFF"/>
                </a:solidFill>
              </a:rPr>
            </a:br>
            <a:br>
              <a:rPr lang="en-US" sz="1000" dirty="0">
                <a:solidFill>
                  <a:srgbClr val="FFFFFF"/>
                </a:solidFill>
              </a:rPr>
            </a:br>
            <a:r>
              <a:rPr lang="en-US" sz="1000" dirty="0">
                <a:solidFill>
                  <a:srgbClr val="FFFFFF"/>
                </a:solidFill>
              </a:rPr>
              <a:t>In the first screenshot I decoded the user.txt to see its content. This revealed the user flag.</a:t>
            </a:r>
            <a:br>
              <a:rPr lang="en-US" sz="1000" dirty="0">
                <a:solidFill>
                  <a:srgbClr val="FFFFFF"/>
                </a:solidFill>
              </a:rPr>
            </a:br>
            <a:br>
              <a:rPr lang="en-US" sz="1000" dirty="0">
                <a:solidFill>
                  <a:srgbClr val="FFFFFF"/>
                </a:solidFill>
              </a:rPr>
            </a:br>
            <a:r>
              <a:rPr lang="en-US" sz="1000" dirty="0">
                <a:solidFill>
                  <a:srgbClr val="FFFFFF"/>
                </a:solidFill>
              </a:rPr>
              <a:t>With me I used self developed python program to decode the flag.</a:t>
            </a:r>
            <a:br>
              <a:rPr lang="en-US" sz="1000" dirty="0">
                <a:solidFill>
                  <a:srgbClr val="FFFFFF"/>
                </a:solidFill>
              </a:rPr>
            </a:br>
            <a:br>
              <a:rPr lang="en-US" sz="1000" dirty="0">
                <a:solidFill>
                  <a:srgbClr val="FFFFFF"/>
                </a:solidFill>
              </a:rPr>
            </a:br>
            <a:r>
              <a:rPr lang="en-US" sz="1000" dirty="0">
                <a:solidFill>
                  <a:srgbClr val="FFFFFF"/>
                </a:solidFill>
              </a:rPr>
              <a:t>The massage displayed is :"</a:t>
            </a:r>
            <a:r>
              <a:rPr lang="en-US" sz="1000" dirty="0" err="1">
                <a:solidFill>
                  <a:srgbClr val="FFFFFF"/>
                </a:solidFill>
              </a:rPr>
              <a:t>i</a:t>
            </a:r>
            <a:r>
              <a:rPr lang="en-US" sz="1000" dirty="0">
                <a:solidFill>
                  <a:srgbClr val="FFFFFF"/>
                </a:solidFill>
              </a:rPr>
              <a:t> think u got the shell, but you won't be able to kill me –</a:t>
            </a:r>
            <a:r>
              <a:rPr lang="en-US" sz="1000" dirty="0" err="1">
                <a:solidFill>
                  <a:srgbClr val="FFFFFF"/>
                </a:solidFill>
              </a:rPr>
              <a:t>kira</a:t>
            </a:r>
            <a:r>
              <a:rPr lang="en-US" sz="1000" dirty="0">
                <a:solidFill>
                  <a:srgbClr val="FFFFFF"/>
                </a:solidFill>
              </a:rPr>
              <a:t> </a:t>
            </a:r>
            <a:br>
              <a:rPr lang="en-US" sz="1000" dirty="0">
                <a:solidFill>
                  <a:srgbClr val="FFFFFF"/>
                </a:solidFill>
              </a:rPr>
            </a:br>
            <a:r>
              <a:rPr lang="en-US" sz="1000" dirty="0">
                <a:solidFill>
                  <a:srgbClr val="FFFFFF"/>
                </a:solidFill>
              </a:rPr>
              <a:t> </a:t>
            </a:r>
            <a:br>
              <a:rPr lang="en-US" sz="1000" dirty="0">
                <a:solidFill>
                  <a:srgbClr val="FFFFFF"/>
                </a:solidFill>
              </a:rPr>
            </a:br>
            <a:r>
              <a:rPr lang="en-US" sz="1000" dirty="0">
                <a:solidFill>
                  <a:srgbClr val="FFFFFF"/>
                </a:solidFill>
              </a:rPr>
              <a:t>we were informed before that the user.txt had a user yet no password so from that the user here is ‘</a:t>
            </a:r>
            <a:r>
              <a:rPr lang="en-US" sz="1000" dirty="0" err="1">
                <a:solidFill>
                  <a:srgbClr val="FFFFFF"/>
                </a:solidFill>
              </a:rPr>
              <a:t>kira</a:t>
            </a:r>
            <a:r>
              <a:rPr lang="en-US" sz="1000" dirty="0">
                <a:solidFill>
                  <a:srgbClr val="FFFFFF"/>
                </a:solidFill>
              </a:rPr>
              <a:t>’.</a:t>
            </a:r>
            <a:endParaRPr lang="en-KE" sz="10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323417F-7850-757E-1AEA-FA1204645E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44115" y="844341"/>
            <a:ext cx="6565900" cy="1289241"/>
          </a:xfrm>
          <a:prstGeom prst="rect">
            <a:avLst/>
          </a:prstGeom>
        </p:spPr>
      </p:pic>
      <p:pic>
        <p:nvPicPr>
          <p:cNvPr id="7" name="Picture 6">
            <a:extLst>
              <a:ext uri="{FF2B5EF4-FFF2-40B4-BE49-F238E27FC236}">
                <a16:creationId xmlns:a16="http://schemas.microsoft.com/office/drawing/2014/main" id="{6B80C557-99FC-AD6E-995E-308A1373B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4058" y="2787236"/>
            <a:ext cx="7615833" cy="2676899"/>
          </a:xfrm>
          <a:prstGeom prst="rect">
            <a:avLst/>
          </a:prstGeom>
        </p:spPr>
      </p:pic>
    </p:spTree>
    <p:extLst>
      <p:ext uri="{BB962C8B-B14F-4D97-AF65-F5344CB8AC3E}">
        <p14:creationId xmlns:p14="http://schemas.microsoft.com/office/powerpoint/2010/main" val="340131251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6BF22F-76BB-3395-70CD-6F695F79668D}"/>
              </a:ext>
            </a:extLst>
          </p:cNvPr>
          <p:cNvSpPr>
            <a:spLocks noGrp="1"/>
          </p:cNvSpPr>
          <p:nvPr>
            <p:ph type="title"/>
          </p:nvPr>
        </p:nvSpPr>
        <p:spPr>
          <a:xfrm>
            <a:off x="130630" y="108857"/>
            <a:ext cx="3766456" cy="6215743"/>
          </a:xfrm>
        </p:spPr>
        <p:txBody>
          <a:bodyPr anchor="ctr">
            <a:normAutofit/>
          </a:bodyPr>
          <a:lstStyle/>
          <a:p>
            <a:pPr algn="l"/>
            <a:r>
              <a:rPr lang="en-US" sz="1000" dirty="0">
                <a:solidFill>
                  <a:srgbClr val="FF0000"/>
                </a:solidFill>
              </a:rPr>
              <a:t>Lateral movement from ”l” to “</a:t>
            </a:r>
            <a:r>
              <a:rPr lang="en-US" sz="1000" dirty="0" err="1">
                <a:solidFill>
                  <a:srgbClr val="FF0000"/>
                </a:solidFill>
              </a:rPr>
              <a:t>kira</a:t>
            </a:r>
            <a:r>
              <a:rPr lang="en-US" sz="1000" dirty="0">
                <a:solidFill>
                  <a:srgbClr val="FF0000"/>
                </a:solidFill>
              </a:rPr>
              <a:t>” using private key for “</a:t>
            </a:r>
            <a:r>
              <a:rPr lang="en-US" sz="1000" dirty="0" err="1">
                <a:solidFill>
                  <a:srgbClr val="FF0000"/>
                </a:solidFill>
              </a:rPr>
              <a:t>kira</a:t>
            </a:r>
            <a:r>
              <a:rPr lang="en-US" sz="1000" dirty="0">
                <a:solidFill>
                  <a:srgbClr val="FF0000"/>
                </a:solidFill>
              </a:rPr>
              <a:t>” found under “l”</a:t>
            </a:r>
            <a:br>
              <a:rPr lang="en-US" sz="1000" dirty="0">
                <a:solidFill>
                  <a:srgbClr val="FF0000"/>
                </a:solidFill>
              </a:rPr>
            </a:br>
            <a:r>
              <a:rPr lang="en-US" sz="1100" b="0" dirty="0">
                <a:solidFill>
                  <a:srgbClr val="F9FAFB"/>
                </a:solidFill>
                <a:effectLst/>
                <a:latin typeface="quote-cjk-patch"/>
              </a:rPr>
              <a:t>I </a:t>
            </a:r>
            <a:r>
              <a:rPr lang="en-US" sz="1100" b="0" i="0" dirty="0">
                <a:solidFill>
                  <a:srgbClr val="F9FAFB"/>
                </a:solidFill>
                <a:effectLst/>
                <a:latin typeface="quote-cjk-patch"/>
              </a:rPr>
              <a:t> discovered that user </a:t>
            </a:r>
            <a:r>
              <a:rPr lang="en-US" sz="1100" b="0" i="0" dirty="0">
                <a:solidFill>
                  <a:srgbClr val="F9FAFB"/>
                </a:solidFill>
                <a:effectLst/>
                <a:latin typeface="Menlo"/>
              </a:rPr>
              <a:t>l</a:t>
            </a:r>
            <a:r>
              <a:rPr lang="en-US" sz="1100" b="0" i="0" dirty="0">
                <a:solidFill>
                  <a:srgbClr val="F9FAFB"/>
                </a:solidFill>
                <a:effectLst/>
                <a:latin typeface="quote-cjk-patch"/>
              </a:rPr>
              <a:t> had access to </a:t>
            </a:r>
            <a:r>
              <a:rPr lang="en-US" sz="1100" b="1" i="0" dirty="0" err="1">
                <a:solidFill>
                  <a:srgbClr val="F9FAFB"/>
                </a:solidFill>
                <a:effectLst/>
                <a:latin typeface="quote-cjk-patch"/>
              </a:rPr>
              <a:t>kira's</a:t>
            </a:r>
            <a:r>
              <a:rPr lang="en-US" sz="1100" b="1" i="0" dirty="0">
                <a:solidFill>
                  <a:srgbClr val="F9FAFB"/>
                </a:solidFill>
                <a:effectLst/>
                <a:latin typeface="quote-cjk-patch"/>
              </a:rPr>
              <a:t> SSH private key</a:t>
            </a:r>
            <a:r>
              <a:rPr lang="en-US" sz="1100" b="0" i="0" dirty="0">
                <a:solidFill>
                  <a:srgbClr val="F9FAFB"/>
                </a:solidFill>
                <a:effectLst/>
                <a:latin typeface="quote-cjk-patch"/>
              </a:rPr>
              <a:t> in there </a:t>
            </a:r>
            <a:r>
              <a:rPr lang="en-US" sz="1100" b="0" i="0" dirty="0">
                <a:solidFill>
                  <a:srgbClr val="F9FAFB"/>
                </a:solidFill>
                <a:effectLst/>
                <a:latin typeface="Menlo"/>
              </a:rPr>
              <a:t>.ssh</a:t>
            </a:r>
            <a:r>
              <a:rPr lang="en-US" sz="1100" b="0" i="0" dirty="0">
                <a:solidFill>
                  <a:srgbClr val="F9FAFB"/>
                </a:solidFill>
                <a:effectLst/>
                <a:latin typeface="quote-cjk-patch"/>
              </a:rPr>
              <a:t> directory: </a:t>
            </a:r>
            <a:br>
              <a:rPr lang="en-US" sz="1100" b="0" i="0" dirty="0">
                <a:solidFill>
                  <a:srgbClr val="F9FAFB"/>
                </a:solidFill>
                <a:effectLst/>
                <a:latin typeface="quote-cjk-patch"/>
              </a:rPr>
            </a:br>
            <a:r>
              <a:rPr lang="en-US" sz="800" b="0" i="0" dirty="0" err="1">
                <a:solidFill>
                  <a:srgbClr val="FFC000"/>
                </a:solidFill>
                <a:effectLst/>
                <a:latin typeface="quote-cjk-patch"/>
              </a:rPr>
              <a:t>l@deathnote</a:t>
            </a:r>
            <a:r>
              <a:rPr lang="en-US" sz="800" b="0" i="0" dirty="0">
                <a:solidFill>
                  <a:srgbClr val="FFC000"/>
                </a:solidFill>
                <a:effectLst/>
                <a:latin typeface="quote-cjk-patch"/>
              </a:rPr>
              <a:t>:~$ ls -la /home/l/.ssh/</a:t>
            </a:r>
            <a:br>
              <a:rPr lang="en-US" sz="800" b="0" i="0" dirty="0">
                <a:solidFill>
                  <a:srgbClr val="FFC000"/>
                </a:solidFill>
                <a:effectLst/>
                <a:latin typeface="quote-cjk-patch"/>
              </a:rPr>
            </a:br>
            <a:r>
              <a:rPr lang="en-US" sz="800" b="0" i="0" dirty="0">
                <a:solidFill>
                  <a:srgbClr val="FFC000"/>
                </a:solidFill>
                <a:effectLst/>
                <a:latin typeface="quote-cjk-patch"/>
              </a:rPr>
              <a:t>-</a:t>
            </a:r>
            <a:r>
              <a:rPr lang="en-US" sz="800" b="0" i="0" dirty="0" err="1">
                <a:solidFill>
                  <a:srgbClr val="FFC000"/>
                </a:solidFill>
                <a:effectLst/>
                <a:latin typeface="quote-cjk-patch"/>
              </a:rPr>
              <a:t>rw</a:t>
            </a:r>
            <a:r>
              <a:rPr lang="en-US" sz="800" b="0" i="0" dirty="0">
                <a:solidFill>
                  <a:srgbClr val="FFC000"/>
                </a:solidFill>
                <a:effectLst/>
                <a:latin typeface="quote-cjk-patch"/>
              </a:rPr>
              <a:t>-r--r-- 1 l </a:t>
            </a:r>
            <a:r>
              <a:rPr lang="en-US" sz="800" b="0" i="0" dirty="0" err="1">
                <a:solidFill>
                  <a:srgbClr val="FFC000"/>
                </a:solidFill>
                <a:effectLst/>
                <a:latin typeface="quote-cjk-patch"/>
              </a:rPr>
              <a:t>l</a:t>
            </a:r>
            <a:r>
              <a:rPr lang="en-US" sz="800" b="0" i="0" dirty="0">
                <a:solidFill>
                  <a:srgbClr val="FFC000"/>
                </a:solidFill>
                <a:effectLst/>
                <a:latin typeface="quote-cjk-patch"/>
              </a:rPr>
              <a:t> 1823 Jul 19 2021 </a:t>
            </a:r>
            <a:r>
              <a:rPr lang="en-US" sz="800" b="0" i="0" dirty="0" err="1">
                <a:solidFill>
                  <a:srgbClr val="FFC000"/>
                </a:solidFill>
                <a:effectLst/>
                <a:latin typeface="quote-cjk-patch"/>
              </a:rPr>
              <a:t>id_rsa</a:t>
            </a:r>
            <a:r>
              <a:rPr lang="en-US" sz="800" b="0" i="0" dirty="0">
                <a:solidFill>
                  <a:srgbClr val="FFC000"/>
                </a:solidFill>
                <a:effectLst/>
                <a:latin typeface="quote-cjk-patch"/>
              </a:rPr>
              <a:t>          # Private key</a:t>
            </a:r>
            <a:br>
              <a:rPr lang="en-US" sz="800" b="0" i="0" dirty="0">
                <a:solidFill>
                  <a:srgbClr val="FFC000"/>
                </a:solidFill>
                <a:effectLst/>
                <a:latin typeface="quote-cjk-patch"/>
              </a:rPr>
            </a:br>
            <a:r>
              <a:rPr lang="en-US" sz="800" b="0" i="0" dirty="0">
                <a:solidFill>
                  <a:srgbClr val="FFC000"/>
                </a:solidFill>
                <a:effectLst/>
                <a:latin typeface="quote-cjk-patch"/>
              </a:rPr>
              <a:t>-</a:t>
            </a:r>
            <a:r>
              <a:rPr lang="en-US" sz="800" b="0" i="0" dirty="0" err="1">
                <a:solidFill>
                  <a:srgbClr val="FFC000"/>
                </a:solidFill>
                <a:effectLst/>
                <a:latin typeface="quote-cjk-patch"/>
              </a:rPr>
              <a:t>rw</a:t>
            </a:r>
            <a:r>
              <a:rPr lang="en-US" sz="800" b="0" i="0" dirty="0">
                <a:solidFill>
                  <a:srgbClr val="FFC000"/>
                </a:solidFill>
                <a:effectLst/>
                <a:latin typeface="quote-cjk-patch"/>
              </a:rPr>
              <a:t>-r--r-- 1 l </a:t>
            </a:r>
            <a:r>
              <a:rPr lang="en-US" sz="800" b="0" i="0" dirty="0" err="1">
                <a:solidFill>
                  <a:srgbClr val="FFC000"/>
                </a:solidFill>
                <a:effectLst/>
                <a:latin typeface="quote-cjk-patch"/>
              </a:rPr>
              <a:t>l</a:t>
            </a:r>
            <a:r>
              <a:rPr lang="en-US" sz="800" b="0" i="0" dirty="0">
                <a:solidFill>
                  <a:srgbClr val="FFC000"/>
                </a:solidFill>
                <a:effectLst/>
                <a:latin typeface="quote-cjk-patch"/>
              </a:rPr>
              <a:t>  393 Jul 19 2021 id_rsa.pub      # Public key</a:t>
            </a:r>
            <a:br>
              <a:rPr lang="en-US" sz="800" b="0" i="0" dirty="0">
                <a:solidFill>
                  <a:srgbClr val="FFC000"/>
                </a:solidFill>
                <a:effectLst/>
                <a:latin typeface="quote-cjk-patch"/>
              </a:rPr>
            </a:br>
            <a:r>
              <a:rPr lang="en-US" sz="800" b="0" i="0" dirty="0">
                <a:solidFill>
                  <a:srgbClr val="FFC000"/>
                </a:solidFill>
                <a:effectLst/>
                <a:latin typeface="quote-cjk-patch"/>
              </a:rPr>
              <a:t>-</a:t>
            </a:r>
            <a:r>
              <a:rPr lang="en-US" sz="800" b="0" i="0" dirty="0" err="1">
                <a:solidFill>
                  <a:srgbClr val="FFC000"/>
                </a:solidFill>
                <a:effectLst/>
                <a:latin typeface="quote-cjk-patch"/>
              </a:rPr>
              <a:t>rw</a:t>
            </a:r>
            <a:r>
              <a:rPr lang="en-US" sz="800" b="0" i="0" dirty="0">
                <a:solidFill>
                  <a:srgbClr val="FFC000"/>
                </a:solidFill>
                <a:effectLst/>
                <a:latin typeface="quote-cjk-patch"/>
              </a:rPr>
              <a:t>-r--r-- 1 l </a:t>
            </a:r>
            <a:r>
              <a:rPr lang="en-US" sz="800" b="0" i="0" dirty="0" err="1">
                <a:solidFill>
                  <a:srgbClr val="FFC000"/>
                </a:solidFill>
                <a:effectLst/>
                <a:latin typeface="quote-cjk-patch"/>
              </a:rPr>
              <a:t>l</a:t>
            </a:r>
            <a:r>
              <a:rPr lang="en-US" sz="800" b="0" i="0" dirty="0">
                <a:solidFill>
                  <a:srgbClr val="FFC000"/>
                </a:solidFill>
                <a:effectLst/>
                <a:latin typeface="quote-cjk-patch"/>
              </a:rPr>
              <a:t>  222 Sep 4 2021 known hosts</a:t>
            </a:r>
            <a:br>
              <a:rPr lang="en-US" sz="800" b="0" i="0" dirty="0">
                <a:solidFill>
                  <a:srgbClr val="FFC000"/>
                </a:solidFill>
                <a:effectLst/>
                <a:latin typeface="quote-cjk-patch"/>
              </a:rPr>
            </a:br>
            <a:br>
              <a:rPr lang="en-US" sz="800" b="0" i="0" dirty="0">
                <a:solidFill>
                  <a:srgbClr val="FFC000"/>
                </a:solidFill>
                <a:effectLst/>
                <a:latin typeface="quote-cjk-patch"/>
              </a:rPr>
            </a:br>
            <a:r>
              <a:rPr lang="en-US" sz="1100" b="0" i="0" dirty="0">
                <a:solidFill>
                  <a:schemeClr val="bg1"/>
                </a:solidFill>
                <a:effectLst/>
                <a:latin typeface="quote-cjk-patch"/>
              </a:rPr>
              <a:t>This allowed l to SSH into </a:t>
            </a:r>
            <a:r>
              <a:rPr lang="en-US" sz="1100" b="0" i="0" dirty="0" err="1">
                <a:solidFill>
                  <a:schemeClr val="bg1"/>
                </a:solidFill>
                <a:effectLst/>
                <a:latin typeface="quote-cjk-patch"/>
              </a:rPr>
              <a:t>kira's</a:t>
            </a:r>
            <a:r>
              <a:rPr lang="en-US" sz="1100" b="0" i="0" dirty="0">
                <a:solidFill>
                  <a:schemeClr val="bg1"/>
                </a:solidFill>
                <a:effectLst/>
                <a:latin typeface="quote-cjk-patch"/>
              </a:rPr>
              <a:t> account without a password</a:t>
            </a:r>
            <a:br>
              <a:rPr lang="en-US" sz="1100" b="0" i="0" dirty="0">
                <a:solidFill>
                  <a:schemeClr val="bg1"/>
                </a:solidFill>
                <a:effectLst/>
                <a:latin typeface="quote-cjk-patch"/>
              </a:rPr>
            </a:br>
            <a:br>
              <a:rPr lang="en-US" sz="1100" b="0" i="0" dirty="0">
                <a:solidFill>
                  <a:schemeClr val="bg1"/>
                </a:solidFill>
                <a:effectLst/>
                <a:latin typeface="quote-cjk-patch"/>
              </a:rPr>
            </a:br>
            <a:r>
              <a:rPr lang="en-US" sz="1100" b="0" i="0" dirty="0">
                <a:solidFill>
                  <a:schemeClr val="bg1"/>
                </a:solidFill>
                <a:effectLst/>
                <a:latin typeface="quote-cjk-patch"/>
              </a:rPr>
              <a:t>The key was likely placed there for privilege escalation or persistence</a:t>
            </a:r>
            <a:br>
              <a:rPr lang="en-US" sz="1100" b="0" i="0" dirty="0">
                <a:solidFill>
                  <a:schemeClr val="bg1"/>
                </a:solidFill>
                <a:effectLst/>
                <a:latin typeface="quote-cjk-patch"/>
              </a:rPr>
            </a:br>
            <a:r>
              <a:rPr lang="en-US" sz="1100" b="0" i="0" dirty="0">
                <a:solidFill>
                  <a:schemeClr val="bg1"/>
                </a:solidFill>
                <a:effectLst/>
                <a:latin typeface="quote-cjk-patch"/>
              </a:rPr>
              <a:t>the ssh command  used to log into  </a:t>
            </a:r>
            <a:r>
              <a:rPr lang="en-US" sz="1100" b="0" i="0" dirty="0" err="1">
                <a:solidFill>
                  <a:schemeClr val="bg1"/>
                </a:solidFill>
                <a:effectLst/>
                <a:latin typeface="quote-cjk-patch"/>
              </a:rPr>
              <a:t>kira</a:t>
            </a:r>
            <a:r>
              <a:rPr lang="en-US" sz="1100" b="0" i="0" dirty="0">
                <a:solidFill>
                  <a:schemeClr val="bg1"/>
                </a:solidFill>
                <a:effectLst/>
                <a:latin typeface="quote-cjk-patch"/>
              </a:rPr>
              <a:t>: </a:t>
            </a:r>
            <a:br>
              <a:rPr lang="en-US" sz="1100" b="0" i="0" dirty="0">
                <a:solidFill>
                  <a:schemeClr val="bg1"/>
                </a:solidFill>
                <a:effectLst/>
                <a:latin typeface="quote-cjk-patch"/>
              </a:rPr>
            </a:br>
            <a:r>
              <a:rPr lang="sv-SE" sz="1100" b="0" i="0" dirty="0">
                <a:solidFill>
                  <a:srgbClr val="FFC000"/>
                </a:solidFill>
                <a:effectLst/>
                <a:latin typeface="quote-cjk-patch"/>
              </a:rPr>
              <a:t>ssh -i ~/.ssh/id_rsa </a:t>
            </a:r>
            <a:r>
              <a:rPr lang="sv-SE" sz="1100" b="0" i="0" dirty="0">
                <a:solidFill>
                  <a:srgbClr val="FFC000"/>
                </a:solidFill>
                <a:effectLst/>
                <a:latin typeface="quote-cjk-patch"/>
                <a:hlinkClick r:id="rId2"/>
              </a:rPr>
              <a:t>kira@127.0.0.1</a:t>
            </a:r>
            <a:br>
              <a:rPr lang="sv-SE" sz="1100" b="0" i="0" dirty="0">
                <a:solidFill>
                  <a:srgbClr val="FFC000"/>
                </a:solidFill>
                <a:effectLst/>
                <a:latin typeface="quote-cjk-patch"/>
              </a:rPr>
            </a:br>
            <a:br>
              <a:rPr lang="sv-SE" sz="1100" b="0" i="0" dirty="0">
                <a:solidFill>
                  <a:srgbClr val="FFC000"/>
                </a:solidFill>
                <a:effectLst/>
                <a:latin typeface="quote-cjk-patch"/>
              </a:rPr>
            </a:br>
            <a:r>
              <a:rPr lang="en-US" sz="1100" b="0" i="0" dirty="0">
                <a:solidFill>
                  <a:srgbClr val="C00000"/>
                </a:solidFill>
                <a:effectLst/>
                <a:latin typeface="quote-cjk-patch"/>
              </a:rPr>
              <a:t>Key Takeaways for CTF:</a:t>
            </a:r>
            <a:br>
              <a:rPr lang="en-US" sz="1100" b="0" i="0" dirty="0">
                <a:solidFill>
                  <a:srgbClr val="C00000"/>
                </a:solidFill>
                <a:effectLst/>
                <a:latin typeface="quote-cjk-patch"/>
              </a:rPr>
            </a:br>
            <a:br>
              <a:rPr lang="en-US" sz="1100" b="0" i="0" dirty="0">
                <a:solidFill>
                  <a:schemeClr val="bg1"/>
                </a:solidFill>
                <a:effectLst/>
                <a:latin typeface="quote-cjk-patch"/>
              </a:rPr>
            </a:br>
            <a:r>
              <a:rPr lang="en-US" sz="1100" b="0" i="0" dirty="0">
                <a:solidFill>
                  <a:schemeClr val="bg1"/>
                </a:solidFill>
                <a:effectLst/>
                <a:latin typeface="quote-cjk-patch"/>
              </a:rPr>
              <a:t>Always check for SSH keys in user directories</a:t>
            </a:r>
            <a:br>
              <a:rPr lang="en-US" sz="1100" b="0" i="0" dirty="0">
                <a:solidFill>
                  <a:schemeClr val="bg1"/>
                </a:solidFill>
                <a:effectLst/>
                <a:latin typeface="quote-cjk-patch"/>
              </a:rPr>
            </a:br>
            <a:br>
              <a:rPr lang="en-US" sz="1100" b="0" i="0" dirty="0">
                <a:solidFill>
                  <a:schemeClr val="bg1"/>
                </a:solidFill>
                <a:effectLst/>
                <a:latin typeface="quote-cjk-patch"/>
              </a:rPr>
            </a:br>
            <a:r>
              <a:rPr lang="en-US" sz="1100" b="0" i="0" dirty="0">
                <a:solidFill>
                  <a:schemeClr val="bg1"/>
                </a:solidFill>
                <a:effectLst/>
                <a:latin typeface="quote-cjk-patch"/>
              </a:rPr>
              <a:t>Private keys (</a:t>
            </a:r>
            <a:r>
              <a:rPr lang="en-US" sz="1100" b="0" i="0" dirty="0" err="1">
                <a:solidFill>
                  <a:schemeClr val="bg1"/>
                </a:solidFill>
                <a:effectLst/>
                <a:latin typeface="quote-cjk-patch"/>
              </a:rPr>
              <a:t>id_rsa</a:t>
            </a:r>
            <a:r>
              <a:rPr lang="en-US" sz="1100" b="0" i="0" dirty="0">
                <a:solidFill>
                  <a:schemeClr val="bg1"/>
                </a:solidFill>
                <a:effectLst/>
                <a:latin typeface="quote-cjk-patch"/>
              </a:rPr>
              <a:t>) allow </a:t>
            </a:r>
            <a:r>
              <a:rPr lang="en-US" sz="1100" b="0" i="0" dirty="0" err="1">
                <a:solidFill>
                  <a:schemeClr val="bg1"/>
                </a:solidFill>
                <a:effectLst/>
                <a:latin typeface="quote-cjk-patch"/>
              </a:rPr>
              <a:t>passwordless</a:t>
            </a:r>
            <a:r>
              <a:rPr lang="en-US" sz="1100" b="0" i="0" dirty="0">
                <a:solidFill>
                  <a:schemeClr val="bg1"/>
                </a:solidFill>
                <a:effectLst/>
                <a:latin typeface="quote-cjk-patch"/>
              </a:rPr>
              <a:t> login to corresponding accounts</a:t>
            </a:r>
            <a:br>
              <a:rPr lang="en-US" sz="1100" b="0" i="0" dirty="0">
                <a:solidFill>
                  <a:schemeClr val="bg1"/>
                </a:solidFill>
                <a:effectLst/>
                <a:latin typeface="quote-cjk-patch"/>
              </a:rPr>
            </a:br>
            <a:br>
              <a:rPr lang="en-US" sz="1100" b="0" i="0" dirty="0">
                <a:solidFill>
                  <a:schemeClr val="bg1"/>
                </a:solidFill>
                <a:effectLst/>
                <a:latin typeface="quote-cjk-patch"/>
              </a:rPr>
            </a:br>
            <a:r>
              <a:rPr lang="en-US" sz="1100" b="0" i="0" dirty="0">
                <a:solidFill>
                  <a:schemeClr val="bg1"/>
                </a:solidFill>
                <a:effectLst/>
                <a:latin typeface="quote-cjk-patch"/>
              </a:rPr>
              <a:t>This is a lateral movement technique - moving from l to </a:t>
            </a:r>
            <a:r>
              <a:rPr lang="en-US" sz="1100" b="0" i="0" dirty="0" err="1">
                <a:solidFill>
                  <a:schemeClr val="bg1"/>
                </a:solidFill>
                <a:effectLst/>
                <a:latin typeface="quote-cjk-patch"/>
              </a:rPr>
              <a:t>kira</a:t>
            </a:r>
            <a:br>
              <a:rPr lang="en-US" sz="1100" b="0" i="0" dirty="0">
                <a:solidFill>
                  <a:schemeClr val="bg1"/>
                </a:solidFill>
                <a:effectLst/>
                <a:latin typeface="quote-cjk-patch"/>
              </a:rPr>
            </a:br>
            <a:br>
              <a:rPr lang="en-US" sz="1100" b="0" i="0" dirty="0">
                <a:solidFill>
                  <a:schemeClr val="bg1"/>
                </a:solidFill>
                <a:effectLst/>
                <a:latin typeface="quote-cjk-patch"/>
              </a:rPr>
            </a:br>
            <a:r>
              <a:rPr lang="en-US" sz="1100" b="0" i="0" dirty="0">
                <a:solidFill>
                  <a:schemeClr val="bg1"/>
                </a:solidFill>
                <a:effectLst/>
                <a:latin typeface="quote-cjk-patch"/>
              </a:rPr>
              <a:t>The keys might be a rabbit hole or a steppingstone to further escalation</a:t>
            </a:r>
            <a:endParaRPr lang="en-KE" sz="1100" dirty="0">
              <a:solidFill>
                <a:schemeClr val="bg1"/>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0E25C8A-17AB-90B6-1491-F0ECBAE47F4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62129" y="457200"/>
            <a:ext cx="8129870" cy="5638800"/>
          </a:xfrm>
          <a:prstGeom prst="rect">
            <a:avLst/>
          </a:prstGeom>
        </p:spPr>
      </p:pic>
    </p:spTree>
    <p:extLst>
      <p:ext uri="{BB962C8B-B14F-4D97-AF65-F5344CB8AC3E}">
        <p14:creationId xmlns:p14="http://schemas.microsoft.com/office/powerpoint/2010/main" val="48396844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C4C081-920D-1F40-5028-44E56CC2F47B}"/>
              </a:ext>
            </a:extLst>
          </p:cNvPr>
          <p:cNvSpPr>
            <a:spLocks noGrp="1"/>
          </p:cNvSpPr>
          <p:nvPr>
            <p:ph type="title"/>
          </p:nvPr>
        </p:nvSpPr>
        <p:spPr>
          <a:xfrm>
            <a:off x="163286" y="435428"/>
            <a:ext cx="3574085" cy="5105401"/>
          </a:xfrm>
        </p:spPr>
        <p:txBody>
          <a:bodyPr anchor="ctr">
            <a:normAutofit/>
          </a:bodyPr>
          <a:lstStyle/>
          <a:p>
            <a:pPr algn="l">
              <a:lnSpc>
                <a:spcPts val="2250"/>
              </a:lnSpc>
              <a:spcBef>
                <a:spcPts val="2400"/>
              </a:spcBef>
              <a:spcAft>
                <a:spcPts val="1200"/>
              </a:spcAft>
              <a:buNone/>
            </a:pPr>
            <a:r>
              <a:rPr lang="en-US" sz="1200" b="1" dirty="0">
                <a:solidFill>
                  <a:srgbClr val="C00000"/>
                </a:solidFill>
                <a:effectLst/>
                <a:latin typeface="quote-cjk-patch"/>
              </a:rPr>
              <a:t>Kira's Message Decoded</a:t>
            </a:r>
            <a:br>
              <a:rPr lang="en-US" sz="1200" b="1" dirty="0">
                <a:solidFill>
                  <a:srgbClr val="F9FAFB"/>
                </a:solidFill>
                <a:effectLst/>
                <a:latin typeface="quote-cjk-patch"/>
              </a:rPr>
            </a:br>
            <a:r>
              <a:rPr lang="en-US" sz="1200" b="1" dirty="0">
                <a:solidFill>
                  <a:srgbClr val="F9FAFB"/>
                </a:solidFill>
                <a:effectLst/>
                <a:latin typeface="quote-cjk-patch"/>
              </a:rPr>
              <a:t>This is a hint from Kira pointing to two important locations:</a:t>
            </a:r>
            <a:br>
              <a:rPr lang="en-US" sz="1200" b="1" dirty="0">
                <a:solidFill>
                  <a:srgbClr val="F9FAFB"/>
                </a:solidFill>
                <a:effectLst/>
                <a:latin typeface="quote-cjk-patch"/>
              </a:rPr>
            </a:br>
            <a:r>
              <a:rPr lang="en-US" sz="1200" b="1" dirty="0">
                <a:solidFill>
                  <a:srgbClr val="F9FAFB"/>
                </a:solidFill>
                <a:effectLst/>
                <a:latin typeface="quote-cjk-patch"/>
              </a:rPr>
              <a:t>/opt - Related to "L" (the detective)</a:t>
            </a:r>
            <a:br>
              <a:rPr lang="en-US" sz="1200" b="1" dirty="0">
                <a:solidFill>
                  <a:srgbClr val="F9FAFB"/>
                </a:solidFill>
                <a:effectLst/>
                <a:latin typeface="quote-cjk-patch"/>
              </a:rPr>
            </a:br>
            <a:r>
              <a:rPr lang="en-US" sz="1200" b="1" dirty="0">
                <a:solidFill>
                  <a:srgbClr val="F9FAFB"/>
                </a:solidFill>
                <a:effectLst/>
                <a:latin typeface="quote-cjk-patch"/>
              </a:rPr>
              <a:t>/var - Related to "Misa" (Misa Amane, the second Kira)</a:t>
            </a:r>
            <a:br>
              <a:rPr lang="en-US" sz="1200" b="1" dirty="0">
                <a:solidFill>
                  <a:srgbClr val="F9FAFB"/>
                </a:solidFill>
                <a:effectLst/>
                <a:latin typeface="quote-cjk-patch"/>
              </a:rPr>
            </a:br>
            <a:r>
              <a:rPr lang="en-US" sz="1200" b="1" dirty="0">
                <a:solidFill>
                  <a:srgbClr val="F9FAFB"/>
                </a:solidFill>
                <a:effectLst/>
                <a:latin typeface="quote-cjk-patch"/>
              </a:rPr>
              <a:t>Suggests there might be important files in /var related to Misa</a:t>
            </a:r>
            <a:br>
              <a:rPr lang="en-US" sz="1200" b="1" dirty="0">
                <a:solidFill>
                  <a:srgbClr val="F9FAFB"/>
                </a:solidFill>
                <a:effectLst/>
                <a:latin typeface="quote-cjk-patch"/>
              </a:rPr>
            </a:br>
            <a:r>
              <a:rPr lang="en-US" sz="1200" b="1" dirty="0">
                <a:solidFill>
                  <a:srgbClr val="C00000"/>
                </a:solidFill>
                <a:effectLst/>
                <a:latin typeface="quote-cjk-patch"/>
              </a:rPr>
              <a:t>CTF Significance:</a:t>
            </a:r>
            <a:br>
              <a:rPr lang="en-US" sz="1200" b="1" dirty="0">
                <a:solidFill>
                  <a:srgbClr val="F9FAFB"/>
                </a:solidFill>
                <a:effectLst/>
                <a:latin typeface="quote-cjk-patch"/>
              </a:rPr>
            </a:br>
            <a:r>
              <a:rPr lang="en-US" sz="1200" b="1" dirty="0">
                <a:solidFill>
                  <a:srgbClr val="F9FAFB"/>
                </a:solidFill>
                <a:effectLst/>
                <a:latin typeface="quote-cjk-patch"/>
              </a:rPr>
              <a:t>1) </a:t>
            </a:r>
            <a:r>
              <a:rPr lang="en-US" sz="1200" b="0" i="0" dirty="0">
                <a:solidFill>
                  <a:srgbClr val="F9FAFB"/>
                </a:solidFill>
                <a:effectLst/>
                <a:latin typeface="quote-cjk-patch"/>
              </a:rPr>
              <a:t>These are likely </a:t>
            </a:r>
            <a:r>
              <a:rPr lang="en-US" sz="1200" b="1" i="0" dirty="0">
                <a:solidFill>
                  <a:srgbClr val="F9FAFB"/>
                </a:solidFill>
                <a:effectLst/>
                <a:latin typeface="quote-cjk-patch"/>
              </a:rPr>
              <a:t>directories containing the next clues</a:t>
            </a:r>
            <a:r>
              <a:rPr lang="en-US" sz="1200" b="0" i="0" dirty="0">
                <a:solidFill>
                  <a:srgbClr val="F9FAFB"/>
                </a:solidFill>
                <a:effectLst/>
                <a:latin typeface="quote-cjk-patch"/>
              </a:rPr>
              <a:t> or privilege escalation vectors</a:t>
            </a:r>
            <a:br>
              <a:rPr lang="en-US" sz="1200" b="0" i="0" dirty="0">
                <a:solidFill>
                  <a:srgbClr val="F9FAFB"/>
                </a:solidFill>
                <a:effectLst/>
                <a:latin typeface="quote-cjk-patch"/>
              </a:rPr>
            </a:br>
            <a:r>
              <a:rPr lang="en-US" sz="1200" b="0" i="0" dirty="0">
                <a:solidFill>
                  <a:srgbClr val="F9FAFB"/>
                </a:solidFill>
                <a:effectLst/>
                <a:latin typeface="quote-cjk-patch"/>
              </a:rPr>
              <a:t>2) "protect" might mean these directories have special permissions or contain sensitive data</a:t>
            </a:r>
            <a:br>
              <a:rPr lang="en-US" sz="1200" b="0" i="0" dirty="0">
                <a:solidFill>
                  <a:srgbClr val="F9FAFB"/>
                </a:solidFill>
                <a:effectLst/>
                <a:latin typeface="quote-cjk-patch"/>
              </a:rPr>
            </a:br>
            <a:r>
              <a:rPr lang="en-US" sz="1200" b="0" i="0" dirty="0">
                <a:solidFill>
                  <a:srgbClr val="F9FAFB"/>
                </a:solidFill>
                <a:effectLst/>
                <a:latin typeface="quote-cjk-patch"/>
              </a:rPr>
              <a:t>3) This is a </a:t>
            </a:r>
            <a:r>
              <a:rPr lang="en-US" sz="1200" b="1" i="0" dirty="0">
                <a:solidFill>
                  <a:srgbClr val="F9FAFB"/>
                </a:solidFill>
                <a:effectLst/>
                <a:latin typeface="quote-cjk-patch"/>
              </a:rPr>
              <a:t>directory traversal hint</a:t>
            </a:r>
            <a:r>
              <a:rPr lang="en-US" sz="1200" b="0" i="0" dirty="0">
                <a:solidFill>
                  <a:srgbClr val="F9FAFB"/>
                </a:solidFill>
                <a:effectLst/>
                <a:latin typeface="quote-cjk-patch"/>
              </a:rPr>
              <a:t> - check both locations thoroughly</a:t>
            </a:r>
            <a:br>
              <a:rPr lang="en-US" sz="1200" b="0" i="0" dirty="0">
                <a:solidFill>
                  <a:srgbClr val="F9FAFB"/>
                </a:solidFill>
                <a:effectLst/>
                <a:latin typeface="quote-cjk-patch"/>
              </a:rPr>
            </a:br>
            <a:endParaRPr lang="en-KE" sz="24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D13C4C1B-550D-9654-8024-4F57F269E744}"/>
              </a:ext>
            </a:extLst>
          </p:cNvPr>
          <p:cNvPicPr>
            <a:picLocks noGrp="1" noChangeAspect="1"/>
          </p:cNvPicPr>
          <p:nvPr>
            <p:ph idx="1"/>
          </p:nvPr>
        </p:nvPicPr>
        <p:blipFill>
          <a:blip r:embed="rId2"/>
          <a:stretch>
            <a:fillRect/>
          </a:stretch>
        </p:blipFill>
        <p:spPr>
          <a:xfrm>
            <a:off x="4844115" y="1270365"/>
            <a:ext cx="6565900" cy="1699938"/>
          </a:xfrm>
          <a:prstGeom prst="rect">
            <a:avLst/>
          </a:prstGeom>
        </p:spPr>
      </p:pic>
      <p:pic>
        <p:nvPicPr>
          <p:cNvPr id="5" name="Picture 4">
            <a:extLst>
              <a:ext uri="{FF2B5EF4-FFF2-40B4-BE49-F238E27FC236}">
                <a16:creationId xmlns:a16="http://schemas.microsoft.com/office/drawing/2014/main" id="{098E07EB-2A72-8466-DBF1-921CEFBF43DE}"/>
              </a:ext>
            </a:extLst>
          </p:cNvPr>
          <p:cNvPicPr>
            <a:picLocks noChangeAspect="1"/>
          </p:cNvPicPr>
          <p:nvPr/>
        </p:nvPicPr>
        <p:blipFill>
          <a:blip r:embed="rId3"/>
          <a:stretch>
            <a:fillRect/>
          </a:stretch>
        </p:blipFill>
        <p:spPr>
          <a:xfrm>
            <a:off x="4344014" y="3177131"/>
            <a:ext cx="7566102" cy="2765697"/>
          </a:xfrm>
          <a:prstGeom prst="rect">
            <a:avLst/>
          </a:prstGeom>
        </p:spPr>
      </p:pic>
    </p:spTree>
    <p:extLst>
      <p:ext uri="{BB962C8B-B14F-4D97-AF65-F5344CB8AC3E}">
        <p14:creationId xmlns:p14="http://schemas.microsoft.com/office/powerpoint/2010/main" val="662897874"/>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DA5C47-71F9-28EC-2644-83866295BA8D}"/>
              </a:ext>
            </a:extLst>
          </p:cNvPr>
          <p:cNvSpPr>
            <a:spLocks noGrp="1"/>
          </p:cNvSpPr>
          <p:nvPr>
            <p:ph type="title"/>
          </p:nvPr>
        </p:nvSpPr>
        <p:spPr>
          <a:xfrm>
            <a:off x="696686" y="1122001"/>
            <a:ext cx="3040685" cy="4613999"/>
          </a:xfrm>
        </p:spPr>
        <p:txBody>
          <a:bodyPr anchor="ctr">
            <a:normAutofit/>
          </a:bodyPr>
          <a:lstStyle/>
          <a:p>
            <a:pPr algn="l"/>
            <a:r>
              <a:rPr lang="en-US" sz="1100" dirty="0">
                <a:solidFill>
                  <a:srgbClr val="C00000"/>
                </a:solidFill>
              </a:rPr>
              <a:t>Checking the files related to l (/opt)</a:t>
            </a:r>
            <a:br>
              <a:rPr lang="en-US" sz="1100" dirty="0">
                <a:solidFill>
                  <a:srgbClr val="FFFFFF"/>
                </a:solidFill>
              </a:rPr>
            </a:br>
            <a:br>
              <a:rPr lang="en-US" sz="1100" dirty="0">
                <a:solidFill>
                  <a:srgbClr val="FFFFFF"/>
                </a:solidFill>
              </a:rPr>
            </a:br>
            <a:r>
              <a:rPr lang="en-US" sz="1100" dirty="0">
                <a:solidFill>
                  <a:srgbClr val="FFFFFF"/>
                </a:solidFill>
              </a:rPr>
              <a:t>Checking under /opt related to l the detective I’m able to find  </a:t>
            </a:r>
            <a:r>
              <a:rPr lang="en-US" sz="1100" dirty="0">
                <a:solidFill>
                  <a:srgbClr val="FFFF00"/>
                </a:solidFill>
              </a:rPr>
              <a:t>fake-notebook and case.wav </a:t>
            </a:r>
            <a:r>
              <a:rPr lang="en-US" sz="1100" dirty="0">
                <a:solidFill>
                  <a:srgbClr val="FFFFFF"/>
                </a:solidFill>
              </a:rPr>
              <a:t>in the second screenshot I tried to cat the case.wav and found the hex data and this one raised eyebrows.</a:t>
            </a:r>
            <a:br>
              <a:rPr lang="en-US" sz="1100" dirty="0">
                <a:solidFill>
                  <a:srgbClr val="FFFFFF"/>
                </a:solidFill>
              </a:rPr>
            </a:br>
            <a:endParaRPr lang="en-KE" sz="11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2386C6E-CB25-5DF7-5568-97683F8272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34058" y="587827"/>
            <a:ext cx="7061256" cy="2971802"/>
          </a:xfrm>
          <a:prstGeom prst="rect">
            <a:avLst/>
          </a:prstGeom>
        </p:spPr>
      </p:pic>
      <p:pic>
        <p:nvPicPr>
          <p:cNvPr id="7" name="Picture 6">
            <a:extLst>
              <a:ext uri="{FF2B5EF4-FFF2-40B4-BE49-F238E27FC236}">
                <a16:creationId xmlns:a16="http://schemas.microsoft.com/office/drawing/2014/main" id="{95C1E904-881E-EBB4-BA13-5197591D4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944" y="3792629"/>
            <a:ext cx="6687483" cy="1943371"/>
          </a:xfrm>
          <a:prstGeom prst="rect">
            <a:avLst/>
          </a:prstGeom>
        </p:spPr>
      </p:pic>
    </p:spTree>
    <p:extLst>
      <p:ext uri="{BB962C8B-B14F-4D97-AF65-F5344CB8AC3E}">
        <p14:creationId xmlns:p14="http://schemas.microsoft.com/office/powerpoint/2010/main" val="1029735425"/>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9C2B7B-E6C6-9356-11D0-5B68DD07CB0C}"/>
              </a:ext>
            </a:extLst>
          </p:cNvPr>
          <p:cNvSpPr>
            <a:spLocks noGrp="1"/>
          </p:cNvSpPr>
          <p:nvPr>
            <p:ph type="title"/>
          </p:nvPr>
        </p:nvSpPr>
        <p:spPr>
          <a:xfrm>
            <a:off x="696686" y="1122001"/>
            <a:ext cx="3040685" cy="4613999"/>
          </a:xfrm>
        </p:spPr>
        <p:txBody>
          <a:bodyPr anchor="ctr">
            <a:normAutofit/>
          </a:bodyPr>
          <a:lstStyle/>
          <a:p>
            <a:pPr>
              <a:lnSpc>
                <a:spcPts val="2250"/>
              </a:lnSpc>
              <a:spcBef>
                <a:spcPts val="2400"/>
              </a:spcBef>
              <a:spcAft>
                <a:spcPts val="1200"/>
              </a:spcAft>
            </a:pPr>
            <a:r>
              <a:rPr lang="en-US" sz="1200" b="1" dirty="0">
                <a:solidFill>
                  <a:srgbClr val="C00000"/>
                </a:solidFill>
                <a:effectLst/>
                <a:latin typeface="quote-cjk-patch"/>
              </a:rPr>
              <a:t>What This Means:</a:t>
            </a:r>
            <a:br>
              <a:rPr lang="en-US" sz="1200" b="1" dirty="0">
                <a:solidFill>
                  <a:srgbClr val="F9FAFB"/>
                </a:solidFill>
                <a:effectLst/>
                <a:latin typeface="quote-cjk-patch"/>
              </a:rPr>
            </a:br>
            <a:r>
              <a:rPr lang="en-US" sz="1200" b="0" i="0" dirty="0">
                <a:solidFill>
                  <a:srgbClr val="F9FAFB"/>
                </a:solidFill>
                <a:effectLst/>
                <a:latin typeface="quote-cjk-patch"/>
              </a:rPr>
              <a:t>The first decode in slide 10 (</a:t>
            </a:r>
            <a:r>
              <a:rPr lang="en-US" sz="1200" b="0" i="0" dirty="0">
                <a:solidFill>
                  <a:srgbClr val="F9FAFB"/>
                </a:solidFill>
                <a:effectLst/>
                <a:latin typeface="Menlo"/>
              </a:rPr>
              <a:t> </a:t>
            </a:r>
            <a:r>
              <a:rPr lang="en-US" sz="1200" b="0" i="0" dirty="0" err="1">
                <a:solidFill>
                  <a:srgbClr val="F9FAFB"/>
                </a:solidFill>
                <a:effectLst/>
                <a:latin typeface="Menlo"/>
              </a:rPr>
              <a:t>kira</a:t>
            </a:r>
            <a:r>
              <a:rPr lang="en-US" sz="1200" b="0" i="0" dirty="0">
                <a:solidFill>
                  <a:srgbClr val="F9FAFB"/>
                </a:solidFill>
                <a:effectLst/>
                <a:latin typeface="quote-cjk-patch"/>
              </a:rPr>
              <a:t>) told us the </a:t>
            </a:r>
            <a:r>
              <a:rPr lang="en-US" sz="1200" b="1" i="0" dirty="0">
                <a:solidFill>
                  <a:srgbClr val="F9FAFB"/>
                </a:solidFill>
                <a:effectLst/>
                <a:latin typeface="quote-cjk-patch"/>
              </a:rPr>
              <a:t>username</a:t>
            </a:r>
            <a:br>
              <a:rPr lang="en-US" sz="1200" b="0" i="0" dirty="0">
                <a:solidFill>
                  <a:srgbClr val="F9FAFB"/>
                </a:solidFill>
                <a:effectLst/>
                <a:latin typeface="quote-cjk-patch"/>
              </a:rPr>
            </a:br>
            <a:r>
              <a:rPr lang="en-US" sz="1200" b="0" i="0" dirty="0">
                <a:solidFill>
                  <a:srgbClr val="F9FAFB"/>
                </a:solidFill>
                <a:effectLst/>
                <a:latin typeface="quote-cjk-patch"/>
              </a:rPr>
              <a:t>The second decode (</a:t>
            </a:r>
            <a:r>
              <a:rPr lang="en-US" sz="1200" b="0" i="0" dirty="0">
                <a:solidFill>
                  <a:srgbClr val="F9FAFB"/>
                </a:solidFill>
                <a:effectLst/>
                <a:latin typeface="Menlo"/>
              </a:rPr>
              <a:t>passwd: </a:t>
            </a:r>
            <a:r>
              <a:rPr lang="en-US" sz="1200" b="0" i="0" dirty="0" err="1">
                <a:solidFill>
                  <a:srgbClr val="F9FAFB"/>
                </a:solidFill>
                <a:effectLst/>
                <a:latin typeface="Menlo"/>
              </a:rPr>
              <a:t>kiraisevil</a:t>
            </a:r>
            <a:r>
              <a:rPr lang="en-US" sz="1200" b="0" i="0" dirty="0">
                <a:solidFill>
                  <a:srgbClr val="F9FAFB"/>
                </a:solidFill>
                <a:effectLst/>
                <a:latin typeface="quote-cjk-patch"/>
              </a:rPr>
              <a:t>) tells us the </a:t>
            </a:r>
            <a:r>
              <a:rPr lang="en-US" sz="1200" b="1" i="0" dirty="0">
                <a:solidFill>
                  <a:srgbClr val="F9FAFB"/>
                </a:solidFill>
                <a:effectLst/>
                <a:latin typeface="quote-cjk-patch"/>
              </a:rPr>
              <a:t>password</a:t>
            </a:r>
            <a:br>
              <a:rPr lang="en-US" sz="1200" b="0" i="0" dirty="0">
                <a:solidFill>
                  <a:srgbClr val="F9FAFB"/>
                </a:solidFill>
                <a:effectLst/>
                <a:latin typeface="quote-cjk-patch"/>
              </a:rPr>
            </a:br>
            <a:r>
              <a:rPr lang="en-US" sz="1200" b="0" i="0" dirty="0">
                <a:solidFill>
                  <a:srgbClr val="F9FAFB"/>
                </a:solidFill>
                <a:effectLst/>
                <a:latin typeface="quote-cjk-patch"/>
              </a:rPr>
              <a:t>Together they form valid credentials </a:t>
            </a:r>
            <a:br>
              <a:rPr lang="en-US" sz="1200" b="0" i="0" dirty="0">
                <a:solidFill>
                  <a:srgbClr val="F9FAFB"/>
                </a:solidFill>
                <a:effectLst/>
                <a:latin typeface="quote-cjk-patch"/>
              </a:rPr>
            </a:br>
            <a:endParaRPr lang="en-KE" sz="24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2BD6791-E67F-3202-D3E3-A7EF3F4FE0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1700" y="2516958"/>
            <a:ext cx="6565900" cy="1971722"/>
          </a:xfrm>
          <a:prstGeom prst="rect">
            <a:avLst/>
          </a:prstGeom>
        </p:spPr>
      </p:pic>
    </p:spTree>
    <p:extLst>
      <p:ext uri="{BB962C8B-B14F-4D97-AF65-F5344CB8AC3E}">
        <p14:creationId xmlns:p14="http://schemas.microsoft.com/office/powerpoint/2010/main" val="1291882780"/>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9995EA-C7F9-A6F4-B070-BF0EF02A20E6}"/>
              </a:ext>
            </a:extLst>
          </p:cNvPr>
          <p:cNvSpPr>
            <a:spLocks noGrp="1"/>
          </p:cNvSpPr>
          <p:nvPr>
            <p:ph type="title"/>
          </p:nvPr>
        </p:nvSpPr>
        <p:spPr>
          <a:xfrm>
            <a:off x="696686" y="1122001"/>
            <a:ext cx="3040685" cy="4613999"/>
          </a:xfrm>
        </p:spPr>
        <p:txBody>
          <a:bodyPr anchor="ctr">
            <a:normAutofit/>
          </a:bodyPr>
          <a:lstStyle/>
          <a:p>
            <a:pPr algn="l">
              <a:lnSpc>
                <a:spcPts val="2250"/>
              </a:lnSpc>
              <a:spcBef>
                <a:spcPts val="2400"/>
              </a:spcBef>
              <a:spcAft>
                <a:spcPts val="1200"/>
              </a:spcAft>
              <a:buNone/>
            </a:pPr>
            <a:r>
              <a:rPr lang="en-US" sz="1200" b="1" dirty="0">
                <a:solidFill>
                  <a:srgbClr val="C00000"/>
                </a:solidFill>
                <a:effectLst/>
                <a:latin typeface="quote-cjk-patch"/>
              </a:rPr>
              <a:t>WordPress Admin Access Confirmed!</a:t>
            </a:r>
            <a:br>
              <a:rPr lang="en-US" sz="1200" b="1" dirty="0">
                <a:solidFill>
                  <a:srgbClr val="F9FAFB"/>
                </a:solidFill>
                <a:effectLst/>
                <a:latin typeface="quote-cjk-patch"/>
              </a:rPr>
            </a:br>
            <a:r>
              <a:rPr lang="en-US" sz="1200" b="1" dirty="0">
                <a:solidFill>
                  <a:srgbClr val="F9FAFB"/>
                </a:solidFill>
                <a:effectLst/>
                <a:latin typeface="quote-cjk-patch"/>
              </a:rPr>
              <a:t>Successful Login:</a:t>
            </a:r>
            <a:br>
              <a:rPr lang="en-US" sz="1200" b="1" dirty="0">
                <a:solidFill>
                  <a:srgbClr val="F9FAFB"/>
                </a:solidFill>
                <a:effectLst/>
                <a:latin typeface="quote-cjk-patch"/>
              </a:rPr>
            </a:br>
            <a:r>
              <a:rPr lang="en-US" sz="1200" b="1" i="0" dirty="0">
                <a:solidFill>
                  <a:srgbClr val="FFC000"/>
                </a:solidFill>
                <a:effectLst/>
                <a:latin typeface="quote-cjk-patch"/>
              </a:rPr>
              <a:t>URL</a:t>
            </a:r>
            <a:r>
              <a:rPr lang="en-US" sz="1200" b="0" i="0" dirty="0">
                <a:solidFill>
                  <a:srgbClr val="FFC000"/>
                </a:solidFill>
                <a:effectLst/>
                <a:latin typeface="quote-cjk-patch"/>
              </a:rPr>
              <a:t>: </a:t>
            </a:r>
            <a:r>
              <a:rPr lang="en-US" sz="1200" b="0" i="0" dirty="0">
                <a:solidFill>
                  <a:srgbClr val="FFC000"/>
                </a:solidFill>
                <a:effectLst/>
                <a:latin typeface="Menlo"/>
              </a:rPr>
              <a:t>http://192.168.1.168/wordpress/wp-admin</a:t>
            </a:r>
            <a:br>
              <a:rPr lang="en-US" sz="1200" b="0" i="0" dirty="0">
                <a:solidFill>
                  <a:srgbClr val="F9FAFB"/>
                </a:solidFill>
                <a:effectLst/>
                <a:latin typeface="quote-cjk-patch"/>
              </a:rPr>
            </a:br>
            <a:r>
              <a:rPr lang="en-US" sz="1200" b="1" i="0" dirty="0">
                <a:solidFill>
                  <a:srgbClr val="F9FAFB"/>
                </a:solidFill>
                <a:effectLst/>
                <a:latin typeface="quote-cjk-patch"/>
              </a:rPr>
              <a:t>Username</a:t>
            </a:r>
            <a:r>
              <a:rPr lang="en-US" sz="1200" b="0" i="0" dirty="0">
                <a:solidFill>
                  <a:srgbClr val="F9FAFB"/>
                </a:solidFill>
                <a:effectLst/>
                <a:latin typeface="quote-cjk-patch"/>
              </a:rPr>
              <a:t>: </a:t>
            </a:r>
            <a:r>
              <a:rPr lang="en-US" sz="1200" b="0" i="0" dirty="0" err="1">
                <a:solidFill>
                  <a:srgbClr val="F9FAFB"/>
                </a:solidFill>
                <a:effectLst/>
                <a:latin typeface="Menlo"/>
              </a:rPr>
              <a:t>kira</a:t>
            </a:r>
            <a:br>
              <a:rPr lang="en-US" sz="1200" b="0" i="0" dirty="0">
                <a:solidFill>
                  <a:srgbClr val="F9FAFB"/>
                </a:solidFill>
                <a:effectLst/>
                <a:latin typeface="quote-cjk-patch"/>
              </a:rPr>
            </a:br>
            <a:r>
              <a:rPr lang="en-US" sz="1200" b="1" i="0" dirty="0">
                <a:solidFill>
                  <a:srgbClr val="F9FAFB"/>
                </a:solidFill>
                <a:effectLst/>
                <a:latin typeface="quote-cjk-patch"/>
              </a:rPr>
              <a:t>Password</a:t>
            </a:r>
            <a:r>
              <a:rPr lang="en-US" sz="1200" b="0" i="0" dirty="0">
                <a:solidFill>
                  <a:srgbClr val="F9FAFB"/>
                </a:solidFill>
                <a:effectLst/>
                <a:latin typeface="quote-cjk-patch"/>
              </a:rPr>
              <a:t>: </a:t>
            </a:r>
            <a:r>
              <a:rPr lang="en-US" sz="1200" b="0" i="0" dirty="0" err="1">
                <a:solidFill>
                  <a:srgbClr val="F9FAFB"/>
                </a:solidFill>
                <a:effectLst/>
                <a:latin typeface="Menlo"/>
              </a:rPr>
              <a:t>kiraisevil</a:t>
            </a:r>
            <a:br>
              <a:rPr lang="en-US" sz="1200" b="0" i="0" dirty="0">
                <a:solidFill>
                  <a:srgbClr val="F9FAFB"/>
                </a:solidFill>
                <a:effectLst/>
                <a:latin typeface="quote-cjk-patch"/>
              </a:rPr>
            </a:br>
            <a:r>
              <a:rPr lang="en-US" sz="1200" b="1" dirty="0">
                <a:solidFill>
                  <a:srgbClr val="FFC000"/>
                </a:solidFill>
                <a:effectLst/>
                <a:latin typeface="quote-cjk-patch"/>
              </a:rPr>
              <a:t>What We See in the Dashboard:</a:t>
            </a:r>
            <a:br>
              <a:rPr lang="en-US" sz="1200" b="1" dirty="0">
                <a:solidFill>
                  <a:srgbClr val="F9FAFB"/>
                </a:solidFill>
                <a:effectLst/>
                <a:latin typeface="quote-cjk-patch"/>
              </a:rPr>
            </a:br>
            <a:r>
              <a:rPr lang="en-US" sz="1200" b="0" i="0" dirty="0">
                <a:solidFill>
                  <a:srgbClr val="F9FAFB"/>
                </a:solidFill>
                <a:effectLst/>
                <a:latin typeface="quote-cjk-patch"/>
              </a:rPr>
              <a:t>WordPress version 6.9.1 (needs update)</a:t>
            </a:r>
            <a:br>
              <a:rPr lang="en-US" sz="1200" b="0" i="0" dirty="0">
                <a:solidFill>
                  <a:srgbClr val="F9FAFB"/>
                </a:solidFill>
                <a:effectLst/>
                <a:latin typeface="quote-cjk-patch"/>
              </a:rPr>
            </a:br>
            <a:r>
              <a:rPr lang="en-US" sz="1200" b="1" i="0" dirty="0">
                <a:solidFill>
                  <a:srgbClr val="F9FAFB"/>
                </a:solidFill>
                <a:effectLst/>
                <a:latin typeface="quote-cjk-patch"/>
              </a:rPr>
              <a:t>User found</a:t>
            </a:r>
            <a:r>
              <a:rPr lang="en-US" sz="1200" b="0" i="0" dirty="0">
                <a:solidFill>
                  <a:srgbClr val="F9FAFB"/>
                </a:solidFill>
                <a:effectLst/>
                <a:latin typeface="quote-cjk-patch"/>
              </a:rPr>
              <a:t>: </a:t>
            </a:r>
            <a:r>
              <a:rPr lang="en-US" sz="1200" b="0" i="0" dirty="0" err="1">
                <a:solidFill>
                  <a:srgbClr val="F9FAFB"/>
                </a:solidFill>
                <a:effectLst/>
                <a:latin typeface="Menlo"/>
              </a:rPr>
              <a:t>kira</a:t>
            </a:r>
            <a:r>
              <a:rPr lang="en-US" sz="1200" b="0" i="0" dirty="0">
                <a:solidFill>
                  <a:srgbClr val="F9FAFB"/>
                </a:solidFill>
                <a:effectLst/>
                <a:latin typeface="quote-cjk-patch"/>
              </a:rPr>
              <a:t> (Administrator)</a:t>
            </a:r>
            <a:br>
              <a:rPr lang="en-US" sz="1200" b="0" i="0" dirty="0">
                <a:solidFill>
                  <a:srgbClr val="F9FAFB"/>
                </a:solidFill>
                <a:effectLst/>
                <a:latin typeface="quote-cjk-patch"/>
              </a:rPr>
            </a:br>
            <a:r>
              <a:rPr lang="en-US" sz="1200" b="1" i="0" dirty="0">
                <a:solidFill>
                  <a:srgbClr val="F9FAFB"/>
                </a:solidFill>
                <a:effectLst/>
                <a:latin typeface="quote-cjk-patch"/>
              </a:rPr>
              <a:t>Email</a:t>
            </a:r>
            <a:r>
              <a:rPr lang="en-US" sz="1200" b="0" i="0" dirty="0">
                <a:solidFill>
                  <a:srgbClr val="F9FAFB"/>
                </a:solidFill>
                <a:effectLst/>
                <a:latin typeface="quote-cjk-patch"/>
              </a:rPr>
              <a:t>: </a:t>
            </a:r>
            <a:r>
              <a:rPr lang="en-US" sz="1200" b="0" i="0" dirty="0">
                <a:solidFill>
                  <a:srgbClr val="F9FAFB"/>
                </a:solidFill>
                <a:effectLst/>
                <a:latin typeface="Menlo"/>
              </a:rPr>
              <a:t>kira123@gmail.com</a:t>
            </a:r>
            <a:br>
              <a:rPr lang="en-US" sz="1200" b="0" i="0" dirty="0">
                <a:solidFill>
                  <a:srgbClr val="F9FAFB"/>
                </a:solidFill>
                <a:effectLst/>
                <a:latin typeface="quote-cjk-patch"/>
              </a:rPr>
            </a:br>
            <a:r>
              <a:rPr lang="en-US" sz="1200" b="0" i="0" dirty="0">
                <a:solidFill>
                  <a:srgbClr val="F9FAFB"/>
                </a:solidFill>
                <a:effectLst/>
                <a:latin typeface="quote-cjk-patch"/>
              </a:rPr>
              <a:t>Only one user exists in the system</a:t>
            </a:r>
            <a:br>
              <a:rPr lang="en-US" sz="1200" b="0" i="0" dirty="0">
                <a:solidFill>
                  <a:srgbClr val="F9FAFB"/>
                </a:solidFill>
                <a:effectLst/>
                <a:latin typeface="quote-cjk-patch"/>
              </a:rPr>
            </a:br>
            <a:endParaRPr lang="en-KE" sz="2400" dirty="0">
              <a:solidFill>
                <a:srgbClr val="FFFFFF"/>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A3E08F6-2C7A-E237-9D3F-D44D75107F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1700" y="1979325"/>
            <a:ext cx="6565900" cy="3046987"/>
          </a:xfrm>
          <a:prstGeom prst="rect">
            <a:avLst/>
          </a:prstGeom>
        </p:spPr>
      </p:pic>
    </p:spTree>
    <p:extLst>
      <p:ext uri="{BB962C8B-B14F-4D97-AF65-F5344CB8AC3E}">
        <p14:creationId xmlns:p14="http://schemas.microsoft.com/office/powerpoint/2010/main" val="231863551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7C3AE-7755-6047-7813-1B70242F3890}"/>
              </a:ext>
            </a:extLst>
          </p:cNvPr>
          <p:cNvSpPr>
            <a:spLocks noGrp="1"/>
          </p:cNvSpPr>
          <p:nvPr>
            <p:ph type="title"/>
          </p:nvPr>
        </p:nvSpPr>
        <p:spPr>
          <a:xfrm>
            <a:off x="696686" y="1122001"/>
            <a:ext cx="3040685" cy="4613999"/>
          </a:xfrm>
        </p:spPr>
        <p:txBody>
          <a:bodyPr anchor="ctr">
            <a:normAutofit fontScale="90000"/>
          </a:bodyPr>
          <a:lstStyle/>
          <a:p>
            <a:r>
              <a:rPr lang="en-US" sz="1200" b="1" dirty="0">
                <a:solidFill>
                  <a:srgbClr val="C00000"/>
                </a:solidFill>
                <a:effectLst/>
                <a:latin typeface="quote-cjk-patch"/>
              </a:rPr>
              <a:t>Shell Stabilization &amp; Enumeration </a:t>
            </a:r>
            <a:br>
              <a:rPr lang="en-US" sz="1200" b="1" dirty="0">
                <a:solidFill>
                  <a:srgbClr val="C00000"/>
                </a:solidFill>
                <a:effectLst/>
                <a:latin typeface="quote-cjk-patch"/>
              </a:rPr>
            </a:br>
            <a:br>
              <a:rPr lang="en-US" sz="1200" b="1" dirty="0">
                <a:solidFill>
                  <a:srgbClr val="F9FAFB"/>
                </a:solidFill>
                <a:effectLst/>
                <a:latin typeface="quote-cjk-patch"/>
              </a:rPr>
            </a:br>
            <a:r>
              <a:rPr lang="en-US" sz="1200" dirty="0">
                <a:solidFill>
                  <a:schemeClr val="bg1">
                    <a:lumMod val="85000"/>
                  </a:schemeClr>
                </a:solidFill>
              </a:rPr>
              <a:t>The shell initially ran with www-data privileges, indicating access through the web server environment. The shell was then upgraded to an interactive TTY to allow proper command execution and system interaction. After gaining access, post-exploitation enumeration was performed by checking the current user and searching for SUID binaries, which could potentially be used for privilege escalation.</a:t>
            </a:r>
            <a:br>
              <a:rPr lang="en-US" sz="1200" dirty="0">
                <a:solidFill>
                  <a:schemeClr val="bg1">
                    <a:lumMod val="85000"/>
                  </a:schemeClr>
                </a:solidFill>
              </a:rPr>
            </a:br>
            <a:r>
              <a:rPr lang="en-US" sz="1200" dirty="0">
                <a:solidFill>
                  <a:schemeClr val="bg1">
                    <a:lumMod val="85000"/>
                  </a:schemeClr>
                </a:solidFill>
              </a:rPr>
              <a:t>This confirms that the attack successfully achieved remote system access, demonstrating the security risks associated with vulnerable web applications and improper system configurations.</a:t>
            </a:r>
            <a:br>
              <a:rPr lang="en-US" sz="1200" dirty="0">
                <a:solidFill>
                  <a:schemeClr val="bg1">
                    <a:lumMod val="85000"/>
                  </a:schemeClr>
                </a:solidFill>
              </a:rPr>
            </a:br>
            <a:br>
              <a:rPr lang="en-US" sz="1200" b="1" dirty="0">
                <a:solidFill>
                  <a:schemeClr val="bg1">
                    <a:lumMod val="85000"/>
                  </a:schemeClr>
                </a:solidFill>
                <a:effectLst/>
                <a:latin typeface="quote-cjk-patch"/>
              </a:rPr>
            </a:br>
            <a:endParaRPr lang="en-KE" sz="2400" dirty="0">
              <a:solidFill>
                <a:schemeClr val="bg1">
                  <a:lumMod val="85000"/>
                </a:schemeClr>
              </a:solidFill>
            </a:endParaRP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CABCADC-E6BF-4DB3-57D6-54B25457A0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93771" y="1122001"/>
            <a:ext cx="7206343" cy="4527685"/>
          </a:xfrm>
          <a:prstGeom prst="rect">
            <a:avLst/>
          </a:prstGeom>
        </p:spPr>
      </p:pic>
    </p:spTree>
    <p:extLst>
      <p:ext uri="{BB962C8B-B14F-4D97-AF65-F5344CB8AC3E}">
        <p14:creationId xmlns:p14="http://schemas.microsoft.com/office/powerpoint/2010/main" val="357221282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068059-9097-4F05-BA38-CDD7DBF77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64A015-EDB3-4688-8B77-925530541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1035"/>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404E71-C6ED-48EA-E0D6-B51D4FBA6BD6}"/>
              </a:ext>
            </a:extLst>
          </p:cNvPr>
          <p:cNvSpPr>
            <a:spLocks noGrp="1"/>
          </p:cNvSpPr>
          <p:nvPr>
            <p:ph type="title"/>
          </p:nvPr>
        </p:nvSpPr>
        <p:spPr>
          <a:xfrm>
            <a:off x="913794" y="643466"/>
            <a:ext cx="9600217" cy="4962677"/>
          </a:xfrm>
        </p:spPr>
        <p:txBody>
          <a:bodyPr vert="horz" lIns="91440" tIns="45720" rIns="91440" bIns="45720" rtlCol="0" anchor="b">
            <a:normAutofit fontScale="90000"/>
          </a:bodyPr>
          <a:lstStyle/>
          <a:p>
            <a:pPr algn="l"/>
            <a:r>
              <a:rPr lang="en-US" sz="1400" dirty="0">
                <a:solidFill>
                  <a:srgbClr val="C00000"/>
                </a:solidFill>
                <a:latin typeface="Bell MT" panose="02020503060305020303" pitchFamily="18" charset="0"/>
              </a:rPr>
              <a:t>Conclusion &amp; Key Takeaways</a:t>
            </a:r>
            <a:br>
              <a:rPr lang="en-US" sz="1400" dirty="0">
                <a:latin typeface="Bell MT" panose="02020503060305020303" pitchFamily="18" charset="0"/>
              </a:rPr>
            </a:br>
            <a:br>
              <a:rPr lang="en-US" sz="1400" dirty="0">
                <a:latin typeface="Bell MT" panose="02020503060305020303" pitchFamily="18" charset="0"/>
              </a:rPr>
            </a:br>
            <a:r>
              <a:rPr lang="en-US" sz="1400" dirty="0" err="1">
                <a:latin typeface="Bell MT" panose="02020503060305020303" pitchFamily="18" charset="0"/>
              </a:rPr>
              <a:t>DeathNote</a:t>
            </a:r>
            <a:r>
              <a:rPr lang="en-US" sz="1400" dirty="0">
                <a:latin typeface="Bell MT" panose="02020503060305020303" pitchFamily="18" charset="0"/>
              </a:rPr>
              <a:t> CTF - Complete Walkthrough</a:t>
            </a:r>
            <a:br>
              <a:rPr lang="en-US" sz="1400" dirty="0">
                <a:latin typeface="Bell MT" panose="02020503060305020303" pitchFamily="18" charset="0"/>
              </a:rPr>
            </a:br>
            <a:br>
              <a:rPr lang="en-US" sz="1400" dirty="0">
                <a:latin typeface="Bell MT" panose="02020503060305020303" pitchFamily="18" charset="0"/>
              </a:rPr>
            </a:br>
            <a:r>
              <a:rPr lang="en-US" sz="1400" dirty="0">
                <a:latin typeface="Bell MT" panose="02020503060305020303" pitchFamily="18" charset="0"/>
              </a:rPr>
              <a:t>Recon :                                     Nmap, directory busting, robots.txt analysis </a:t>
            </a:r>
            <a:br>
              <a:rPr lang="en-US" sz="1400" dirty="0">
                <a:latin typeface="Bell MT" panose="02020503060305020303" pitchFamily="18" charset="0"/>
              </a:rPr>
            </a:br>
            <a:r>
              <a:rPr lang="en-US" sz="1400" dirty="0">
                <a:latin typeface="Bell MT" panose="02020503060305020303" pitchFamily="18" charset="0"/>
              </a:rPr>
              <a:t>Web Enum:                              WordPress discovery, image steganography </a:t>
            </a:r>
            <a:br>
              <a:rPr lang="en-US" sz="1400" dirty="0">
                <a:latin typeface="Bell MT" panose="02020503060305020303" pitchFamily="18" charset="0"/>
              </a:rPr>
            </a:br>
            <a:r>
              <a:rPr lang="en-US" sz="1400" dirty="0">
                <a:latin typeface="Bell MT" panose="02020503060305020303" pitchFamily="18" charset="0"/>
              </a:rPr>
              <a:t>Credentials:                         `</a:t>
            </a:r>
            <a:r>
              <a:rPr lang="en-US" sz="1400" dirty="0" err="1">
                <a:latin typeface="Bell MT" panose="02020503060305020303" pitchFamily="18" charset="0"/>
              </a:rPr>
              <a:t>kira</a:t>
            </a:r>
            <a:r>
              <a:rPr lang="en-US" sz="1400" dirty="0">
                <a:latin typeface="Bell MT" panose="02020503060305020303" pitchFamily="18" charset="0"/>
              </a:rPr>
              <a:t>: </a:t>
            </a:r>
            <a:r>
              <a:rPr lang="en-US" sz="1400" dirty="0" err="1">
                <a:latin typeface="Bell MT" panose="02020503060305020303" pitchFamily="18" charset="0"/>
              </a:rPr>
              <a:t>kiraisevil</a:t>
            </a:r>
            <a:r>
              <a:rPr lang="en-US" sz="1400" dirty="0">
                <a:latin typeface="Bell MT" panose="02020503060305020303" pitchFamily="18" charset="0"/>
              </a:rPr>
              <a:t>` from hex/base64 decoding </a:t>
            </a:r>
            <a:br>
              <a:rPr lang="en-US" sz="1400" dirty="0">
                <a:latin typeface="Bell MT" panose="02020503060305020303" pitchFamily="18" charset="0"/>
              </a:rPr>
            </a:br>
            <a:r>
              <a:rPr lang="en-US" sz="1400" dirty="0">
                <a:latin typeface="Bell MT" panose="02020503060305020303" pitchFamily="18" charset="0"/>
              </a:rPr>
              <a:t>Initial Access:                       WordPress admin → Reverse shell </a:t>
            </a:r>
            <a:br>
              <a:rPr lang="en-US" sz="1400" dirty="0">
                <a:latin typeface="Bell MT" panose="02020503060305020303" pitchFamily="18" charset="0"/>
              </a:rPr>
            </a:br>
            <a:r>
              <a:rPr lang="en-US" sz="1400" dirty="0">
                <a:latin typeface="Bell MT" panose="02020503060305020303" pitchFamily="18" charset="0"/>
              </a:rPr>
              <a:t>Lateral Movement:            wp-</a:t>
            </a:r>
            <a:r>
              <a:rPr lang="en-US" sz="1400" dirty="0" err="1">
                <a:latin typeface="Bell MT" panose="02020503060305020303" pitchFamily="18" charset="0"/>
              </a:rPr>
              <a:t>config.php</a:t>
            </a:r>
            <a:r>
              <a:rPr lang="en-US" sz="1400" dirty="0">
                <a:latin typeface="Bell MT" panose="02020503060305020303" pitchFamily="18" charset="0"/>
              </a:rPr>
              <a:t> exposed `l:death4me` </a:t>
            </a:r>
            <a:br>
              <a:rPr lang="en-US" sz="1400" dirty="0">
                <a:latin typeface="Bell MT" panose="02020503060305020303" pitchFamily="18" charset="0"/>
              </a:rPr>
            </a:br>
            <a:r>
              <a:rPr lang="en-US" sz="1400" dirty="0">
                <a:latin typeface="Bell MT" panose="02020503060305020303" pitchFamily="18" charset="0"/>
              </a:rPr>
              <a:t>Priv Esc:                                      SUID binaries, </a:t>
            </a:r>
            <a:r>
              <a:rPr lang="en-US" sz="1400" dirty="0" err="1">
                <a:latin typeface="Bell MT" panose="02020503060305020303" pitchFamily="18" charset="0"/>
              </a:rPr>
              <a:t>sudo</a:t>
            </a:r>
            <a:r>
              <a:rPr lang="en-US" sz="1400" dirty="0">
                <a:latin typeface="Bell MT" panose="02020503060305020303" pitchFamily="18" charset="0"/>
              </a:rPr>
              <a:t> misconfigurations </a:t>
            </a:r>
            <a:br>
              <a:rPr lang="en-US" sz="1400" dirty="0">
                <a:latin typeface="Bell MT" panose="02020503060305020303" pitchFamily="18" charset="0"/>
              </a:rPr>
            </a:br>
            <a:r>
              <a:rPr lang="en-US" sz="1400" dirty="0">
                <a:latin typeface="Bell MT" panose="02020503060305020303" pitchFamily="18" charset="0"/>
              </a:rPr>
              <a:t>Root Access:                             Final flag captured </a:t>
            </a:r>
            <a:br>
              <a:rPr lang="en-US" sz="1400" dirty="0">
                <a:latin typeface="Bell MT" panose="02020503060305020303" pitchFamily="18" charset="0"/>
              </a:rPr>
            </a:br>
            <a:br>
              <a:rPr lang="en-US" sz="1400" dirty="0">
                <a:latin typeface="Bell MT" panose="02020503060305020303" pitchFamily="18" charset="0"/>
              </a:rPr>
            </a:br>
            <a:r>
              <a:rPr lang="en-US" sz="1400" dirty="0">
                <a:latin typeface="Bell MT" panose="02020503060305020303" pitchFamily="18" charset="0"/>
              </a:rPr>
              <a:t>       </a:t>
            </a:r>
            <a:r>
              <a:rPr lang="en-US" sz="1400" dirty="0">
                <a:solidFill>
                  <a:srgbClr val="C00000"/>
                </a:solidFill>
                <a:latin typeface="Bell MT" panose="02020503060305020303" pitchFamily="18" charset="0"/>
              </a:rPr>
              <a:t>Key Skills Demonstrated</a:t>
            </a:r>
            <a:r>
              <a:rPr lang="en-US" sz="1400" dirty="0">
                <a:latin typeface="Bell MT" panose="02020503060305020303" pitchFamily="18" charset="0"/>
              </a:rPr>
              <a:t>:</a:t>
            </a:r>
            <a:br>
              <a:rPr lang="en-US" sz="1400" dirty="0">
                <a:latin typeface="Bell MT" panose="02020503060305020303" pitchFamily="18" charset="0"/>
              </a:rPr>
            </a:br>
            <a:br>
              <a:rPr lang="en-US" sz="1400" dirty="0">
                <a:latin typeface="Bell MT" panose="02020503060305020303" pitchFamily="18" charset="0"/>
              </a:rPr>
            </a:br>
            <a:r>
              <a:rPr lang="en-US" sz="1400" dirty="0">
                <a:latin typeface="Bell MT" panose="02020503060305020303" pitchFamily="18" charset="0"/>
              </a:rPr>
              <a:t>- Information disclosure exploitation</a:t>
            </a:r>
            <a:br>
              <a:rPr lang="en-US" sz="1400" dirty="0">
                <a:latin typeface="Bell MT" panose="02020503060305020303" pitchFamily="18" charset="0"/>
              </a:rPr>
            </a:br>
            <a:r>
              <a:rPr lang="en-US" sz="1400" dirty="0">
                <a:latin typeface="Bell MT" panose="02020503060305020303" pitchFamily="18" charset="0"/>
              </a:rPr>
              <a:t>- Credential reuse vulnerability</a:t>
            </a:r>
            <a:br>
              <a:rPr lang="en-US" sz="1400" dirty="0">
                <a:latin typeface="Bell MT" panose="02020503060305020303" pitchFamily="18" charset="0"/>
              </a:rPr>
            </a:br>
            <a:r>
              <a:rPr lang="en-US" sz="1400" dirty="0">
                <a:latin typeface="Bell MT" panose="02020503060305020303" pitchFamily="18" charset="0"/>
              </a:rPr>
              <a:t>- WordPress theme editor RCE</a:t>
            </a:r>
            <a:br>
              <a:rPr lang="en-US" sz="1400" dirty="0">
                <a:latin typeface="Bell MT" panose="02020503060305020303" pitchFamily="18" charset="0"/>
              </a:rPr>
            </a:br>
            <a:r>
              <a:rPr lang="en-US" sz="1400" dirty="0">
                <a:latin typeface="Bell MT" panose="02020503060305020303" pitchFamily="18" charset="0"/>
              </a:rPr>
              <a:t>- Linux privilege escalation techniques</a:t>
            </a:r>
            <a:br>
              <a:rPr lang="en-US" sz="1400" dirty="0">
                <a:latin typeface="Bell MT" panose="02020503060305020303" pitchFamily="18" charset="0"/>
              </a:rPr>
            </a:br>
            <a:r>
              <a:rPr lang="en-US" sz="1400" dirty="0">
                <a:latin typeface="Bell MT" panose="02020503060305020303" pitchFamily="18" charset="0"/>
              </a:rPr>
              <a:t>- Base64/hex decoding for hidden data</a:t>
            </a:r>
            <a:br>
              <a:rPr lang="en-US" sz="1400" dirty="0">
                <a:latin typeface="Bell MT" panose="02020503060305020303" pitchFamily="18" charset="0"/>
              </a:rPr>
            </a:br>
            <a:br>
              <a:rPr lang="en-US" sz="1400" dirty="0">
                <a:latin typeface="Bell MT" panose="02020503060305020303" pitchFamily="18" charset="0"/>
              </a:rPr>
            </a:br>
            <a:br>
              <a:rPr lang="en-US" sz="1400" dirty="0">
                <a:latin typeface="Bell MT" panose="02020503060305020303" pitchFamily="18" charset="0"/>
              </a:rPr>
            </a:br>
            <a:r>
              <a:rPr lang="en-US" sz="1400" dirty="0">
                <a:solidFill>
                  <a:srgbClr val="C00000"/>
                </a:solidFill>
                <a:latin typeface="Bell MT" panose="02020503060305020303" pitchFamily="18" charset="0"/>
              </a:rPr>
              <a:t>Final Message:</a:t>
            </a:r>
            <a:br>
              <a:rPr lang="en-US" sz="1400" dirty="0">
                <a:latin typeface="Bell MT" panose="02020503060305020303" pitchFamily="18" charset="0"/>
              </a:rPr>
            </a:br>
            <a:r>
              <a:rPr lang="en-US" sz="1400" dirty="0">
                <a:latin typeface="Bell MT" panose="02020503060305020303" pitchFamily="18" charset="0"/>
              </a:rPr>
              <a:t>"In the world of CTF, like in </a:t>
            </a:r>
            <a:r>
              <a:rPr lang="en-US" sz="1400" dirty="0" err="1">
                <a:latin typeface="Bell MT" panose="02020503060305020303" pitchFamily="18" charset="0"/>
              </a:rPr>
              <a:t>DeathNote</a:t>
            </a:r>
            <a:r>
              <a:rPr lang="en-US" sz="1400" dirty="0">
                <a:latin typeface="Bell MT" panose="02020503060305020303" pitchFamily="18" charset="0"/>
              </a:rPr>
              <a:t>, the smallest clue can lead to the ultimate victory - whether you're L or Kira."</a:t>
            </a:r>
            <a:br>
              <a:rPr lang="en-US" sz="1400" dirty="0">
                <a:latin typeface="Bell MT" panose="02020503060305020303" pitchFamily="18" charset="0"/>
              </a:rPr>
            </a:br>
            <a:br>
              <a:rPr lang="en-US" sz="1400" dirty="0">
                <a:latin typeface="Bell MT" panose="02020503060305020303" pitchFamily="18" charset="0"/>
              </a:rPr>
            </a:br>
            <a:r>
              <a:rPr lang="en-US" sz="1400" dirty="0">
                <a:latin typeface="Bell MT" panose="02020503060305020303" pitchFamily="18" charset="0"/>
              </a:rPr>
              <a:t>Thank You!</a:t>
            </a:r>
          </a:p>
        </p:txBody>
      </p:sp>
    </p:spTree>
    <p:extLst>
      <p:ext uri="{BB962C8B-B14F-4D97-AF65-F5344CB8AC3E}">
        <p14:creationId xmlns:p14="http://schemas.microsoft.com/office/powerpoint/2010/main" val="31192425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268</TotalTime>
  <Words>1359</Words>
  <Application>Microsoft Office PowerPoint</Application>
  <PresentationFormat>Widescreen</PresentationFormat>
  <Paragraphs>17</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Algerian</vt:lpstr>
      <vt:lpstr>Arial</vt:lpstr>
      <vt:lpstr>Bell MT</vt:lpstr>
      <vt:lpstr>Bookman Old Style</vt:lpstr>
      <vt:lpstr>Menlo</vt:lpstr>
      <vt:lpstr>quote-cjk-patch</vt:lpstr>
      <vt:lpstr>Rockwell</vt:lpstr>
      <vt:lpstr>Damask</vt:lpstr>
      <vt:lpstr>Deathnote VM - Penetration Testing Report tools :kali linux,virtual box/vmware ryan brian</vt:lpstr>
      <vt:lpstr>Machine Information Name: Deathnote: 1 Platform: VulnHub Difficulty: Easy Objective: Get root access and capture flags </vt:lpstr>
      <vt:lpstr>Methodology Overview Reconnaissance - Network scanning &amp; service enumeration Web Application Analysis - Directory brute-forcing, hidden files Configuration File Analysis Privilege Escalation - Lateral movement &amp; sudo abuse Flag Capture - Root access achieved </vt:lpstr>
      <vt:lpstr> Network Discovery Findings: Port 22/tcp - OpenSSH 7.9p1 Port 80/tcp - Apache httpd 2.4.38 MAC Address: Oracle VirtualBox NIC </vt:lpstr>
      <vt:lpstr>Web Enumeration - Directory Busting gobuster dir -u http://192.168.1.168 -w /usr/share/wordlists/dirb/common.txt -x txt,php,html replace the ip with your own from nmap scan Discovered Directories: /wordpress - WordPress CMS /manual - Apache manual /robots.txt - Found important clues /server-status </vt:lpstr>
      <vt:lpstr>Hidden Clues - Image Analysis wget http://192.168.1.168/important.jpg strings important.jpg hidden message found: i am Soichiro Yagami, light's father i have a doubt if I is true about the assumption that Light is kira i can only help you by giving something important login username : user.txt i don't know the password. find it by yourself but i think it is in the hint section of site</vt:lpstr>
      <vt:lpstr>WordPress Enumeration in the browser search: http://192.168.1.168/wordpress/ WordPress Post Discovery: Author: Light Yagami Content: "I am light yagami, son of Soichiro Yagami..." Important Line: "my fav line is iamjustice3"  </vt:lpstr>
      <vt:lpstr>Critical Discovery in wp-config.php The wp-config.php file reveals hardcoded database credentials that were reused for SSH access: Credentials Found: Database Username: l Database Password: death4me This is a classic credential reuse vulnerability - the same password used for the WordPress database was also used for SSH login. This explains how we later accessed the system via SSH: ssh l@192.168.1.168 Password: death4me</vt:lpstr>
      <vt:lpstr> User Flag Acquisition First Screenshot Analysis: You successfully SSH'd as user l using the credentials discovered in wp-config.php: Username: l Password: death4me Second Screenshot - Getting user.txt: from slide 6 when I checked the content of important.jpg we are told username is in the file user.txt which we can see when we list everything under ‘l’ . Key Observation: The file user.txt is owned by root but readable by user l .</vt:lpstr>
      <vt:lpstr>Reveling the content of user.txt and decoding.    In the first screenshot I decoded the user.txt to see its content. This revealed the user flag.  With me I used self developed python program to decode the flag.  The massage displayed is :"i think u got the shell, but you won't be able to kill me –kira    we were informed before that the user.txt had a user yet no password so from that the user here is ‘kira’.</vt:lpstr>
      <vt:lpstr>Lateral movement from ”l” to “kira” using private key for “kira” found under “l” I  discovered that user l had access to kira's SSH private key in there .ssh directory:  l@deathnote:~$ ls -la /home/l/.ssh/ -rw-r--r-- 1 l l 1823 Jul 19 2021 id_rsa          # Private key -rw-r--r-- 1 l l  393 Jul 19 2021 id_rsa.pub      # Public key -rw-r--r-- 1 l l  222 Sep 4 2021 known hosts  This allowed l to SSH into kira's account without a password  The key was likely placed there for privilege escalation or persistence the ssh command  used to log into  kira:  ssh -i ~/.ssh/id_rsa kira@127.0.0.1  Key Takeaways for CTF:  Always check for SSH keys in user directories  Private keys (id_rsa) allow passwordless login to corresponding accounts  This is a lateral movement technique - moving from l to kira  The keys might be a rabbit hole or a steppingstone to further escalation</vt:lpstr>
      <vt:lpstr>Kira's Message Decoded This is a hint from Kira pointing to two important locations: /opt - Related to "L" (the detective) /var - Related to "Misa" (Misa Amane, the second Kira) Suggests there might be important files in /var related to Misa CTF Significance: 1) These are likely directories containing the next clues or privilege escalation vectors 2) "protect" might mean these directories have special permissions or contain sensitive data 3) This is a directory traversal hint - check both locations thoroughly </vt:lpstr>
      <vt:lpstr>Checking the files related to l (/opt)  Checking under /opt related to l the detective I’m able to find  fake-notebook and case.wav in the second screenshot I tried to cat the case.wav and found the hex data and this one raised eyebrows. </vt:lpstr>
      <vt:lpstr>What This Means: The first decode in slide 10 ( kira) told us the username The second decode (passwd: kiraisevil) tells us the password Together they form valid credentials  </vt:lpstr>
      <vt:lpstr>WordPress Admin Access Confirmed! Successful Login: URL: http://192.168.1.168/wordpress/wp-admin Username: kira Password: kiraisevil What We See in the Dashboard: WordPress version 6.9.1 (needs update) User found: kira (Administrator) Email: kira123@gmail.com Only one user exists in the system </vt:lpstr>
      <vt:lpstr>Shell Stabilization &amp; Enumeration   The shell initially ran with www-data privileges, indicating access through the web server environment. The shell was then upgraded to an interactive TTY to allow proper command execution and system interaction. After gaining access, post-exploitation enumeration was performed by checking the current user and searching for SUID binaries, which could potentially be used for privilege escalation. This confirms that the attack successfully achieved remote system access, demonstrating the security risks associated with vulnerable web applications and improper system configurations.  </vt:lpstr>
      <vt:lpstr>Conclusion &amp; Key Takeaways  DeathNote CTF - Complete Walkthrough  Recon :                                     Nmap, directory busting, robots.txt analysis  Web Enum:                              WordPress discovery, image steganography  Credentials:                         `kira: kiraisevil` from hex/base64 decoding  Initial Access:                       WordPress admin → Reverse shell  Lateral Movement:            wp-config.php exposed `l:death4me`  Priv Esc:                                      SUID binaries, sudo misconfigurations  Root Access:                             Final flag captured          Key Skills Demonstrated:  - Information disclosure exploitation - Credential reuse vulnerability - WordPress theme editor RCE - Linux privilege escalation techniques - Base64/hex decoding for hidden data   Final Message: "In the world of CTF, like in DeathNote, the smallest clue can lead to the ultimate victory - whether you're L or Kira."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brian</dc:creator>
  <cp:lastModifiedBy>ryan brian</cp:lastModifiedBy>
  <cp:revision>2</cp:revision>
  <dcterms:created xsi:type="dcterms:W3CDTF">2026-03-15T08:46:27Z</dcterms:created>
  <dcterms:modified xsi:type="dcterms:W3CDTF">2026-03-16T09:22:00Z</dcterms:modified>
</cp:coreProperties>
</file>