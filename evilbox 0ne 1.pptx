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02" r:id="rId2"/>
    <p:sldMasterId id="2147483690" r:id="rId3"/>
  </p:sldMasterIdLst>
  <p:sldIdLst>
    <p:sldId id="269" r:id="rId4"/>
    <p:sldId id="258" r:id="rId5"/>
    <p:sldId id="271" r:id="rId6"/>
    <p:sldId id="267" r:id="rId7"/>
    <p:sldId id="259" r:id="rId8"/>
    <p:sldId id="261" r:id="rId9"/>
    <p:sldId id="262" r:id="rId10"/>
    <p:sldId id="263" r:id="rId11"/>
    <p:sldId id="264" r:id="rId12"/>
    <p:sldId id="265" r:id="rId13"/>
    <p:sldId id="266" r:id="rId14"/>
    <p:sldId id="270" r:id="rId15"/>
    <p:sldId id="273" r:id="rId16"/>
    <p:sldId id="272"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C6A88522-1ACD-4890-A3FB-381CC80B46D9}" type="datetimeFigureOut">
              <a:rPr lang="en-KE" smtClean="0"/>
              <a:t>02/05/2026</a:t>
            </a:fld>
            <a:endParaRPr lang="en-KE"/>
          </a:p>
        </p:txBody>
      </p:sp>
      <p:sp>
        <p:nvSpPr>
          <p:cNvPr id="5" name="Footer Placeholder 4"/>
          <p:cNvSpPr>
            <a:spLocks noGrp="1"/>
          </p:cNvSpPr>
          <p:nvPr>
            <p:ph type="ftr" sz="quarter" idx="11"/>
          </p:nvPr>
        </p:nvSpPr>
        <p:spPr>
          <a:xfrm>
            <a:off x="3962399" y="5870575"/>
            <a:ext cx="4893958" cy="377825"/>
          </a:xfrm>
        </p:spPr>
        <p:txBody>
          <a:bodyPr/>
          <a:lstStyle/>
          <a:p>
            <a:endParaRPr lang="en-KE"/>
          </a:p>
        </p:txBody>
      </p:sp>
      <p:sp>
        <p:nvSpPr>
          <p:cNvPr id="6" name="Slide Number Placeholder 5"/>
          <p:cNvSpPr>
            <a:spLocks noGrp="1"/>
          </p:cNvSpPr>
          <p:nvPr>
            <p:ph type="sldNum" sz="quarter" idx="12"/>
          </p:nvPr>
        </p:nvSpPr>
        <p:spPr>
          <a:xfrm>
            <a:off x="10608958" y="5870575"/>
            <a:ext cx="551167" cy="377825"/>
          </a:xfrm>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12921280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A88522-1ACD-4890-A3FB-381CC80B46D9}" type="datetimeFigureOut">
              <a:rPr lang="en-KE" smtClean="0"/>
              <a:t>02/05/2026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3978132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A88522-1ACD-4890-A3FB-381CC80B46D9}" type="datetimeFigureOut">
              <a:rPr lang="en-KE" smtClean="0"/>
              <a:t>02/05/2026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4251628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A88522-1ACD-4890-A3FB-381CC80B46D9}" type="datetimeFigureOut">
              <a:rPr lang="en-KE" smtClean="0"/>
              <a:t>02/05/2026</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3761728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A88522-1ACD-4890-A3FB-381CC80B46D9}" type="datetimeFigureOut">
              <a:rPr lang="en-KE" smtClean="0"/>
              <a:t>02/05/2026</a:t>
            </a:fld>
            <a:endParaRPr lang="en-KE"/>
          </a:p>
        </p:txBody>
      </p:sp>
      <p:sp>
        <p:nvSpPr>
          <p:cNvPr id="8" name="Footer Placeholder 7"/>
          <p:cNvSpPr>
            <a:spLocks noGrp="1"/>
          </p:cNvSpPr>
          <p:nvPr>
            <p:ph type="ftr" sz="quarter" idx="11"/>
          </p:nvPr>
        </p:nvSpPr>
        <p:spPr/>
        <p:txBody>
          <a:bodyPr/>
          <a:lstStyle/>
          <a:p>
            <a:endParaRPr lang="en-KE"/>
          </a:p>
        </p:txBody>
      </p:sp>
      <p:sp>
        <p:nvSpPr>
          <p:cNvPr id="9" name="Slide Number Placeholder 8"/>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598872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A88522-1ACD-4890-A3FB-381CC80B46D9}" type="datetimeFigureOut">
              <a:rPr lang="en-KE" smtClean="0"/>
              <a:t>02/05/2026</a:t>
            </a:fld>
            <a:endParaRPr lang="en-KE"/>
          </a:p>
        </p:txBody>
      </p:sp>
      <p:sp>
        <p:nvSpPr>
          <p:cNvPr id="4" name="Footer Placeholder 3"/>
          <p:cNvSpPr>
            <a:spLocks noGrp="1"/>
          </p:cNvSpPr>
          <p:nvPr>
            <p:ph type="ftr" sz="quarter" idx="11"/>
          </p:nvPr>
        </p:nvSpPr>
        <p:spPr/>
        <p:txBody>
          <a:bodyPr/>
          <a:lstStyle/>
          <a:p>
            <a:endParaRPr lang="en-KE"/>
          </a:p>
        </p:txBody>
      </p:sp>
      <p:sp>
        <p:nvSpPr>
          <p:cNvPr id="5" name="Slide Number Placeholder 4"/>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3283845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C6A88522-1ACD-4890-A3FB-381CC80B46D9}" type="datetimeFigureOut">
              <a:rPr lang="en-KE" smtClean="0"/>
              <a:t>02/05/2026</a:t>
            </a:fld>
            <a:endParaRPr lang="en-KE"/>
          </a:p>
        </p:txBody>
      </p:sp>
      <p:sp>
        <p:nvSpPr>
          <p:cNvPr id="3" name="Footer Placeholder 2"/>
          <p:cNvSpPr>
            <a:spLocks noGrp="1"/>
          </p:cNvSpPr>
          <p:nvPr>
            <p:ph type="ftr" sz="quarter" idx="11"/>
          </p:nvPr>
        </p:nvSpPr>
        <p:spPr/>
        <p:txBody>
          <a:bodyPr/>
          <a:lstStyle/>
          <a:p>
            <a:endParaRPr lang="en-KE"/>
          </a:p>
        </p:txBody>
      </p:sp>
      <p:sp>
        <p:nvSpPr>
          <p:cNvPr id="4" name="Slide Number Placeholder 3"/>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791940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A88522-1ACD-4890-A3FB-381CC80B46D9}" type="datetimeFigureOut">
              <a:rPr lang="en-KE" smtClean="0"/>
              <a:t>02/05/2026</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3244903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A88522-1ACD-4890-A3FB-381CC80B46D9}" type="datetimeFigureOut">
              <a:rPr lang="en-KE" smtClean="0"/>
              <a:t>02/05/2026</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2301446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A88522-1ACD-4890-A3FB-381CC80B46D9}" type="datetimeFigureOut">
              <a:rPr lang="en-KE" smtClean="0"/>
              <a:t>02/05/2026</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3109657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A88522-1ACD-4890-A3FB-381CC80B46D9}" type="datetimeFigureOut">
              <a:rPr lang="en-KE" smtClean="0"/>
              <a:t>02/05/2026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1391825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A88522-1ACD-4890-A3FB-381CC80B46D9}" type="datetimeFigureOut">
              <a:rPr lang="en-KE" smtClean="0"/>
              <a:t>02/05/2026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1382761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A88522-1ACD-4890-A3FB-381CC80B46D9}" type="datetimeFigureOut">
              <a:rPr lang="en-KE" smtClean="0"/>
              <a:t>02/05/2026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2049651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A88522-1ACD-4890-A3FB-381CC80B46D9}" type="datetimeFigureOut">
              <a:rPr lang="en-KE" smtClean="0"/>
              <a:t>02/05/2026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15660410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A88522-1ACD-4890-A3FB-381CC80B46D9}" type="datetimeFigureOut">
              <a:rPr lang="en-KE" smtClean="0"/>
              <a:t>02/05/2026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3924384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A88522-1ACD-4890-A3FB-381CC80B46D9}" type="datetimeFigureOut">
              <a:rPr lang="en-KE" smtClean="0"/>
              <a:t>02/05/2026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EAB83594-A788-4EBB-BED9-8DBB3CADC6C2}" type="slidenum">
              <a:rPr lang="en-KE" smtClean="0"/>
              <a:t>‹#›</a:t>
            </a:fld>
            <a:endParaRPr lang="en-KE"/>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3273406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A88522-1ACD-4890-A3FB-381CC80B46D9}" type="datetimeFigureOut">
              <a:rPr lang="en-KE" smtClean="0"/>
              <a:t>02/05/2026</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EAB83594-A788-4EBB-BED9-8DBB3CADC6C2}" type="slidenum">
              <a:rPr lang="en-KE" smtClean="0"/>
              <a:t>‹#›</a:t>
            </a:fld>
            <a:endParaRPr lang="en-KE"/>
          </a:p>
        </p:txBody>
      </p:sp>
    </p:spTree>
    <p:extLst>
      <p:ext uri="{BB962C8B-B14F-4D97-AF65-F5344CB8AC3E}">
        <p14:creationId xmlns:p14="http://schemas.microsoft.com/office/powerpoint/2010/main" val="7540802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0A437-6805-89EC-08F2-AB1F2153AF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E"/>
          </a:p>
        </p:txBody>
      </p:sp>
      <p:sp>
        <p:nvSpPr>
          <p:cNvPr id="3" name="Subtitle 2">
            <a:extLst>
              <a:ext uri="{FF2B5EF4-FFF2-40B4-BE49-F238E27FC236}">
                <a16:creationId xmlns:a16="http://schemas.microsoft.com/office/drawing/2014/main" id="{3B43AA53-DB25-7E08-1CC8-3710D2E3AB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640D9B7A-ECF1-EC25-A6B5-552394A9FC5C}"/>
              </a:ext>
            </a:extLst>
          </p:cNvPr>
          <p:cNvSpPr>
            <a:spLocks noGrp="1"/>
          </p:cNvSpPr>
          <p:nvPr>
            <p:ph type="dt" sz="half" idx="10"/>
          </p:nvPr>
        </p:nvSpPr>
        <p:spPr/>
        <p:txBody>
          <a:bodyPr/>
          <a:lstStyle/>
          <a:p>
            <a:fld id="{13B81843-8E18-4799-80BD-5968D37C6D34}" type="datetimeFigureOut">
              <a:rPr lang="en-KE" smtClean="0"/>
              <a:t>02/05/2026</a:t>
            </a:fld>
            <a:endParaRPr lang="en-KE"/>
          </a:p>
        </p:txBody>
      </p:sp>
      <p:sp>
        <p:nvSpPr>
          <p:cNvPr id="5" name="Footer Placeholder 4">
            <a:extLst>
              <a:ext uri="{FF2B5EF4-FFF2-40B4-BE49-F238E27FC236}">
                <a16:creationId xmlns:a16="http://schemas.microsoft.com/office/drawing/2014/main" id="{91AACBD9-2DFD-AD2E-471B-8DC0AD9AC040}"/>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958AA581-5E47-5A38-B872-F402F5C5428C}"/>
              </a:ext>
            </a:extLst>
          </p:cNvPr>
          <p:cNvSpPr>
            <a:spLocks noGrp="1"/>
          </p:cNvSpPr>
          <p:nvPr>
            <p:ph type="sldNum" sz="quarter" idx="12"/>
          </p:nvPr>
        </p:nvSpPr>
        <p:spPr/>
        <p:txBody>
          <a:bodyPr/>
          <a:lstStyle/>
          <a:p>
            <a:fld id="{29179D66-7E28-4CB9-91D2-20595E76ACCA}" type="slidenum">
              <a:rPr lang="en-KE" smtClean="0"/>
              <a:t>‹#›</a:t>
            </a:fld>
            <a:endParaRPr lang="en-KE"/>
          </a:p>
        </p:txBody>
      </p:sp>
    </p:spTree>
    <p:extLst>
      <p:ext uri="{BB962C8B-B14F-4D97-AF65-F5344CB8AC3E}">
        <p14:creationId xmlns:p14="http://schemas.microsoft.com/office/powerpoint/2010/main" val="33210965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5945E-A6E1-5049-5EDB-F9C593B26936}"/>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85B409D2-406B-A0F7-471C-944F987CF1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4B799CAE-DA42-02D8-A0FB-8F373F912DF3}"/>
              </a:ext>
            </a:extLst>
          </p:cNvPr>
          <p:cNvSpPr>
            <a:spLocks noGrp="1"/>
          </p:cNvSpPr>
          <p:nvPr>
            <p:ph type="dt" sz="half" idx="10"/>
          </p:nvPr>
        </p:nvSpPr>
        <p:spPr/>
        <p:txBody>
          <a:bodyPr/>
          <a:lstStyle/>
          <a:p>
            <a:fld id="{13B81843-8E18-4799-80BD-5968D37C6D34}" type="datetimeFigureOut">
              <a:rPr lang="en-KE" smtClean="0"/>
              <a:t>02/05/2026</a:t>
            </a:fld>
            <a:endParaRPr lang="en-KE"/>
          </a:p>
        </p:txBody>
      </p:sp>
      <p:sp>
        <p:nvSpPr>
          <p:cNvPr id="5" name="Footer Placeholder 4">
            <a:extLst>
              <a:ext uri="{FF2B5EF4-FFF2-40B4-BE49-F238E27FC236}">
                <a16:creationId xmlns:a16="http://schemas.microsoft.com/office/drawing/2014/main" id="{B9A46642-EC04-8272-5983-4687E497EF97}"/>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5DC09B97-19AF-8A35-55B7-63F517C3AE62}"/>
              </a:ext>
            </a:extLst>
          </p:cNvPr>
          <p:cNvSpPr>
            <a:spLocks noGrp="1"/>
          </p:cNvSpPr>
          <p:nvPr>
            <p:ph type="sldNum" sz="quarter" idx="12"/>
          </p:nvPr>
        </p:nvSpPr>
        <p:spPr/>
        <p:txBody>
          <a:bodyPr/>
          <a:lstStyle/>
          <a:p>
            <a:fld id="{29179D66-7E28-4CB9-91D2-20595E76ACCA}" type="slidenum">
              <a:rPr lang="en-KE" smtClean="0"/>
              <a:t>‹#›</a:t>
            </a:fld>
            <a:endParaRPr lang="en-KE"/>
          </a:p>
        </p:txBody>
      </p:sp>
    </p:spTree>
    <p:extLst>
      <p:ext uri="{BB962C8B-B14F-4D97-AF65-F5344CB8AC3E}">
        <p14:creationId xmlns:p14="http://schemas.microsoft.com/office/powerpoint/2010/main" val="4177336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32D22-9A78-A274-C6FF-E7E9C7C880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4029F396-373A-8CC2-C80E-375F094E86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29D773-8476-BD63-5FBF-06C27A991FC0}"/>
              </a:ext>
            </a:extLst>
          </p:cNvPr>
          <p:cNvSpPr>
            <a:spLocks noGrp="1"/>
          </p:cNvSpPr>
          <p:nvPr>
            <p:ph type="dt" sz="half" idx="10"/>
          </p:nvPr>
        </p:nvSpPr>
        <p:spPr/>
        <p:txBody>
          <a:bodyPr/>
          <a:lstStyle/>
          <a:p>
            <a:fld id="{13B81843-8E18-4799-80BD-5968D37C6D34}" type="datetimeFigureOut">
              <a:rPr lang="en-KE" smtClean="0"/>
              <a:t>02/05/2026</a:t>
            </a:fld>
            <a:endParaRPr lang="en-KE"/>
          </a:p>
        </p:txBody>
      </p:sp>
      <p:sp>
        <p:nvSpPr>
          <p:cNvPr id="5" name="Footer Placeholder 4">
            <a:extLst>
              <a:ext uri="{FF2B5EF4-FFF2-40B4-BE49-F238E27FC236}">
                <a16:creationId xmlns:a16="http://schemas.microsoft.com/office/drawing/2014/main" id="{E69F0E12-BFB0-8F03-AAF3-7D7F42BE93FD}"/>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83AA0805-1F6C-9B2C-FF6F-407F950B5F47}"/>
              </a:ext>
            </a:extLst>
          </p:cNvPr>
          <p:cNvSpPr>
            <a:spLocks noGrp="1"/>
          </p:cNvSpPr>
          <p:nvPr>
            <p:ph type="sldNum" sz="quarter" idx="12"/>
          </p:nvPr>
        </p:nvSpPr>
        <p:spPr/>
        <p:txBody>
          <a:bodyPr/>
          <a:lstStyle/>
          <a:p>
            <a:fld id="{29179D66-7E28-4CB9-91D2-20595E76ACCA}" type="slidenum">
              <a:rPr lang="en-KE" smtClean="0"/>
              <a:t>‹#›</a:t>
            </a:fld>
            <a:endParaRPr lang="en-KE"/>
          </a:p>
        </p:txBody>
      </p:sp>
    </p:spTree>
    <p:extLst>
      <p:ext uri="{BB962C8B-B14F-4D97-AF65-F5344CB8AC3E}">
        <p14:creationId xmlns:p14="http://schemas.microsoft.com/office/powerpoint/2010/main" val="2714926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291F9-9940-59EA-DAA0-841DAA4E501D}"/>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4D6C4A02-25BB-60B7-48E1-5FA971685F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451F0AEE-00E3-7CF1-C949-F00A004FD9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2B79A12E-F13D-18BA-5DAB-1E16936FDFE0}"/>
              </a:ext>
            </a:extLst>
          </p:cNvPr>
          <p:cNvSpPr>
            <a:spLocks noGrp="1"/>
          </p:cNvSpPr>
          <p:nvPr>
            <p:ph type="dt" sz="half" idx="10"/>
          </p:nvPr>
        </p:nvSpPr>
        <p:spPr/>
        <p:txBody>
          <a:bodyPr/>
          <a:lstStyle/>
          <a:p>
            <a:fld id="{13B81843-8E18-4799-80BD-5968D37C6D34}" type="datetimeFigureOut">
              <a:rPr lang="en-KE" smtClean="0"/>
              <a:t>02/05/2026</a:t>
            </a:fld>
            <a:endParaRPr lang="en-KE"/>
          </a:p>
        </p:txBody>
      </p:sp>
      <p:sp>
        <p:nvSpPr>
          <p:cNvPr id="6" name="Footer Placeholder 5">
            <a:extLst>
              <a:ext uri="{FF2B5EF4-FFF2-40B4-BE49-F238E27FC236}">
                <a16:creationId xmlns:a16="http://schemas.microsoft.com/office/drawing/2014/main" id="{160D0B42-4215-3E84-3B77-1B0C64ED89D0}"/>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50F69952-0C2E-29FB-E143-B64665486DBC}"/>
              </a:ext>
            </a:extLst>
          </p:cNvPr>
          <p:cNvSpPr>
            <a:spLocks noGrp="1"/>
          </p:cNvSpPr>
          <p:nvPr>
            <p:ph type="sldNum" sz="quarter" idx="12"/>
          </p:nvPr>
        </p:nvSpPr>
        <p:spPr/>
        <p:txBody>
          <a:bodyPr/>
          <a:lstStyle/>
          <a:p>
            <a:fld id="{29179D66-7E28-4CB9-91D2-20595E76ACCA}" type="slidenum">
              <a:rPr lang="en-KE" smtClean="0"/>
              <a:t>‹#›</a:t>
            </a:fld>
            <a:endParaRPr lang="en-KE"/>
          </a:p>
        </p:txBody>
      </p:sp>
    </p:spTree>
    <p:extLst>
      <p:ext uri="{BB962C8B-B14F-4D97-AF65-F5344CB8AC3E}">
        <p14:creationId xmlns:p14="http://schemas.microsoft.com/office/powerpoint/2010/main" val="2048091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4181C-3CC1-FC11-D210-AED4AC9890A2}"/>
              </a:ext>
            </a:extLst>
          </p:cNvPr>
          <p:cNvSpPr>
            <a:spLocks noGrp="1"/>
          </p:cNvSpPr>
          <p:nvPr>
            <p:ph type="title"/>
          </p:nvPr>
        </p:nvSpPr>
        <p:spPr>
          <a:xfrm>
            <a:off x="839788" y="365125"/>
            <a:ext cx="10515600" cy="1325563"/>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B8C6993B-E023-8D2C-3268-6814456919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DEA42D-BD4C-4F19-2772-B108BA3FE7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C2B90738-149A-7FB9-7095-B476C6CB67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85E265-1FB4-90B2-2794-63892ED3BC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E46E2243-B997-00B1-C22F-7EFB38784B66}"/>
              </a:ext>
            </a:extLst>
          </p:cNvPr>
          <p:cNvSpPr>
            <a:spLocks noGrp="1"/>
          </p:cNvSpPr>
          <p:nvPr>
            <p:ph type="dt" sz="half" idx="10"/>
          </p:nvPr>
        </p:nvSpPr>
        <p:spPr/>
        <p:txBody>
          <a:bodyPr/>
          <a:lstStyle/>
          <a:p>
            <a:fld id="{13B81843-8E18-4799-80BD-5968D37C6D34}" type="datetimeFigureOut">
              <a:rPr lang="en-KE" smtClean="0"/>
              <a:t>02/05/2026</a:t>
            </a:fld>
            <a:endParaRPr lang="en-KE"/>
          </a:p>
        </p:txBody>
      </p:sp>
      <p:sp>
        <p:nvSpPr>
          <p:cNvPr id="8" name="Footer Placeholder 7">
            <a:extLst>
              <a:ext uri="{FF2B5EF4-FFF2-40B4-BE49-F238E27FC236}">
                <a16:creationId xmlns:a16="http://schemas.microsoft.com/office/drawing/2014/main" id="{B8104244-2281-C02E-71E2-BD4D44FCA7C3}"/>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F3364657-0B6C-F6BB-6162-46956FA3B424}"/>
              </a:ext>
            </a:extLst>
          </p:cNvPr>
          <p:cNvSpPr>
            <a:spLocks noGrp="1"/>
          </p:cNvSpPr>
          <p:nvPr>
            <p:ph type="sldNum" sz="quarter" idx="12"/>
          </p:nvPr>
        </p:nvSpPr>
        <p:spPr/>
        <p:txBody>
          <a:bodyPr/>
          <a:lstStyle/>
          <a:p>
            <a:fld id="{29179D66-7E28-4CB9-91D2-20595E76ACCA}" type="slidenum">
              <a:rPr lang="en-KE" smtClean="0"/>
              <a:t>‹#›</a:t>
            </a:fld>
            <a:endParaRPr lang="en-KE"/>
          </a:p>
        </p:txBody>
      </p:sp>
    </p:spTree>
    <p:extLst>
      <p:ext uri="{BB962C8B-B14F-4D97-AF65-F5344CB8AC3E}">
        <p14:creationId xmlns:p14="http://schemas.microsoft.com/office/powerpoint/2010/main" val="11829579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FF706-3244-D6CA-CC1E-2BA6AA04CFD9}"/>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E1BFF5E3-20F2-9A12-72A2-E0349717823C}"/>
              </a:ext>
            </a:extLst>
          </p:cNvPr>
          <p:cNvSpPr>
            <a:spLocks noGrp="1"/>
          </p:cNvSpPr>
          <p:nvPr>
            <p:ph type="dt" sz="half" idx="10"/>
          </p:nvPr>
        </p:nvSpPr>
        <p:spPr/>
        <p:txBody>
          <a:bodyPr/>
          <a:lstStyle/>
          <a:p>
            <a:fld id="{13B81843-8E18-4799-80BD-5968D37C6D34}" type="datetimeFigureOut">
              <a:rPr lang="en-KE" smtClean="0"/>
              <a:t>02/05/2026</a:t>
            </a:fld>
            <a:endParaRPr lang="en-KE"/>
          </a:p>
        </p:txBody>
      </p:sp>
      <p:sp>
        <p:nvSpPr>
          <p:cNvPr id="4" name="Footer Placeholder 3">
            <a:extLst>
              <a:ext uri="{FF2B5EF4-FFF2-40B4-BE49-F238E27FC236}">
                <a16:creationId xmlns:a16="http://schemas.microsoft.com/office/drawing/2014/main" id="{E4EEAAB3-6FA8-5D38-D089-B5916A0E24D4}"/>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006024A9-CBD4-01C0-5C80-8153CF27B0C1}"/>
              </a:ext>
            </a:extLst>
          </p:cNvPr>
          <p:cNvSpPr>
            <a:spLocks noGrp="1"/>
          </p:cNvSpPr>
          <p:nvPr>
            <p:ph type="sldNum" sz="quarter" idx="12"/>
          </p:nvPr>
        </p:nvSpPr>
        <p:spPr/>
        <p:txBody>
          <a:bodyPr/>
          <a:lstStyle/>
          <a:p>
            <a:fld id="{29179D66-7E28-4CB9-91D2-20595E76ACCA}" type="slidenum">
              <a:rPr lang="en-KE" smtClean="0"/>
              <a:t>‹#›</a:t>
            </a:fld>
            <a:endParaRPr lang="en-KE"/>
          </a:p>
        </p:txBody>
      </p:sp>
    </p:spTree>
    <p:extLst>
      <p:ext uri="{BB962C8B-B14F-4D97-AF65-F5344CB8AC3E}">
        <p14:creationId xmlns:p14="http://schemas.microsoft.com/office/powerpoint/2010/main" val="41023491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C693DF-48F5-6E69-2DAF-CD97AF2DAD36}"/>
              </a:ext>
            </a:extLst>
          </p:cNvPr>
          <p:cNvSpPr>
            <a:spLocks noGrp="1"/>
          </p:cNvSpPr>
          <p:nvPr>
            <p:ph type="dt" sz="half" idx="10"/>
          </p:nvPr>
        </p:nvSpPr>
        <p:spPr/>
        <p:txBody>
          <a:bodyPr/>
          <a:lstStyle/>
          <a:p>
            <a:fld id="{13B81843-8E18-4799-80BD-5968D37C6D34}" type="datetimeFigureOut">
              <a:rPr lang="en-KE" smtClean="0"/>
              <a:t>02/05/2026</a:t>
            </a:fld>
            <a:endParaRPr lang="en-KE"/>
          </a:p>
        </p:txBody>
      </p:sp>
      <p:sp>
        <p:nvSpPr>
          <p:cNvPr id="3" name="Footer Placeholder 2">
            <a:extLst>
              <a:ext uri="{FF2B5EF4-FFF2-40B4-BE49-F238E27FC236}">
                <a16:creationId xmlns:a16="http://schemas.microsoft.com/office/drawing/2014/main" id="{17CFD63C-B605-A26A-4A83-806122A6593B}"/>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E921710F-F9F3-070B-8036-3AB1DA6E6D32}"/>
              </a:ext>
            </a:extLst>
          </p:cNvPr>
          <p:cNvSpPr>
            <a:spLocks noGrp="1"/>
          </p:cNvSpPr>
          <p:nvPr>
            <p:ph type="sldNum" sz="quarter" idx="12"/>
          </p:nvPr>
        </p:nvSpPr>
        <p:spPr/>
        <p:txBody>
          <a:bodyPr/>
          <a:lstStyle/>
          <a:p>
            <a:fld id="{29179D66-7E28-4CB9-91D2-20595E76ACCA}" type="slidenum">
              <a:rPr lang="en-KE" smtClean="0"/>
              <a:t>‹#›</a:t>
            </a:fld>
            <a:endParaRPr lang="en-KE"/>
          </a:p>
        </p:txBody>
      </p:sp>
    </p:spTree>
    <p:extLst>
      <p:ext uri="{BB962C8B-B14F-4D97-AF65-F5344CB8AC3E}">
        <p14:creationId xmlns:p14="http://schemas.microsoft.com/office/powerpoint/2010/main" val="39259273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A8B07-0A36-2438-260F-35E8DE32B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FD24820A-BB39-2164-33C6-64CDB47700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8220357F-B26B-5E64-B143-A04BEB30CB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D397FC-A681-0638-BFFE-50CCF84E1181}"/>
              </a:ext>
            </a:extLst>
          </p:cNvPr>
          <p:cNvSpPr>
            <a:spLocks noGrp="1"/>
          </p:cNvSpPr>
          <p:nvPr>
            <p:ph type="dt" sz="half" idx="10"/>
          </p:nvPr>
        </p:nvSpPr>
        <p:spPr/>
        <p:txBody>
          <a:bodyPr/>
          <a:lstStyle/>
          <a:p>
            <a:fld id="{13B81843-8E18-4799-80BD-5968D37C6D34}" type="datetimeFigureOut">
              <a:rPr lang="en-KE" smtClean="0"/>
              <a:t>02/05/2026</a:t>
            </a:fld>
            <a:endParaRPr lang="en-KE"/>
          </a:p>
        </p:txBody>
      </p:sp>
      <p:sp>
        <p:nvSpPr>
          <p:cNvPr id="6" name="Footer Placeholder 5">
            <a:extLst>
              <a:ext uri="{FF2B5EF4-FFF2-40B4-BE49-F238E27FC236}">
                <a16:creationId xmlns:a16="http://schemas.microsoft.com/office/drawing/2014/main" id="{A7AA9FCC-AA93-2FB2-74E2-1A1493D41A43}"/>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73C26417-9286-A61F-B7DB-E82DE2588C2B}"/>
              </a:ext>
            </a:extLst>
          </p:cNvPr>
          <p:cNvSpPr>
            <a:spLocks noGrp="1"/>
          </p:cNvSpPr>
          <p:nvPr>
            <p:ph type="sldNum" sz="quarter" idx="12"/>
          </p:nvPr>
        </p:nvSpPr>
        <p:spPr/>
        <p:txBody>
          <a:bodyPr/>
          <a:lstStyle/>
          <a:p>
            <a:fld id="{29179D66-7E28-4CB9-91D2-20595E76ACCA}" type="slidenum">
              <a:rPr lang="en-KE" smtClean="0"/>
              <a:t>‹#›</a:t>
            </a:fld>
            <a:endParaRPr lang="en-KE"/>
          </a:p>
        </p:txBody>
      </p:sp>
    </p:spTree>
    <p:extLst>
      <p:ext uri="{BB962C8B-B14F-4D97-AF65-F5344CB8AC3E}">
        <p14:creationId xmlns:p14="http://schemas.microsoft.com/office/powerpoint/2010/main" val="42660843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0E3EF-710B-978C-3A28-5320A15C08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2ED07598-E31D-C16C-90AC-F8B4DA4B24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54833A2D-9216-902D-AD8C-820F1E8EF7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5C36CA-3A11-4F01-2D2D-5C288665A00D}"/>
              </a:ext>
            </a:extLst>
          </p:cNvPr>
          <p:cNvSpPr>
            <a:spLocks noGrp="1"/>
          </p:cNvSpPr>
          <p:nvPr>
            <p:ph type="dt" sz="half" idx="10"/>
          </p:nvPr>
        </p:nvSpPr>
        <p:spPr/>
        <p:txBody>
          <a:bodyPr/>
          <a:lstStyle/>
          <a:p>
            <a:fld id="{13B81843-8E18-4799-80BD-5968D37C6D34}" type="datetimeFigureOut">
              <a:rPr lang="en-KE" smtClean="0"/>
              <a:t>02/05/2026</a:t>
            </a:fld>
            <a:endParaRPr lang="en-KE"/>
          </a:p>
        </p:txBody>
      </p:sp>
      <p:sp>
        <p:nvSpPr>
          <p:cNvPr id="6" name="Footer Placeholder 5">
            <a:extLst>
              <a:ext uri="{FF2B5EF4-FFF2-40B4-BE49-F238E27FC236}">
                <a16:creationId xmlns:a16="http://schemas.microsoft.com/office/drawing/2014/main" id="{1D1F694F-A4F2-D922-76A3-4DD3A32581C8}"/>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EE3F893E-9B8E-BDEF-8CDD-6EEC8030F588}"/>
              </a:ext>
            </a:extLst>
          </p:cNvPr>
          <p:cNvSpPr>
            <a:spLocks noGrp="1"/>
          </p:cNvSpPr>
          <p:nvPr>
            <p:ph type="sldNum" sz="quarter" idx="12"/>
          </p:nvPr>
        </p:nvSpPr>
        <p:spPr/>
        <p:txBody>
          <a:bodyPr/>
          <a:lstStyle/>
          <a:p>
            <a:fld id="{29179D66-7E28-4CB9-91D2-20595E76ACCA}" type="slidenum">
              <a:rPr lang="en-KE" smtClean="0"/>
              <a:t>‹#›</a:t>
            </a:fld>
            <a:endParaRPr lang="en-KE"/>
          </a:p>
        </p:txBody>
      </p:sp>
    </p:spTree>
    <p:extLst>
      <p:ext uri="{BB962C8B-B14F-4D97-AF65-F5344CB8AC3E}">
        <p14:creationId xmlns:p14="http://schemas.microsoft.com/office/powerpoint/2010/main" val="18619740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7253-BC97-68A6-CBC2-385D2DFCCBF2}"/>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E00E5BF1-D815-5D59-DBB5-B3FFD77A46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FE1AEE02-51BE-E596-2533-67D2F7CBB695}"/>
              </a:ext>
            </a:extLst>
          </p:cNvPr>
          <p:cNvSpPr>
            <a:spLocks noGrp="1"/>
          </p:cNvSpPr>
          <p:nvPr>
            <p:ph type="dt" sz="half" idx="10"/>
          </p:nvPr>
        </p:nvSpPr>
        <p:spPr/>
        <p:txBody>
          <a:bodyPr/>
          <a:lstStyle/>
          <a:p>
            <a:fld id="{13B81843-8E18-4799-80BD-5968D37C6D34}" type="datetimeFigureOut">
              <a:rPr lang="en-KE" smtClean="0"/>
              <a:t>02/05/2026</a:t>
            </a:fld>
            <a:endParaRPr lang="en-KE"/>
          </a:p>
        </p:txBody>
      </p:sp>
      <p:sp>
        <p:nvSpPr>
          <p:cNvPr id="5" name="Footer Placeholder 4">
            <a:extLst>
              <a:ext uri="{FF2B5EF4-FFF2-40B4-BE49-F238E27FC236}">
                <a16:creationId xmlns:a16="http://schemas.microsoft.com/office/drawing/2014/main" id="{B16CB870-3332-3EB8-C2F3-F3DCE5EFCB10}"/>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1C12BD39-AEEB-37FA-4470-C1DDB97ACD54}"/>
              </a:ext>
            </a:extLst>
          </p:cNvPr>
          <p:cNvSpPr>
            <a:spLocks noGrp="1"/>
          </p:cNvSpPr>
          <p:nvPr>
            <p:ph type="sldNum" sz="quarter" idx="12"/>
          </p:nvPr>
        </p:nvSpPr>
        <p:spPr/>
        <p:txBody>
          <a:bodyPr/>
          <a:lstStyle/>
          <a:p>
            <a:fld id="{29179D66-7E28-4CB9-91D2-20595E76ACCA}" type="slidenum">
              <a:rPr lang="en-KE" smtClean="0"/>
              <a:t>‹#›</a:t>
            </a:fld>
            <a:endParaRPr lang="en-KE"/>
          </a:p>
        </p:txBody>
      </p:sp>
    </p:spTree>
    <p:extLst>
      <p:ext uri="{BB962C8B-B14F-4D97-AF65-F5344CB8AC3E}">
        <p14:creationId xmlns:p14="http://schemas.microsoft.com/office/powerpoint/2010/main" val="6758624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5ECA3F-1B64-A2D5-717A-F2990DE22F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8A862677-74AD-8C96-86E8-D1205B39DB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D05CBC11-EF2F-31B9-E917-5D9B4425B463}"/>
              </a:ext>
            </a:extLst>
          </p:cNvPr>
          <p:cNvSpPr>
            <a:spLocks noGrp="1"/>
          </p:cNvSpPr>
          <p:nvPr>
            <p:ph type="dt" sz="half" idx="10"/>
          </p:nvPr>
        </p:nvSpPr>
        <p:spPr/>
        <p:txBody>
          <a:bodyPr/>
          <a:lstStyle/>
          <a:p>
            <a:fld id="{13B81843-8E18-4799-80BD-5968D37C6D34}" type="datetimeFigureOut">
              <a:rPr lang="en-KE" smtClean="0"/>
              <a:t>02/05/2026</a:t>
            </a:fld>
            <a:endParaRPr lang="en-KE"/>
          </a:p>
        </p:txBody>
      </p:sp>
      <p:sp>
        <p:nvSpPr>
          <p:cNvPr id="5" name="Footer Placeholder 4">
            <a:extLst>
              <a:ext uri="{FF2B5EF4-FFF2-40B4-BE49-F238E27FC236}">
                <a16:creationId xmlns:a16="http://schemas.microsoft.com/office/drawing/2014/main" id="{22763D13-79C1-4BD3-597E-090AF0527F41}"/>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E524F061-FFAC-F6A3-93F9-450D01BF0969}"/>
              </a:ext>
            </a:extLst>
          </p:cNvPr>
          <p:cNvSpPr>
            <a:spLocks noGrp="1"/>
          </p:cNvSpPr>
          <p:nvPr>
            <p:ph type="sldNum" sz="quarter" idx="12"/>
          </p:nvPr>
        </p:nvSpPr>
        <p:spPr/>
        <p:txBody>
          <a:bodyPr/>
          <a:lstStyle/>
          <a:p>
            <a:fld id="{29179D66-7E28-4CB9-91D2-20595E76ACCA}" type="slidenum">
              <a:rPr lang="en-KE" smtClean="0"/>
              <a:t>‹#›</a:t>
            </a:fld>
            <a:endParaRPr lang="en-KE"/>
          </a:p>
        </p:txBody>
      </p:sp>
    </p:spTree>
    <p:extLst>
      <p:ext uri="{BB962C8B-B14F-4D97-AF65-F5344CB8AC3E}">
        <p14:creationId xmlns:p14="http://schemas.microsoft.com/office/powerpoint/2010/main" val="10945816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4F16-8826-07C8-4181-34F8382649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E"/>
          </a:p>
        </p:txBody>
      </p:sp>
      <p:sp>
        <p:nvSpPr>
          <p:cNvPr id="3" name="Subtitle 2">
            <a:extLst>
              <a:ext uri="{FF2B5EF4-FFF2-40B4-BE49-F238E27FC236}">
                <a16:creationId xmlns:a16="http://schemas.microsoft.com/office/drawing/2014/main" id="{06A5EC89-F336-C9CE-F233-DA35B4C043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4324B931-BB54-0B04-FFAB-FA5E4DDA3DA4}"/>
              </a:ext>
            </a:extLst>
          </p:cNvPr>
          <p:cNvSpPr>
            <a:spLocks noGrp="1"/>
          </p:cNvSpPr>
          <p:nvPr>
            <p:ph type="dt" sz="half" idx="10"/>
          </p:nvPr>
        </p:nvSpPr>
        <p:spPr/>
        <p:txBody>
          <a:bodyPr/>
          <a:lstStyle/>
          <a:p>
            <a:fld id="{8BB979D2-F04B-434E-A3E9-3513A2D958CB}" type="datetimeFigureOut">
              <a:rPr lang="en-KE" smtClean="0"/>
              <a:t>02/05/2026</a:t>
            </a:fld>
            <a:endParaRPr lang="en-KE"/>
          </a:p>
        </p:txBody>
      </p:sp>
      <p:sp>
        <p:nvSpPr>
          <p:cNvPr id="5" name="Footer Placeholder 4">
            <a:extLst>
              <a:ext uri="{FF2B5EF4-FFF2-40B4-BE49-F238E27FC236}">
                <a16:creationId xmlns:a16="http://schemas.microsoft.com/office/drawing/2014/main" id="{2BF572A5-06E7-3506-2DDB-A31CF1982FD4}"/>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F6239F95-CB0F-9AE0-00D7-54C8563C99C7}"/>
              </a:ext>
            </a:extLst>
          </p:cNvPr>
          <p:cNvSpPr>
            <a:spLocks noGrp="1"/>
          </p:cNvSpPr>
          <p:nvPr>
            <p:ph type="sldNum" sz="quarter" idx="12"/>
          </p:nvPr>
        </p:nvSpPr>
        <p:spPr/>
        <p:txBody>
          <a:bodyPr/>
          <a:lstStyle/>
          <a:p>
            <a:fld id="{BB5D0DD9-692A-4619-B9BC-4EED6210E10E}" type="slidenum">
              <a:rPr lang="en-KE" smtClean="0"/>
              <a:t>‹#›</a:t>
            </a:fld>
            <a:endParaRPr lang="en-KE"/>
          </a:p>
        </p:txBody>
      </p:sp>
    </p:spTree>
    <p:extLst>
      <p:ext uri="{BB962C8B-B14F-4D97-AF65-F5344CB8AC3E}">
        <p14:creationId xmlns:p14="http://schemas.microsoft.com/office/powerpoint/2010/main" val="34805863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EB234-9DEB-B894-C43F-DE036F58965C}"/>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B93C519D-D47F-802E-AD0B-27049D85F2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7EFED0D4-9971-597C-B14D-B2248CED755F}"/>
              </a:ext>
            </a:extLst>
          </p:cNvPr>
          <p:cNvSpPr>
            <a:spLocks noGrp="1"/>
          </p:cNvSpPr>
          <p:nvPr>
            <p:ph type="dt" sz="half" idx="10"/>
          </p:nvPr>
        </p:nvSpPr>
        <p:spPr/>
        <p:txBody>
          <a:bodyPr/>
          <a:lstStyle/>
          <a:p>
            <a:fld id="{8BB979D2-F04B-434E-A3E9-3513A2D958CB}" type="datetimeFigureOut">
              <a:rPr lang="en-KE" smtClean="0"/>
              <a:t>02/05/2026</a:t>
            </a:fld>
            <a:endParaRPr lang="en-KE"/>
          </a:p>
        </p:txBody>
      </p:sp>
      <p:sp>
        <p:nvSpPr>
          <p:cNvPr id="5" name="Footer Placeholder 4">
            <a:extLst>
              <a:ext uri="{FF2B5EF4-FFF2-40B4-BE49-F238E27FC236}">
                <a16:creationId xmlns:a16="http://schemas.microsoft.com/office/drawing/2014/main" id="{13118566-8152-4707-69DB-6469FB850E10}"/>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B7D76ADC-0F42-E3D2-1B2E-6600AB74C104}"/>
              </a:ext>
            </a:extLst>
          </p:cNvPr>
          <p:cNvSpPr>
            <a:spLocks noGrp="1"/>
          </p:cNvSpPr>
          <p:nvPr>
            <p:ph type="sldNum" sz="quarter" idx="12"/>
          </p:nvPr>
        </p:nvSpPr>
        <p:spPr/>
        <p:txBody>
          <a:bodyPr/>
          <a:lstStyle/>
          <a:p>
            <a:fld id="{BB5D0DD9-692A-4619-B9BC-4EED6210E10E}" type="slidenum">
              <a:rPr lang="en-KE" smtClean="0"/>
              <a:t>‹#›</a:t>
            </a:fld>
            <a:endParaRPr lang="en-KE"/>
          </a:p>
        </p:txBody>
      </p:sp>
    </p:spTree>
    <p:extLst>
      <p:ext uri="{BB962C8B-B14F-4D97-AF65-F5344CB8AC3E}">
        <p14:creationId xmlns:p14="http://schemas.microsoft.com/office/powerpoint/2010/main" val="29965961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3078F-722A-39C0-37EF-12DCD5D599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00C05877-C602-BE05-78F0-895B7973C7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D66EB9-AB90-7D5D-4105-B199B298112D}"/>
              </a:ext>
            </a:extLst>
          </p:cNvPr>
          <p:cNvSpPr>
            <a:spLocks noGrp="1"/>
          </p:cNvSpPr>
          <p:nvPr>
            <p:ph type="dt" sz="half" idx="10"/>
          </p:nvPr>
        </p:nvSpPr>
        <p:spPr/>
        <p:txBody>
          <a:bodyPr/>
          <a:lstStyle/>
          <a:p>
            <a:fld id="{8BB979D2-F04B-434E-A3E9-3513A2D958CB}" type="datetimeFigureOut">
              <a:rPr lang="en-KE" smtClean="0"/>
              <a:t>02/05/2026</a:t>
            </a:fld>
            <a:endParaRPr lang="en-KE"/>
          </a:p>
        </p:txBody>
      </p:sp>
      <p:sp>
        <p:nvSpPr>
          <p:cNvPr id="5" name="Footer Placeholder 4">
            <a:extLst>
              <a:ext uri="{FF2B5EF4-FFF2-40B4-BE49-F238E27FC236}">
                <a16:creationId xmlns:a16="http://schemas.microsoft.com/office/drawing/2014/main" id="{25A44983-602D-445C-9AFB-9FD389833502}"/>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5CE7E439-2BD6-04A2-3D93-019F64615DC9}"/>
              </a:ext>
            </a:extLst>
          </p:cNvPr>
          <p:cNvSpPr>
            <a:spLocks noGrp="1"/>
          </p:cNvSpPr>
          <p:nvPr>
            <p:ph type="sldNum" sz="quarter" idx="12"/>
          </p:nvPr>
        </p:nvSpPr>
        <p:spPr/>
        <p:txBody>
          <a:bodyPr/>
          <a:lstStyle/>
          <a:p>
            <a:fld id="{BB5D0DD9-692A-4619-B9BC-4EED6210E10E}" type="slidenum">
              <a:rPr lang="en-KE" smtClean="0"/>
              <a:t>‹#›</a:t>
            </a:fld>
            <a:endParaRPr lang="en-KE"/>
          </a:p>
        </p:txBody>
      </p:sp>
    </p:spTree>
    <p:extLst>
      <p:ext uri="{BB962C8B-B14F-4D97-AF65-F5344CB8AC3E}">
        <p14:creationId xmlns:p14="http://schemas.microsoft.com/office/powerpoint/2010/main" val="35437082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7800A-E973-F5F0-DB63-DFBEEC4DB94A}"/>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C9CD509A-029A-A123-5367-3A048288D2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7A6BC095-F5C3-29E9-614D-39096873B9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D5E1B499-CF9B-C2E1-A46E-D720514D7998}"/>
              </a:ext>
            </a:extLst>
          </p:cNvPr>
          <p:cNvSpPr>
            <a:spLocks noGrp="1"/>
          </p:cNvSpPr>
          <p:nvPr>
            <p:ph type="dt" sz="half" idx="10"/>
          </p:nvPr>
        </p:nvSpPr>
        <p:spPr/>
        <p:txBody>
          <a:bodyPr/>
          <a:lstStyle/>
          <a:p>
            <a:fld id="{8BB979D2-F04B-434E-A3E9-3513A2D958CB}" type="datetimeFigureOut">
              <a:rPr lang="en-KE" smtClean="0"/>
              <a:t>02/05/2026</a:t>
            </a:fld>
            <a:endParaRPr lang="en-KE"/>
          </a:p>
        </p:txBody>
      </p:sp>
      <p:sp>
        <p:nvSpPr>
          <p:cNvPr id="6" name="Footer Placeholder 5">
            <a:extLst>
              <a:ext uri="{FF2B5EF4-FFF2-40B4-BE49-F238E27FC236}">
                <a16:creationId xmlns:a16="http://schemas.microsoft.com/office/drawing/2014/main" id="{D1DA138B-DA1A-63EF-D46A-0369DEFF001D}"/>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4D762F2B-8912-E896-DADF-68B0506470DD}"/>
              </a:ext>
            </a:extLst>
          </p:cNvPr>
          <p:cNvSpPr>
            <a:spLocks noGrp="1"/>
          </p:cNvSpPr>
          <p:nvPr>
            <p:ph type="sldNum" sz="quarter" idx="12"/>
          </p:nvPr>
        </p:nvSpPr>
        <p:spPr/>
        <p:txBody>
          <a:bodyPr/>
          <a:lstStyle/>
          <a:p>
            <a:fld id="{BB5D0DD9-692A-4619-B9BC-4EED6210E10E}" type="slidenum">
              <a:rPr lang="en-KE" smtClean="0"/>
              <a:t>‹#›</a:t>
            </a:fld>
            <a:endParaRPr lang="en-KE"/>
          </a:p>
        </p:txBody>
      </p:sp>
    </p:spTree>
    <p:extLst>
      <p:ext uri="{BB962C8B-B14F-4D97-AF65-F5344CB8AC3E}">
        <p14:creationId xmlns:p14="http://schemas.microsoft.com/office/powerpoint/2010/main" val="39664853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F72A6-26B4-4D3D-F198-2B5BC3BB130E}"/>
              </a:ext>
            </a:extLst>
          </p:cNvPr>
          <p:cNvSpPr>
            <a:spLocks noGrp="1"/>
          </p:cNvSpPr>
          <p:nvPr>
            <p:ph type="title"/>
          </p:nvPr>
        </p:nvSpPr>
        <p:spPr>
          <a:xfrm>
            <a:off x="839788" y="365125"/>
            <a:ext cx="10515600" cy="1325563"/>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EF829577-FAEE-8686-DB01-8E56F4F072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7B86B1-012A-6CD9-7778-C17C920251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0C462600-5984-BA2B-5CDF-D3B835A64F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9ECE8A-41DE-7C15-BBF4-26EFA34802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8FAC5213-B446-F2FB-C131-E5709699FC3E}"/>
              </a:ext>
            </a:extLst>
          </p:cNvPr>
          <p:cNvSpPr>
            <a:spLocks noGrp="1"/>
          </p:cNvSpPr>
          <p:nvPr>
            <p:ph type="dt" sz="half" idx="10"/>
          </p:nvPr>
        </p:nvSpPr>
        <p:spPr/>
        <p:txBody>
          <a:bodyPr/>
          <a:lstStyle/>
          <a:p>
            <a:fld id="{8BB979D2-F04B-434E-A3E9-3513A2D958CB}" type="datetimeFigureOut">
              <a:rPr lang="en-KE" smtClean="0"/>
              <a:t>02/05/2026</a:t>
            </a:fld>
            <a:endParaRPr lang="en-KE"/>
          </a:p>
        </p:txBody>
      </p:sp>
      <p:sp>
        <p:nvSpPr>
          <p:cNvPr id="8" name="Footer Placeholder 7">
            <a:extLst>
              <a:ext uri="{FF2B5EF4-FFF2-40B4-BE49-F238E27FC236}">
                <a16:creationId xmlns:a16="http://schemas.microsoft.com/office/drawing/2014/main" id="{31001165-458E-70BE-F4CD-12058A97A702}"/>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15AEC704-F0B8-C028-5855-50CF81906B4B}"/>
              </a:ext>
            </a:extLst>
          </p:cNvPr>
          <p:cNvSpPr>
            <a:spLocks noGrp="1"/>
          </p:cNvSpPr>
          <p:nvPr>
            <p:ph type="sldNum" sz="quarter" idx="12"/>
          </p:nvPr>
        </p:nvSpPr>
        <p:spPr/>
        <p:txBody>
          <a:bodyPr/>
          <a:lstStyle/>
          <a:p>
            <a:fld id="{BB5D0DD9-692A-4619-B9BC-4EED6210E10E}" type="slidenum">
              <a:rPr lang="en-KE" smtClean="0"/>
              <a:t>‹#›</a:t>
            </a:fld>
            <a:endParaRPr lang="en-KE"/>
          </a:p>
        </p:txBody>
      </p:sp>
    </p:spTree>
    <p:extLst>
      <p:ext uri="{BB962C8B-B14F-4D97-AF65-F5344CB8AC3E}">
        <p14:creationId xmlns:p14="http://schemas.microsoft.com/office/powerpoint/2010/main" val="35100649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FE889-4659-68BF-C6FE-E9C54C3986EA}"/>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B64B525E-FC6E-5A50-967C-BCE4189DF183}"/>
              </a:ext>
            </a:extLst>
          </p:cNvPr>
          <p:cNvSpPr>
            <a:spLocks noGrp="1"/>
          </p:cNvSpPr>
          <p:nvPr>
            <p:ph type="dt" sz="half" idx="10"/>
          </p:nvPr>
        </p:nvSpPr>
        <p:spPr/>
        <p:txBody>
          <a:bodyPr/>
          <a:lstStyle/>
          <a:p>
            <a:fld id="{8BB979D2-F04B-434E-A3E9-3513A2D958CB}" type="datetimeFigureOut">
              <a:rPr lang="en-KE" smtClean="0"/>
              <a:t>02/05/2026</a:t>
            </a:fld>
            <a:endParaRPr lang="en-KE"/>
          </a:p>
        </p:txBody>
      </p:sp>
      <p:sp>
        <p:nvSpPr>
          <p:cNvPr id="4" name="Footer Placeholder 3">
            <a:extLst>
              <a:ext uri="{FF2B5EF4-FFF2-40B4-BE49-F238E27FC236}">
                <a16:creationId xmlns:a16="http://schemas.microsoft.com/office/drawing/2014/main" id="{1D3FF546-54B7-EB4A-3A94-E34F67870875}"/>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32129F99-7AF5-AB69-161D-DC44C8F0E43F}"/>
              </a:ext>
            </a:extLst>
          </p:cNvPr>
          <p:cNvSpPr>
            <a:spLocks noGrp="1"/>
          </p:cNvSpPr>
          <p:nvPr>
            <p:ph type="sldNum" sz="quarter" idx="12"/>
          </p:nvPr>
        </p:nvSpPr>
        <p:spPr/>
        <p:txBody>
          <a:bodyPr/>
          <a:lstStyle/>
          <a:p>
            <a:fld id="{BB5D0DD9-692A-4619-B9BC-4EED6210E10E}" type="slidenum">
              <a:rPr lang="en-KE" smtClean="0"/>
              <a:t>‹#›</a:t>
            </a:fld>
            <a:endParaRPr lang="en-KE"/>
          </a:p>
        </p:txBody>
      </p:sp>
    </p:spTree>
    <p:extLst>
      <p:ext uri="{BB962C8B-B14F-4D97-AF65-F5344CB8AC3E}">
        <p14:creationId xmlns:p14="http://schemas.microsoft.com/office/powerpoint/2010/main" val="25588433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B664C1-0EC6-F5DC-6446-DCE056D8A746}"/>
              </a:ext>
            </a:extLst>
          </p:cNvPr>
          <p:cNvSpPr>
            <a:spLocks noGrp="1"/>
          </p:cNvSpPr>
          <p:nvPr>
            <p:ph type="dt" sz="half" idx="10"/>
          </p:nvPr>
        </p:nvSpPr>
        <p:spPr/>
        <p:txBody>
          <a:bodyPr/>
          <a:lstStyle/>
          <a:p>
            <a:fld id="{8BB979D2-F04B-434E-A3E9-3513A2D958CB}" type="datetimeFigureOut">
              <a:rPr lang="en-KE" smtClean="0"/>
              <a:t>02/05/2026</a:t>
            </a:fld>
            <a:endParaRPr lang="en-KE"/>
          </a:p>
        </p:txBody>
      </p:sp>
      <p:sp>
        <p:nvSpPr>
          <p:cNvPr id="3" name="Footer Placeholder 2">
            <a:extLst>
              <a:ext uri="{FF2B5EF4-FFF2-40B4-BE49-F238E27FC236}">
                <a16:creationId xmlns:a16="http://schemas.microsoft.com/office/drawing/2014/main" id="{ECF30D48-94AC-07CF-4058-1D817A664799}"/>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1DDD6F86-2278-63A5-EF6E-50C7B7464F05}"/>
              </a:ext>
            </a:extLst>
          </p:cNvPr>
          <p:cNvSpPr>
            <a:spLocks noGrp="1"/>
          </p:cNvSpPr>
          <p:nvPr>
            <p:ph type="sldNum" sz="quarter" idx="12"/>
          </p:nvPr>
        </p:nvSpPr>
        <p:spPr/>
        <p:txBody>
          <a:bodyPr/>
          <a:lstStyle/>
          <a:p>
            <a:fld id="{BB5D0DD9-692A-4619-B9BC-4EED6210E10E}" type="slidenum">
              <a:rPr lang="en-KE" smtClean="0"/>
              <a:t>‹#›</a:t>
            </a:fld>
            <a:endParaRPr lang="en-KE"/>
          </a:p>
        </p:txBody>
      </p:sp>
    </p:spTree>
    <p:extLst>
      <p:ext uri="{BB962C8B-B14F-4D97-AF65-F5344CB8AC3E}">
        <p14:creationId xmlns:p14="http://schemas.microsoft.com/office/powerpoint/2010/main" val="9726625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0C89C-5628-ACA7-38DA-25B7528D34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2D17E942-BCC8-8761-C5CE-4AA74805A7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3986752E-2B3C-0056-BBFC-E6EF292FA1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9B8D47-C1B7-37D1-5E28-6E96FB819AC8}"/>
              </a:ext>
            </a:extLst>
          </p:cNvPr>
          <p:cNvSpPr>
            <a:spLocks noGrp="1"/>
          </p:cNvSpPr>
          <p:nvPr>
            <p:ph type="dt" sz="half" idx="10"/>
          </p:nvPr>
        </p:nvSpPr>
        <p:spPr/>
        <p:txBody>
          <a:bodyPr/>
          <a:lstStyle/>
          <a:p>
            <a:fld id="{8BB979D2-F04B-434E-A3E9-3513A2D958CB}" type="datetimeFigureOut">
              <a:rPr lang="en-KE" smtClean="0"/>
              <a:t>02/05/2026</a:t>
            </a:fld>
            <a:endParaRPr lang="en-KE"/>
          </a:p>
        </p:txBody>
      </p:sp>
      <p:sp>
        <p:nvSpPr>
          <p:cNvPr id="6" name="Footer Placeholder 5">
            <a:extLst>
              <a:ext uri="{FF2B5EF4-FFF2-40B4-BE49-F238E27FC236}">
                <a16:creationId xmlns:a16="http://schemas.microsoft.com/office/drawing/2014/main" id="{9F777F5F-62D9-35DA-0CD2-877B2B7D78E7}"/>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65057596-5E30-E311-CB4C-453836F990BB}"/>
              </a:ext>
            </a:extLst>
          </p:cNvPr>
          <p:cNvSpPr>
            <a:spLocks noGrp="1"/>
          </p:cNvSpPr>
          <p:nvPr>
            <p:ph type="sldNum" sz="quarter" idx="12"/>
          </p:nvPr>
        </p:nvSpPr>
        <p:spPr/>
        <p:txBody>
          <a:bodyPr/>
          <a:lstStyle/>
          <a:p>
            <a:fld id="{BB5D0DD9-692A-4619-B9BC-4EED6210E10E}" type="slidenum">
              <a:rPr lang="en-KE" smtClean="0"/>
              <a:t>‹#›</a:t>
            </a:fld>
            <a:endParaRPr lang="en-KE"/>
          </a:p>
        </p:txBody>
      </p:sp>
    </p:spTree>
    <p:extLst>
      <p:ext uri="{BB962C8B-B14F-4D97-AF65-F5344CB8AC3E}">
        <p14:creationId xmlns:p14="http://schemas.microsoft.com/office/powerpoint/2010/main" val="26172055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C8300-C5F9-0A38-7208-3448A86D9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EA19620A-B52D-2B19-ADA0-BEDB54D885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3CC09366-F048-F1F2-486F-FD7AC1975A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00ED3E-B0F2-1424-B9CC-3A0B27E9ED96}"/>
              </a:ext>
            </a:extLst>
          </p:cNvPr>
          <p:cNvSpPr>
            <a:spLocks noGrp="1"/>
          </p:cNvSpPr>
          <p:nvPr>
            <p:ph type="dt" sz="half" idx="10"/>
          </p:nvPr>
        </p:nvSpPr>
        <p:spPr/>
        <p:txBody>
          <a:bodyPr/>
          <a:lstStyle/>
          <a:p>
            <a:fld id="{8BB979D2-F04B-434E-A3E9-3513A2D958CB}" type="datetimeFigureOut">
              <a:rPr lang="en-KE" smtClean="0"/>
              <a:t>02/05/2026</a:t>
            </a:fld>
            <a:endParaRPr lang="en-KE"/>
          </a:p>
        </p:txBody>
      </p:sp>
      <p:sp>
        <p:nvSpPr>
          <p:cNvPr id="6" name="Footer Placeholder 5">
            <a:extLst>
              <a:ext uri="{FF2B5EF4-FFF2-40B4-BE49-F238E27FC236}">
                <a16:creationId xmlns:a16="http://schemas.microsoft.com/office/drawing/2014/main" id="{039A66C6-1805-5152-D5A8-9D85F058C775}"/>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BB4DDA95-F300-2FE5-EF4A-C175CA00C714}"/>
              </a:ext>
            </a:extLst>
          </p:cNvPr>
          <p:cNvSpPr>
            <a:spLocks noGrp="1"/>
          </p:cNvSpPr>
          <p:nvPr>
            <p:ph type="sldNum" sz="quarter" idx="12"/>
          </p:nvPr>
        </p:nvSpPr>
        <p:spPr/>
        <p:txBody>
          <a:bodyPr/>
          <a:lstStyle/>
          <a:p>
            <a:fld id="{BB5D0DD9-692A-4619-B9BC-4EED6210E10E}" type="slidenum">
              <a:rPr lang="en-KE" smtClean="0"/>
              <a:t>‹#›</a:t>
            </a:fld>
            <a:endParaRPr lang="en-KE"/>
          </a:p>
        </p:txBody>
      </p:sp>
    </p:spTree>
    <p:extLst>
      <p:ext uri="{BB962C8B-B14F-4D97-AF65-F5344CB8AC3E}">
        <p14:creationId xmlns:p14="http://schemas.microsoft.com/office/powerpoint/2010/main" val="29308029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38AF4-7907-4A7D-3391-981702FD30B2}"/>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46F3C88D-BB87-4787-23E2-713FCE5E08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CAC79D92-CCDC-8C0C-62A8-A25E45A177BB}"/>
              </a:ext>
            </a:extLst>
          </p:cNvPr>
          <p:cNvSpPr>
            <a:spLocks noGrp="1"/>
          </p:cNvSpPr>
          <p:nvPr>
            <p:ph type="dt" sz="half" idx="10"/>
          </p:nvPr>
        </p:nvSpPr>
        <p:spPr/>
        <p:txBody>
          <a:bodyPr/>
          <a:lstStyle/>
          <a:p>
            <a:fld id="{8BB979D2-F04B-434E-A3E9-3513A2D958CB}" type="datetimeFigureOut">
              <a:rPr lang="en-KE" smtClean="0"/>
              <a:t>02/05/2026</a:t>
            </a:fld>
            <a:endParaRPr lang="en-KE"/>
          </a:p>
        </p:txBody>
      </p:sp>
      <p:sp>
        <p:nvSpPr>
          <p:cNvPr id="5" name="Footer Placeholder 4">
            <a:extLst>
              <a:ext uri="{FF2B5EF4-FFF2-40B4-BE49-F238E27FC236}">
                <a16:creationId xmlns:a16="http://schemas.microsoft.com/office/drawing/2014/main" id="{EC8E1497-3294-53C1-D59A-74A46355FAF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BADF5F31-9EEE-DC46-B80C-9D4FAD6D6AA0}"/>
              </a:ext>
            </a:extLst>
          </p:cNvPr>
          <p:cNvSpPr>
            <a:spLocks noGrp="1"/>
          </p:cNvSpPr>
          <p:nvPr>
            <p:ph type="sldNum" sz="quarter" idx="12"/>
          </p:nvPr>
        </p:nvSpPr>
        <p:spPr/>
        <p:txBody>
          <a:bodyPr/>
          <a:lstStyle/>
          <a:p>
            <a:fld id="{BB5D0DD9-692A-4619-B9BC-4EED6210E10E}" type="slidenum">
              <a:rPr lang="en-KE" smtClean="0"/>
              <a:t>‹#›</a:t>
            </a:fld>
            <a:endParaRPr lang="en-KE"/>
          </a:p>
        </p:txBody>
      </p:sp>
    </p:spTree>
    <p:extLst>
      <p:ext uri="{BB962C8B-B14F-4D97-AF65-F5344CB8AC3E}">
        <p14:creationId xmlns:p14="http://schemas.microsoft.com/office/powerpoint/2010/main" val="19133284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C8390B-C672-812B-CBAB-A1E0EACDED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0DA00720-B0A9-E35D-EB2D-7929D649E8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A2D3B68F-6EDB-2A4A-AEF6-B8725278CF71}"/>
              </a:ext>
            </a:extLst>
          </p:cNvPr>
          <p:cNvSpPr>
            <a:spLocks noGrp="1"/>
          </p:cNvSpPr>
          <p:nvPr>
            <p:ph type="dt" sz="half" idx="10"/>
          </p:nvPr>
        </p:nvSpPr>
        <p:spPr/>
        <p:txBody>
          <a:bodyPr/>
          <a:lstStyle/>
          <a:p>
            <a:fld id="{8BB979D2-F04B-434E-A3E9-3513A2D958CB}" type="datetimeFigureOut">
              <a:rPr lang="en-KE" smtClean="0"/>
              <a:t>02/05/2026</a:t>
            </a:fld>
            <a:endParaRPr lang="en-KE"/>
          </a:p>
        </p:txBody>
      </p:sp>
      <p:sp>
        <p:nvSpPr>
          <p:cNvPr id="5" name="Footer Placeholder 4">
            <a:extLst>
              <a:ext uri="{FF2B5EF4-FFF2-40B4-BE49-F238E27FC236}">
                <a16:creationId xmlns:a16="http://schemas.microsoft.com/office/drawing/2014/main" id="{B3255977-ABE0-997B-BAC4-4B234120BC69}"/>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E8FBEE5-5BEF-5B40-98AB-B26D40355532}"/>
              </a:ext>
            </a:extLst>
          </p:cNvPr>
          <p:cNvSpPr>
            <a:spLocks noGrp="1"/>
          </p:cNvSpPr>
          <p:nvPr>
            <p:ph type="sldNum" sz="quarter" idx="12"/>
          </p:nvPr>
        </p:nvSpPr>
        <p:spPr/>
        <p:txBody>
          <a:bodyPr/>
          <a:lstStyle/>
          <a:p>
            <a:fld id="{BB5D0DD9-692A-4619-B9BC-4EED6210E10E}" type="slidenum">
              <a:rPr lang="en-KE" smtClean="0"/>
              <a:t>‹#›</a:t>
            </a:fld>
            <a:endParaRPr lang="en-KE"/>
          </a:p>
        </p:txBody>
      </p:sp>
    </p:spTree>
    <p:extLst>
      <p:ext uri="{BB962C8B-B14F-4D97-AF65-F5344CB8AC3E}">
        <p14:creationId xmlns:p14="http://schemas.microsoft.com/office/powerpoint/2010/main" val="3840660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l="-4000" r="-4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6A88522-1ACD-4890-A3FB-381CC80B46D9}" type="datetimeFigureOut">
              <a:rPr lang="en-KE" smtClean="0"/>
              <a:t>02/05/2026</a:t>
            </a:fld>
            <a:endParaRPr lang="en-KE"/>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KE"/>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B83594-A788-4EBB-BED9-8DBB3CADC6C2}" type="slidenum">
              <a:rPr lang="en-KE" smtClean="0"/>
              <a:t>‹#›</a:t>
            </a:fld>
            <a:endParaRPr lang="en-KE"/>
          </a:p>
        </p:txBody>
      </p:sp>
      <p:sp>
        <p:nvSpPr>
          <p:cNvPr id="7" name="TextBox 6">
            <a:extLst>
              <a:ext uri="{FF2B5EF4-FFF2-40B4-BE49-F238E27FC236}">
                <a16:creationId xmlns:a16="http://schemas.microsoft.com/office/drawing/2014/main" id="{9E014F97-875D-C82A-A13B-1537F4E0BA1C}"/>
              </a:ext>
            </a:extLst>
          </p:cNvPr>
          <p:cNvSpPr txBox="1"/>
          <p:nvPr userDrawn="1"/>
        </p:nvSpPr>
        <p:spPr>
          <a:xfrm>
            <a:off x="7030417" y="5507722"/>
            <a:ext cx="3786809" cy="646331"/>
          </a:xfrm>
          <a:prstGeom prst="rect">
            <a:avLst/>
          </a:prstGeom>
          <a:noFill/>
        </p:spPr>
        <p:txBody>
          <a:bodyPr wrap="square" rtlCol="0">
            <a:spAutoFit/>
          </a:bodyPr>
          <a:lstStyle/>
          <a:p>
            <a:r>
              <a:rPr lang="en-US" dirty="0">
                <a:solidFill>
                  <a:schemeClr val="accent1">
                    <a:lumMod val="75000"/>
                  </a:schemeClr>
                </a:solidFill>
              </a:rPr>
              <a:t>Created and documented by : Brian Ryan Odhiambo</a:t>
            </a:r>
            <a:endParaRPr lang="en-KE" dirty="0">
              <a:solidFill>
                <a:schemeClr val="accent1">
                  <a:lumMod val="75000"/>
                </a:schemeClr>
              </a:solidFill>
            </a:endParaRPr>
          </a:p>
        </p:txBody>
      </p:sp>
    </p:spTree>
    <p:extLst>
      <p:ext uri="{BB962C8B-B14F-4D97-AF65-F5344CB8AC3E}">
        <p14:creationId xmlns:p14="http://schemas.microsoft.com/office/powerpoint/2010/main" val="335285192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C6E71-9076-4590-2078-4E2E9CAB0F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BB32C663-563A-0BD0-E891-CCB0D59B4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8D82B788-93F9-6EE1-C15B-7D1DE104F3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B81843-8E18-4799-80BD-5968D37C6D34}" type="datetimeFigureOut">
              <a:rPr lang="en-KE" smtClean="0"/>
              <a:t>02/05/2026</a:t>
            </a:fld>
            <a:endParaRPr lang="en-KE"/>
          </a:p>
        </p:txBody>
      </p:sp>
      <p:sp>
        <p:nvSpPr>
          <p:cNvPr id="5" name="Footer Placeholder 4">
            <a:extLst>
              <a:ext uri="{FF2B5EF4-FFF2-40B4-BE49-F238E27FC236}">
                <a16:creationId xmlns:a16="http://schemas.microsoft.com/office/drawing/2014/main" id="{4C901315-B245-FADC-069B-BFDD038F04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KE"/>
          </a:p>
        </p:txBody>
      </p:sp>
      <p:sp>
        <p:nvSpPr>
          <p:cNvPr id="6" name="Slide Number Placeholder 5">
            <a:extLst>
              <a:ext uri="{FF2B5EF4-FFF2-40B4-BE49-F238E27FC236}">
                <a16:creationId xmlns:a16="http://schemas.microsoft.com/office/drawing/2014/main" id="{C1A6E3F8-FAE0-FAEF-BB5B-61CD76FF28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179D66-7E28-4CB9-91D2-20595E76ACCA}" type="slidenum">
              <a:rPr lang="en-KE" smtClean="0"/>
              <a:t>‹#›</a:t>
            </a:fld>
            <a:endParaRPr lang="en-KE"/>
          </a:p>
        </p:txBody>
      </p:sp>
    </p:spTree>
    <p:extLst>
      <p:ext uri="{BB962C8B-B14F-4D97-AF65-F5344CB8AC3E}">
        <p14:creationId xmlns:p14="http://schemas.microsoft.com/office/powerpoint/2010/main" val="1865718648"/>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485D00-0723-B7D6-3E82-7C14499121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39BF4C96-D89D-777A-0DB1-8202F1C9F7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51DDB9A6-9D8E-A42B-8225-E518D7AF4F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B979D2-F04B-434E-A3E9-3513A2D958CB}" type="datetimeFigureOut">
              <a:rPr lang="en-KE" smtClean="0"/>
              <a:t>02/05/2026</a:t>
            </a:fld>
            <a:endParaRPr lang="en-KE"/>
          </a:p>
        </p:txBody>
      </p:sp>
      <p:sp>
        <p:nvSpPr>
          <p:cNvPr id="5" name="Footer Placeholder 4">
            <a:extLst>
              <a:ext uri="{FF2B5EF4-FFF2-40B4-BE49-F238E27FC236}">
                <a16:creationId xmlns:a16="http://schemas.microsoft.com/office/drawing/2014/main" id="{9AB33DE8-33D0-32D1-E263-F5229B41D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KE"/>
          </a:p>
        </p:txBody>
      </p:sp>
      <p:sp>
        <p:nvSpPr>
          <p:cNvPr id="6" name="Slide Number Placeholder 5">
            <a:extLst>
              <a:ext uri="{FF2B5EF4-FFF2-40B4-BE49-F238E27FC236}">
                <a16:creationId xmlns:a16="http://schemas.microsoft.com/office/drawing/2014/main" id="{121B53AF-F6FF-B57C-E4F6-33BF0C0EBB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5D0DD9-692A-4619-B9BC-4EED6210E10E}" type="slidenum">
              <a:rPr lang="en-KE" smtClean="0"/>
              <a:t>‹#›</a:t>
            </a:fld>
            <a:endParaRPr lang="en-KE"/>
          </a:p>
        </p:txBody>
      </p:sp>
    </p:spTree>
    <p:extLst>
      <p:ext uri="{BB962C8B-B14F-4D97-AF65-F5344CB8AC3E}">
        <p14:creationId xmlns:p14="http://schemas.microsoft.com/office/powerpoint/2010/main" val="39433347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EECD3-F709-420A-A522-048F8B05FE6A}"/>
              </a:ext>
            </a:extLst>
          </p:cNvPr>
          <p:cNvSpPr>
            <a:spLocks noGrp="1"/>
          </p:cNvSpPr>
          <p:nvPr>
            <p:ph type="title"/>
          </p:nvPr>
        </p:nvSpPr>
        <p:spPr>
          <a:xfrm>
            <a:off x="685800" y="0"/>
            <a:ext cx="10131427" cy="1393371"/>
          </a:xfrm>
        </p:spPr>
        <p:txBody>
          <a:bodyPr/>
          <a:lstStyle/>
          <a:p>
            <a:r>
              <a:rPr lang="en-US" dirty="0">
                <a:solidFill>
                  <a:srgbClr val="00B050"/>
                </a:solidFill>
                <a:latin typeface="Algerian" panose="04020705040A02060702" pitchFamily="82" charset="0"/>
              </a:rPr>
              <a:t>From Enumeration to Root: Exploiting </a:t>
            </a:r>
            <a:r>
              <a:rPr lang="en-US" dirty="0" err="1">
                <a:solidFill>
                  <a:srgbClr val="00B050"/>
                </a:solidFill>
                <a:latin typeface="Algerian" panose="04020705040A02060702" pitchFamily="82" charset="0"/>
              </a:rPr>
              <a:t>EvilBox</a:t>
            </a:r>
            <a:r>
              <a:rPr lang="en-US" dirty="0">
                <a:solidFill>
                  <a:srgbClr val="00B050"/>
                </a:solidFill>
                <a:latin typeface="Algerian" panose="04020705040A02060702" pitchFamily="82" charset="0"/>
              </a:rPr>
              <a:t>: One</a:t>
            </a:r>
            <a:endParaRPr lang="en-KE" dirty="0">
              <a:solidFill>
                <a:srgbClr val="00B050"/>
              </a:solidFill>
              <a:latin typeface="Algerian" panose="04020705040A02060702" pitchFamily="82" charset="0"/>
            </a:endParaRPr>
          </a:p>
        </p:txBody>
      </p:sp>
      <p:sp>
        <p:nvSpPr>
          <p:cNvPr id="3" name="Text Placeholder 2">
            <a:extLst>
              <a:ext uri="{FF2B5EF4-FFF2-40B4-BE49-F238E27FC236}">
                <a16:creationId xmlns:a16="http://schemas.microsoft.com/office/drawing/2014/main" id="{57D132AD-F242-BAB2-0E54-BB8DBACE3F23}"/>
              </a:ext>
            </a:extLst>
          </p:cNvPr>
          <p:cNvSpPr>
            <a:spLocks noGrp="1"/>
          </p:cNvSpPr>
          <p:nvPr>
            <p:ph type="body" idx="1"/>
          </p:nvPr>
        </p:nvSpPr>
        <p:spPr>
          <a:xfrm>
            <a:off x="685799" y="1251857"/>
            <a:ext cx="10131428" cy="4385924"/>
          </a:xfrm>
        </p:spPr>
        <p:txBody>
          <a:bodyPr>
            <a:normAutofit lnSpcReduction="10000"/>
          </a:bodyPr>
          <a:lstStyle/>
          <a:p>
            <a:pPr>
              <a:buNone/>
            </a:pPr>
            <a:r>
              <a:rPr lang="en-US" dirty="0">
                <a:solidFill>
                  <a:schemeClr val="accent1">
                    <a:lumMod val="20000"/>
                    <a:lumOff val="80000"/>
                  </a:schemeClr>
                </a:solidFill>
              </a:rPr>
              <a:t>This report presents a detailed security assessment of the </a:t>
            </a:r>
            <a:r>
              <a:rPr lang="en-US" i="1" dirty="0" err="1">
                <a:solidFill>
                  <a:schemeClr val="accent1">
                    <a:lumMod val="20000"/>
                    <a:lumOff val="80000"/>
                  </a:schemeClr>
                </a:solidFill>
              </a:rPr>
              <a:t>EvilBox</a:t>
            </a:r>
            <a:r>
              <a:rPr lang="en-US" i="1" dirty="0">
                <a:solidFill>
                  <a:schemeClr val="accent1">
                    <a:lumMod val="20000"/>
                    <a:lumOff val="80000"/>
                  </a:schemeClr>
                </a:solidFill>
              </a:rPr>
              <a:t>: One</a:t>
            </a:r>
            <a:r>
              <a:rPr lang="en-US" dirty="0">
                <a:solidFill>
                  <a:schemeClr val="accent1">
                    <a:lumMod val="20000"/>
                    <a:lumOff val="80000"/>
                  </a:schemeClr>
                </a:solidFill>
              </a:rPr>
              <a:t> virtual machine from </a:t>
            </a:r>
            <a:r>
              <a:rPr lang="en-US" dirty="0" err="1">
                <a:solidFill>
                  <a:schemeClr val="accent1">
                    <a:lumMod val="20000"/>
                    <a:lumOff val="80000"/>
                  </a:schemeClr>
                </a:solidFill>
              </a:rPr>
              <a:t>VulnHub</a:t>
            </a:r>
            <a:r>
              <a:rPr lang="en-US" dirty="0">
                <a:solidFill>
                  <a:schemeClr val="accent1">
                    <a:lumMod val="20000"/>
                    <a:lumOff val="80000"/>
                  </a:schemeClr>
                </a:solidFill>
              </a:rPr>
              <a:t>, conducted in a controlled lab environment. The objective of this exercise was to simulate a real-world penetration testing scenario by identifying vulnerabilities, exploiting misconfigurations and ultimately gaining unauthorized access to the system.</a:t>
            </a:r>
          </a:p>
          <a:p>
            <a:pPr>
              <a:buNone/>
            </a:pPr>
            <a:r>
              <a:rPr lang="en-US" dirty="0">
                <a:solidFill>
                  <a:schemeClr val="accent1">
                    <a:lumMod val="20000"/>
                    <a:lumOff val="80000"/>
                  </a:schemeClr>
                </a:solidFill>
              </a:rPr>
              <a:t>The assessment follows a structured methodology, including reconnaissance, enumeration, exploitation and post-exploitation. Throughout the process, various tools and techniques were used to uncover weaknesses within the system and demonstrate how an attacker could leverage them to escalate privileges.</a:t>
            </a:r>
          </a:p>
          <a:p>
            <a:pPr>
              <a:buNone/>
            </a:pPr>
            <a:r>
              <a:rPr lang="en-US" dirty="0">
                <a:solidFill>
                  <a:schemeClr val="accent1">
                    <a:lumMod val="20000"/>
                    <a:lumOff val="80000"/>
                  </a:schemeClr>
                </a:solidFill>
              </a:rPr>
              <a:t>This project highlights the importance of proper system hardening, secure configurations and continuous security testing to mitigate potential threats in real-world environments.</a:t>
            </a:r>
          </a:p>
          <a:p>
            <a:r>
              <a:rPr lang="en-US"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Created by: ryan brian </a:t>
            </a:r>
            <a:r>
              <a:rPr lang="en-US" dirty="0" err="1">
                <a:solidFill>
                  <a:srgbClr val="00B050"/>
                </a:solidFill>
                <a:latin typeface="ADLaM Display" panose="02010000000000000000" pitchFamily="2" charset="0"/>
                <a:ea typeface="ADLaM Display" panose="02010000000000000000" pitchFamily="2" charset="0"/>
                <a:cs typeface="ADLaM Display" panose="02010000000000000000" pitchFamily="2" charset="0"/>
              </a:rPr>
              <a:t>odhiambo</a:t>
            </a:r>
            <a:endParaRPr lang="en-KE" dirty="0">
              <a:solidFill>
                <a:srgbClr val="00B050"/>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679991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B98D3-6B73-C4AE-77F8-FB9EDC067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B1922-DBF3-B819-BD94-B41F96A1E217}"/>
              </a:ext>
            </a:extLst>
          </p:cNvPr>
          <p:cNvSpPr>
            <a:spLocks noGrp="1"/>
          </p:cNvSpPr>
          <p:nvPr>
            <p:ph type="title"/>
          </p:nvPr>
        </p:nvSpPr>
        <p:spPr>
          <a:xfrm>
            <a:off x="685800" y="609601"/>
            <a:ext cx="3680885" cy="1328056"/>
          </a:xfrm>
        </p:spPr>
        <p:txBody>
          <a:bodyPr/>
          <a:lstStyle/>
          <a:p>
            <a:r>
              <a:rPr lang="en-US" dirty="0">
                <a:solidFill>
                  <a:srgbClr val="00B050"/>
                </a:solidFill>
                <a:latin typeface="ADLaM Display" panose="020F0502020204030204" pitchFamily="2" charset="0"/>
                <a:ea typeface="ADLaM Display" panose="020F0502020204030204" pitchFamily="2" charset="0"/>
                <a:cs typeface="ADLaM Display" panose="020F0502020204030204" pitchFamily="2" charset="0"/>
              </a:rPr>
              <a:t>Host discovery</a:t>
            </a:r>
            <a:endParaRPr lang="en-KE" dirty="0">
              <a:solidFill>
                <a:srgbClr val="00B050"/>
              </a:solidFill>
              <a:latin typeface="ADLaM Display" panose="020F0502020204030204" pitchFamily="2" charset="0"/>
              <a:ea typeface="ADLaM Display" panose="020F0502020204030204" pitchFamily="2" charset="0"/>
              <a:cs typeface="ADLaM Display" panose="020F0502020204030204" pitchFamily="2" charset="0"/>
            </a:endParaRPr>
          </a:p>
        </p:txBody>
      </p:sp>
      <p:pic>
        <p:nvPicPr>
          <p:cNvPr id="6" name="Content Placeholder 5">
            <a:extLst>
              <a:ext uri="{FF2B5EF4-FFF2-40B4-BE49-F238E27FC236}">
                <a16:creationId xmlns:a16="http://schemas.microsoft.com/office/drawing/2014/main" id="{511731A8-41FB-0596-D197-7D7E16E72D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8200" y="1752600"/>
            <a:ext cx="6988629" cy="3537857"/>
          </a:xfrm>
          <a:prstGeom prst="rect">
            <a:avLst/>
          </a:prstGeom>
        </p:spPr>
      </p:pic>
      <p:sp>
        <p:nvSpPr>
          <p:cNvPr id="4" name="Text Placeholder 3">
            <a:extLst>
              <a:ext uri="{FF2B5EF4-FFF2-40B4-BE49-F238E27FC236}">
                <a16:creationId xmlns:a16="http://schemas.microsoft.com/office/drawing/2014/main" id="{F577B86D-BDA1-3FF7-9090-1074FC4F505F}"/>
              </a:ext>
            </a:extLst>
          </p:cNvPr>
          <p:cNvSpPr>
            <a:spLocks noGrp="1"/>
          </p:cNvSpPr>
          <p:nvPr>
            <p:ph type="body" sz="half" idx="2"/>
          </p:nvPr>
        </p:nvSpPr>
        <p:spPr>
          <a:xfrm>
            <a:off x="685800" y="1937657"/>
            <a:ext cx="3680885" cy="4310742"/>
          </a:xfrm>
        </p:spPr>
        <p:txBody>
          <a:bodyPr/>
          <a:lstStyle/>
          <a:p>
            <a:r>
              <a:rPr lang="en-US" dirty="0"/>
              <a:t>Running an ARP scan against the /16 subnet revealed only 4 active hosts, one of which is our target at 192.168.1.136.</a:t>
            </a:r>
          </a:p>
          <a:p>
            <a:r>
              <a:rPr lang="en-US" dirty="0"/>
              <a:t>Interestingly, two different IPs share the same Intel MAC address  this is worth investigating further, as it could indicate network spoofing or a misconfigured multi-IP device.</a:t>
            </a:r>
          </a:p>
        </p:txBody>
      </p:sp>
    </p:spTree>
    <p:extLst>
      <p:ext uri="{BB962C8B-B14F-4D97-AF65-F5344CB8AC3E}">
        <p14:creationId xmlns:p14="http://schemas.microsoft.com/office/powerpoint/2010/main" val="1649995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61667-251F-0DE2-B067-10919BD9FB93}"/>
              </a:ext>
            </a:extLst>
          </p:cNvPr>
          <p:cNvSpPr>
            <a:spLocks noGrp="1"/>
          </p:cNvSpPr>
          <p:nvPr>
            <p:ph type="title"/>
          </p:nvPr>
        </p:nvSpPr>
        <p:spPr>
          <a:xfrm>
            <a:off x="685800" y="609601"/>
            <a:ext cx="3680885" cy="1371600"/>
          </a:xfrm>
        </p:spPr>
        <p:txBody>
          <a:bodyPr/>
          <a:lstStyle/>
          <a:p>
            <a:pPr>
              <a:lnSpc>
                <a:spcPts val="2400"/>
              </a:lnSpc>
              <a:spcBef>
                <a:spcPts val="2400"/>
              </a:spcBef>
              <a:spcAft>
                <a:spcPts val="1200"/>
              </a:spcAft>
            </a:pPr>
            <a:r>
              <a:rPr lang="en-US" b="1">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Vulnerability Scanning – Nmap Script Scan</a:t>
            </a:r>
            <a:br>
              <a:rPr lang="en-US" b="1">
                <a:solidFill>
                  <a:srgbClr val="F9FAFB"/>
                </a:solidFill>
                <a:effectLst/>
                <a:latin typeface="quote-cjk-patch"/>
              </a:rPr>
            </a:br>
            <a:endParaRPr lang="en-KE" dirty="0"/>
          </a:p>
        </p:txBody>
      </p:sp>
      <p:pic>
        <p:nvPicPr>
          <p:cNvPr id="6" name="Content Placeholder 5">
            <a:extLst>
              <a:ext uri="{FF2B5EF4-FFF2-40B4-BE49-F238E27FC236}">
                <a16:creationId xmlns:a16="http://schemas.microsoft.com/office/drawing/2014/main" id="{914786C7-1058-1AC0-BE67-478BA827AB53}"/>
              </a:ext>
            </a:extLst>
          </p:cNvPr>
          <p:cNvPicPr>
            <a:picLocks noGrp="1" noChangeAspect="1"/>
          </p:cNvPicPr>
          <p:nvPr>
            <p:ph idx="1"/>
          </p:nvPr>
        </p:nvPicPr>
        <p:blipFill>
          <a:blip r:embed="rId2"/>
          <a:stretch>
            <a:fillRect/>
          </a:stretch>
        </p:blipFill>
        <p:spPr>
          <a:xfrm>
            <a:off x="5056186" y="609602"/>
            <a:ext cx="7005185" cy="4931228"/>
          </a:xfrm>
          <a:prstGeom prst="rect">
            <a:avLst/>
          </a:prstGeom>
        </p:spPr>
      </p:pic>
      <p:sp>
        <p:nvSpPr>
          <p:cNvPr id="4" name="Text Placeholder 3">
            <a:extLst>
              <a:ext uri="{FF2B5EF4-FFF2-40B4-BE49-F238E27FC236}">
                <a16:creationId xmlns:a16="http://schemas.microsoft.com/office/drawing/2014/main" id="{0B8465C8-44AF-57FB-AD7D-B0A352F26852}"/>
              </a:ext>
            </a:extLst>
          </p:cNvPr>
          <p:cNvSpPr>
            <a:spLocks noGrp="1"/>
          </p:cNvSpPr>
          <p:nvPr>
            <p:ph type="body" sz="half" idx="2"/>
          </p:nvPr>
        </p:nvSpPr>
        <p:spPr>
          <a:xfrm>
            <a:off x="685799" y="2150533"/>
            <a:ext cx="3680885" cy="3640668"/>
          </a:xfrm>
        </p:spPr>
        <p:txBody>
          <a:bodyPr/>
          <a:lstStyle/>
          <a:p>
            <a:r>
              <a:rPr lang="en-US" b="0" i="1" dirty="0">
                <a:solidFill>
                  <a:srgbClr val="F9FAFB"/>
                </a:solidFill>
                <a:effectLst/>
                <a:latin typeface="quote-cjk-patch"/>
              </a:rPr>
              <a:t>After the ARP discovery scan identified the target at </a:t>
            </a:r>
            <a:r>
              <a:rPr lang="en-US" b="0" i="0" dirty="0">
                <a:solidFill>
                  <a:srgbClr val="F9FAFB"/>
                </a:solidFill>
                <a:effectLst/>
                <a:latin typeface="Menlo"/>
              </a:rPr>
              <a:t>192.168.1.136</a:t>
            </a:r>
            <a:r>
              <a:rPr lang="en-US" b="0" i="1" dirty="0">
                <a:solidFill>
                  <a:srgbClr val="F9FAFB"/>
                </a:solidFill>
                <a:effectLst/>
                <a:latin typeface="quote-cjk-patch"/>
              </a:rPr>
              <a:t>, we ran a vulnerability scan using Nmap's </a:t>
            </a:r>
            <a:r>
              <a:rPr lang="en-US" b="0" i="0" dirty="0">
                <a:solidFill>
                  <a:srgbClr val="F9FAFB"/>
                </a:solidFill>
                <a:effectLst/>
                <a:latin typeface="Menlo"/>
              </a:rPr>
              <a:t>--script vuln</a:t>
            </a:r>
            <a:r>
              <a:rPr lang="en-US" b="0" i="1" dirty="0">
                <a:solidFill>
                  <a:srgbClr val="F9FAFB"/>
                </a:solidFill>
                <a:effectLst/>
                <a:latin typeface="quote-cjk-patch"/>
              </a:rPr>
              <a:t> option.</a:t>
            </a:r>
            <a:br>
              <a:rPr lang="en-US" b="0" i="1" dirty="0">
                <a:solidFill>
                  <a:srgbClr val="F9FAFB"/>
                </a:solidFill>
                <a:effectLst/>
                <a:latin typeface="quote-cjk-patch"/>
              </a:rPr>
            </a:br>
            <a:r>
              <a:rPr lang="en-US" b="0" i="1" dirty="0">
                <a:solidFill>
                  <a:srgbClr val="F9FAFB"/>
                </a:solidFill>
                <a:effectLst/>
                <a:latin typeface="quote-cjk-patch"/>
              </a:rPr>
              <a:t>The scan revealed only two open ports: SSH on port 22 and HTTP on port 80 – a very limited attack surface.</a:t>
            </a:r>
            <a:endParaRPr lang="en-KE" dirty="0"/>
          </a:p>
        </p:txBody>
      </p:sp>
    </p:spTree>
    <p:extLst>
      <p:ext uri="{BB962C8B-B14F-4D97-AF65-F5344CB8AC3E}">
        <p14:creationId xmlns:p14="http://schemas.microsoft.com/office/powerpoint/2010/main" val="3337217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D5EA0-C025-7C3F-F5DA-CC36BB0C0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25C800-B1E5-58FC-0F3B-5BBCF731C5BA}"/>
              </a:ext>
            </a:extLst>
          </p:cNvPr>
          <p:cNvSpPr>
            <a:spLocks noGrp="1"/>
          </p:cNvSpPr>
          <p:nvPr>
            <p:ph type="title"/>
          </p:nvPr>
        </p:nvSpPr>
        <p:spPr>
          <a:xfrm>
            <a:off x="685800" y="261257"/>
            <a:ext cx="3680885" cy="1132114"/>
          </a:xfrm>
        </p:spPr>
        <p:txBody>
          <a:bodyPr>
            <a:normAutofit fontScale="90000"/>
          </a:bodyPr>
          <a:lstStyle/>
          <a:p>
            <a:r>
              <a:rPr lang="en-US"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Directory enumeration using </a:t>
            </a:r>
            <a:r>
              <a:rPr lang="en-US" dirty="0" err="1">
                <a:solidFill>
                  <a:srgbClr val="00B050"/>
                </a:solidFill>
                <a:latin typeface="ADLaM Display" panose="02010000000000000000" pitchFamily="2" charset="0"/>
                <a:ea typeface="ADLaM Display" panose="02010000000000000000" pitchFamily="2" charset="0"/>
                <a:cs typeface="ADLaM Display" panose="02010000000000000000" pitchFamily="2" charset="0"/>
              </a:rPr>
              <a:t>gobuster</a:t>
            </a:r>
            <a:r>
              <a:rPr lang="en-US"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a:t>
            </a:r>
            <a:endParaRPr lang="en-KE" dirty="0">
              <a:solidFill>
                <a:srgbClr val="00B050"/>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6" name="Content Placeholder 5">
            <a:extLst>
              <a:ext uri="{FF2B5EF4-FFF2-40B4-BE49-F238E27FC236}">
                <a16:creationId xmlns:a16="http://schemas.microsoft.com/office/drawing/2014/main" id="{0610E98E-6100-F5F0-264D-B98E238CE1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26429" y="725811"/>
            <a:ext cx="7173685" cy="4793246"/>
          </a:xfrm>
          <a:prstGeom prst="rect">
            <a:avLst/>
          </a:prstGeom>
        </p:spPr>
      </p:pic>
      <p:sp>
        <p:nvSpPr>
          <p:cNvPr id="4" name="Text Placeholder 3">
            <a:extLst>
              <a:ext uri="{FF2B5EF4-FFF2-40B4-BE49-F238E27FC236}">
                <a16:creationId xmlns:a16="http://schemas.microsoft.com/office/drawing/2014/main" id="{245CDA06-56A2-6B65-AFC3-FE8FA5BF6BE8}"/>
              </a:ext>
            </a:extLst>
          </p:cNvPr>
          <p:cNvSpPr>
            <a:spLocks noGrp="1"/>
          </p:cNvSpPr>
          <p:nvPr>
            <p:ph type="body" sz="half" idx="2"/>
          </p:nvPr>
        </p:nvSpPr>
        <p:spPr>
          <a:xfrm>
            <a:off x="685800" y="1393371"/>
            <a:ext cx="3680885" cy="4397830"/>
          </a:xfrm>
        </p:spPr>
        <p:txBody>
          <a:bodyPr/>
          <a:lstStyle/>
          <a:p>
            <a:r>
              <a:rPr lang="en-US" dirty="0"/>
              <a:t>The scan successfully discovered a </a:t>
            </a:r>
            <a:r>
              <a:rPr lang="en-US" b="1" dirty="0"/>
              <a:t>hidden directory </a:t>
            </a:r>
            <a:r>
              <a:rPr lang="en-US" b="1" dirty="0">
                <a:solidFill>
                  <a:srgbClr val="C00000"/>
                </a:solidFill>
              </a:rPr>
              <a:t>(</a:t>
            </a:r>
            <a:r>
              <a:rPr lang="en-US" b="1" dirty="0">
                <a:solidFill>
                  <a:srgbClr val="C00000"/>
                </a:solidFill>
                <a:latin typeface="Courier New" panose="02070309020205020404" pitchFamily="49" charset="0"/>
              </a:rPr>
              <a:t>/secret/</a:t>
            </a:r>
            <a:r>
              <a:rPr lang="en-US" b="1" dirty="0">
                <a:solidFill>
                  <a:srgbClr val="C00000"/>
                </a:solidFill>
              </a:rPr>
              <a:t>)</a:t>
            </a:r>
            <a:r>
              <a:rPr lang="en-US" dirty="0">
                <a:solidFill>
                  <a:srgbClr val="C00000"/>
                </a:solidFill>
              </a:rPr>
              <a:t> </a:t>
            </a:r>
            <a:r>
              <a:rPr lang="en-US" dirty="0"/>
              <a:t>and confirmed the presence of </a:t>
            </a:r>
            <a:r>
              <a:rPr lang="en-US" b="1" dirty="0"/>
              <a:t>restricted sensitive files</a:t>
            </a:r>
            <a:r>
              <a:rPr lang="en-US" dirty="0"/>
              <a:t>, indicating potential entry points for further enumeration and exploitation.</a:t>
            </a:r>
            <a:endParaRPr lang="en-KE" dirty="0"/>
          </a:p>
        </p:txBody>
      </p:sp>
    </p:spTree>
    <p:extLst>
      <p:ext uri="{BB962C8B-B14F-4D97-AF65-F5344CB8AC3E}">
        <p14:creationId xmlns:p14="http://schemas.microsoft.com/office/powerpoint/2010/main" val="2628765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1AD4C-51DB-C337-61AD-94C0B9DC8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871B3-7449-4188-E849-523D68C26393}"/>
              </a:ext>
            </a:extLst>
          </p:cNvPr>
          <p:cNvSpPr>
            <a:spLocks noGrp="1"/>
          </p:cNvSpPr>
          <p:nvPr>
            <p:ph type="title"/>
          </p:nvPr>
        </p:nvSpPr>
        <p:spPr>
          <a:xfrm>
            <a:off x="685800" y="609601"/>
            <a:ext cx="3680885" cy="1426028"/>
          </a:xfrm>
        </p:spPr>
        <p:txBody>
          <a:bodyPr/>
          <a:lstStyle/>
          <a:p>
            <a:r>
              <a:rPr lang="en-US"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Directory enumeration using </a:t>
            </a:r>
            <a:r>
              <a:rPr lang="en-US" dirty="0" err="1">
                <a:solidFill>
                  <a:srgbClr val="00B050"/>
                </a:solidFill>
                <a:latin typeface="ADLaM Display" panose="02010000000000000000" pitchFamily="2" charset="0"/>
                <a:ea typeface="ADLaM Display" panose="02010000000000000000" pitchFamily="2" charset="0"/>
                <a:cs typeface="ADLaM Display" panose="02010000000000000000" pitchFamily="2" charset="0"/>
              </a:rPr>
              <a:t>dirb</a:t>
            </a:r>
            <a:r>
              <a:rPr lang="en-US"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a:t>
            </a:r>
            <a:endParaRPr lang="en-KE" dirty="0">
              <a:solidFill>
                <a:srgbClr val="00B050"/>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6" name="Content Placeholder 5">
            <a:extLst>
              <a:ext uri="{FF2B5EF4-FFF2-40B4-BE49-F238E27FC236}">
                <a16:creationId xmlns:a16="http://schemas.microsoft.com/office/drawing/2014/main" id="{F6DBA80A-B92B-F93C-6E28-73166BC43F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08903" y="1333733"/>
            <a:ext cx="4647619" cy="3733333"/>
          </a:xfrm>
          <a:prstGeom prst="rect">
            <a:avLst/>
          </a:prstGeom>
        </p:spPr>
      </p:pic>
      <p:sp>
        <p:nvSpPr>
          <p:cNvPr id="4" name="Text Placeholder 3">
            <a:extLst>
              <a:ext uri="{FF2B5EF4-FFF2-40B4-BE49-F238E27FC236}">
                <a16:creationId xmlns:a16="http://schemas.microsoft.com/office/drawing/2014/main" id="{0AABABA7-CC2E-B04E-934D-61BD5E2FDF97}"/>
              </a:ext>
            </a:extLst>
          </p:cNvPr>
          <p:cNvSpPr>
            <a:spLocks noGrp="1"/>
          </p:cNvSpPr>
          <p:nvPr>
            <p:ph type="body" sz="half" idx="2"/>
          </p:nvPr>
        </p:nvSpPr>
        <p:spPr>
          <a:xfrm>
            <a:off x="685800" y="2035629"/>
            <a:ext cx="3680885" cy="3755572"/>
          </a:xfrm>
        </p:spPr>
        <p:txBody>
          <a:bodyPr/>
          <a:lstStyle/>
          <a:p>
            <a:r>
              <a:rPr lang="en-US" b="0" i="0" dirty="0">
                <a:solidFill>
                  <a:srgbClr val="F9FAFB"/>
                </a:solidFill>
                <a:effectLst/>
                <a:latin typeface="quote-cjk-patch"/>
              </a:rPr>
              <a:t>While further enumerating web directories with DIRB, we discovered an unusual file: </a:t>
            </a:r>
            <a:r>
              <a:rPr lang="en-US" b="0" i="0" dirty="0" err="1">
                <a:solidFill>
                  <a:srgbClr val="FF0000"/>
                </a:solidFill>
                <a:effectLst/>
                <a:latin typeface="Menlo"/>
              </a:rPr>
              <a:t>evil.php</a:t>
            </a:r>
            <a:r>
              <a:rPr lang="en-US" b="0" i="0" dirty="0">
                <a:solidFill>
                  <a:srgbClr val="FF0000"/>
                </a:solidFill>
                <a:effectLst/>
                <a:latin typeface="quote-cjk-patch"/>
              </a:rPr>
              <a:t> </a:t>
            </a:r>
            <a:r>
              <a:rPr lang="en-US" b="0" i="0" dirty="0">
                <a:solidFill>
                  <a:srgbClr val="F9FAFB"/>
                </a:solidFill>
                <a:effectLst/>
                <a:latin typeface="quote-cjk-patch"/>
              </a:rPr>
              <a:t>inside the </a:t>
            </a:r>
            <a:r>
              <a:rPr lang="en-US" b="0" i="0" dirty="0">
                <a:solidFill>
                  <a:srgbClr val="FF0000"/>
                </a:solidFill>
                <a:effectLst/>
                <a:latin typeface="Menlo"/>
              </a:rPr>
              <a:t>/secret/</a:t>
            </a:r>
            <a:r>
              <a:rPr lang="en-US" b="0" i="0" dirty="0">
                <a:solidFill>
                  <a:srgbClr val="FF0000"/>
                </a:solidFill>
                <a:effectLst/>
                <a:latin typeface="quote-cjk-patch"/>
              </a:rPr>
              <a:t> folder</a:t>
            </a:r>
            <a:r>
              <a:rPr lang="en-US" b="0" i="0" dirty="0">
                <a:solidFill>
                  <a:srgbClr val="F9FAFB"/>
                </a:solidFill>
                <a:effectLst/>
                <a:latin typeface="quote-cjk-patch"/>
              </a:rPr>
              <a:t>.</a:t>
            </a:r>
            <a:br>
              <a:rPr lang="en-US" dirty="0"/>
            </a:br>
            <a:r>
              <a:rPr lang="en-US" b="0" i="0" dirty="0">
                <a:solidFill>
                  <a:srgbClr val="F9FAFB"/>
                </a:solidFill>
                <a:effectLst/>
                <a:latin typeface="quote-cjk-patch"/>
              </a:rPr>
              <a:t>The server returned a 200 OK status, but the response size was zero bytes—indicating the script executes silently.</a:t>
            </a:r>
            <a:br>
              <a:rPr lang="en-US" dirty="0"/>
            </a:br>
            <a:r>
              <a:rPr lang="en-US" b="0" i="0" dirty="0">
                <a:solidFill>
                  <a:srgbClr val="F9FAFB"/>
                </a:solidFill>
                <a:effectLst/>
                <a:latin typeface="quote-cjk-patch"/>
              </a:rPr>
              <a:t>In real-world </a:t>
            </a:r>
            <a:r>
              <a:rPr lang="en-US" b="0" i="0" dirty="0" err="1">
                <a:solidFill>
                  <a:srgbClr val="F9FAFB"/>
                </a:solidFill>
                <a:effectLst/>
                <a:latin typeface="quote-cjk-patch"/>
              </a:rPr>
              <a:t>pentests</a:t>
            </a:r>
            <a:r>
              <a:rPr lang="en-US" b="0" i="0" dirty="0">
                <a:solidFill>
                  <a:srgbClr val="F9FAFB"/>
                </a:solidFill>
                <a:effectLst/>
                <a:latin typeface="quote-cjk-patch"/>
              </a:rPr>
              <a:t>, this is often a sign of a web shell or command execution backdoor.</a:t>
            </a:r>
            <a:br>
              <a:rPr lang="en-US" dirty="0"/>
            </a:br>
            <a:endParaRPr lang="en-KE" dirty="0"/>
          </a:p>
        </p:txBody>
      </p:sp>
    </p:spTree>
    <p:extLst>
      <p:ext uri="{BB962C8B-B14F-4D97-AF65-F5344CB8AC3E}">
        <p14:creationId xmlns:p14="http://schemas.microsoft.com/office/powerpoint/2010/main" val="1305804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EBC2E-696A-643F-30AB-555E540F5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159FF-BC99-9966-2BE5-AC95890CE8CA}"/>
              </a:ext>
            </a:extLst>
          </p:cNvPr>
          <p:cNvSpPr>
            <a:spLocks noGrp="1"/>
          </p:cNvSpPr>
          <p:nvPr>
            <p:ph type="title"/>
          </p:nvPr>
        </p:nvSpPr>
        <p:spPr>
          <a:xfrm>
            <a:off x="577698" y="283029"/>
            <a:ext cx="3680885" cy="1251857"/>
          </a:xfrm>
        </p:spPr>
        <p:txBody>
          <a:bodyPr>
            <a:normAutofit fontScale="90000"/>
          </a:bodyPr>
          <a:lstStyle/>
          <a:p>
            <a:pPr>
              <a:lnSpc>
                <a:spcPts val="2400"/>
              </a:lnSpc>
              <a:spcBef>
                <a:spcPts val="2400"/>
              </a:spcBef>
              <a:spcAft>
                <a:spcPts val="1200"/>
              </a:spcAft>
            </a:pPr>
            <a:r>
              <a:rPr lang="en-US" b="1" dirty="0">
                <a:solidFill>
                  <a:srgbClr val="F9FAFB"/>
                </a:solidFill>
                <a:effectLst/>
                <a:latin typeface="quote-cjk-patch"/>
              </a:rPr>
              <a:t> </a:t>
            </a:r>
            <a:r>
              <a:rPr lang="en-US" b="1" dirty="0">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Parameter Fuzzing – Discovering LFI on </a:t>
            </a:r>
            <a:r>
              <a:rPr lang="en-US" b="1" dirty="0" err="1">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evil.php</a:t>
            </a:r>
            <a:br>
              <a:rPr lang="en-US" b="1" dirty="0">
                <a:solidFill>
                  <a:srgbClr val="F9FAFB"/>
                </a:solidFill>
                <a:effectLst/>
                <a:latin typeface="quote-cjk-patch"/>
              </a:rPr>
            </a:br>
            <a:endParaRPr lang="en-KE" dirty="0"/>
          </a:p>
        </p:txBody>
      </p:sp>
      <p:pic>
        <p:nvPicPr>
          <p:cNvPr id="6" name="Content Placeholder 5">
            <a:extLst>
              <a:ext uri="{FF2B5EF4-FFF2-40B4-BE49-F238E27FC236}">
                <a16:creationId xmlns:a16="http://schemas.microsoft.com/office/drawing/2014/main" id="{474BCB63-406B-E93E-0D9F-A9EEB3CAE1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57699" y="206829"/>
            <a:ext cx="7734301" cy="5257799"/>
          </a:xfrm>
          <a:prstGeom prst="rect">
            <a:avLst/>
          </a:prstGeom>
        </p:spPr>
      </p:pic>
      <p:sp>
        <p:nvSpPr>
          <p:cNvPr id="4" name="Text Placeholder 3">
            <a:extLst>
              <a:ext uri="{FF2B5EF4-FFF2-40B4-BE49-F238E27FC236}">
                <a16:creationId xmlns:a16="http://schemas.microsoft.com/office/drawing/2014/main" id="{2814DEC8-6E2D-DDAC-7D5B-DDCC6FE7A1FB}"/>
              </a:ext>
            </a:extLst>
          </p:cNvPr>
          <p:cNvSpPr>
            <a:spLocks noGrp="1"/>
          </p:cNvSpPr>
          <p:nvPr>
            <p:ph type="body" sz="half" idx="2"/>
          </p:nvPr>
        </p:nvSpPr>
        <p:spPr>
          <a:xfrm>
            <a:off x="555171" y="1632857"/>
            <a:ext cx="3680885" cy="4544180"/>
          </a:xfrm>
        </p:spPr>
        <p:txBody>
          <a:bodyPr>
            <a:normAutofit/>
          </a:bodyPr>
          <a:lstStyle/>
          <a:p>
            <a:r>
              <a:rPr lang="en-US" dirty="0"/>
              <a:t>After discovering </a:t>
            </a:r>
            <a:r>
              <a:rPr lang="en-US" dirty="0" err="1"/>
              <a:t>evil.php</a:t>
            </a:r>
            <a:r>
              <a:rPr lang="en-US" dirty="0"/>
              <a:t>, we used FFUF to fuzz for valid parameters. The wordlist attempted common parameter names like </a:t>
            </a:r>
            <a:r>
              <a:rPr lang="en-US" dirty="0" err="1"/>
              <a:t>cmd</a:t>
            </a:r>
            <a:r>
              <a:rPr lang="en-US" dirty="0"/>
              <a:t>, exec, file, page, and command.</a:t>
            </a:r>
          </a:p>
          <a:p>
            <a:r>
              <a:rPr lang="en-US" dirty="0"/>
              <a:t>Only the parameter command returned a non-zero response – and it successfully read /</a:t>
            </a:r>
            <a:r>
              <a:rPr lang="en-US" dirty="0" err="1"/>
              <a:t>etc</a:t>
            </a:r>
            <a:r>
              <a:rPr lang="en-US" dirty="0"/>
              <a:t>/passwd via path traversal.</a:t>
            </a:r>
          </a:p>
          <a:p>
            <a:r>
              <a:rPr lang="en-US" dirty="0"/>
              <a:t>This confirms a Local File Inclusion vulnerability.</a:t>
            </a:r>
          </a:p>
          <a:p>
            <a:r>
              <a:rPr lang="en-US" dirty="0"/>
              <a:t>On </a:t>
            </a:r>
            <a:r>
              <a:rPr lang="en-US" dirty="0" err="1"/>
              <a:t>EvilBox</a:t>
            </a:r>
            <a:r>
              <a:rPr lang="en-US" dirty="0"/>
              <a:t>: ONE, this could have been used to read the user flag or source code before obtaining SSH access. Further exploitation might lead to Remote Code Execution if we can write to logs or upload files</a:t>
            </a:r>
            <a:endParaRPr lang="en-KE" dirty="0"/>
          </a:p>
        </p:txBody>
      </p:sp>
    </p:spTree>
    <p:extLst>
      <p:ext uri="{BB962C8B-B14F-4D97-AF65-F5344CB8AC3E}">
        <p14:creationId xmlns:p14="http://schemas.microsoft.com/office/powerpoint/2010/main" val="907869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8CE5D-D193-CFEB-C78F-0CBEC3322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B6BB9-951B-1600-89B8-4FEC7150E119}"/>
              </a:ext>
            </a:extLst>
          </p:cNvPr>
          <p:cNvSpPr>
            <a:spLocks noGrp="1"/>
          </p:cNvSpPr>
          <p:nvPr>
            <p:ph type="title"/>
          </p:nvPr>
        </p:nvSpPr>
        <p:spPr>
          <a:xfrm>
            <a:off x="816429" y="718144"/>
            <a:ext cx="3680885" cy="1371600"/>
          </a:xfrm>
        </p:spPr>
        <p:txBody>
          <a:bodyPr/>
          <a:lstStyle/>
          <a:p>
            <a:pPr>
              <a:lnSpc>
                <a:spcPts val="2400"/>
              </a:lnSpc>
              <a:spcBef>
                <a:spcPts val="2400"/>
              </a:spcBef>
              <a:spcAft>
                <a:spcPts val="1200"/>
              </a:spcAft>
            </a:pPr>
            <a:r>
              <a:rPr lang="fr-FR" b="1" dirty="0">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LFI Exploitation – Reading /</a:t>
            </a:r>
            <a:r>
              <a:rPr lang="fr-FR" b="1" dirty="0" err="1">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etc</a:t>
            </a:r>
            <a:r>
              <a:rPr lang="fr-FR" b="1" dirty="0">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a:t>
            </a:r>
            <a:r>
              <a:rPr lang="fr-FR" b="1" dirty="0" err="1">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passwd</a:t>
            </a:r>
            <a:br>
              <a:rPr lang="fr-FR" b="1" dirty="0">
                <a:solidFill>
                  <a:srgbClr val="F9FAFB"/>
                </a:solidFill>
                <a:effectLst/>
                <a:latin typeface="quote-cjk-patch"/>
              </a:rPr>
            </a:br>
            <a:endParaRPr lang="en-KE" dirty="0"/>
          </a:p>
        </p:txBody>
      </p:sp>
      <p:pic>
        <p:nvPicPr>
          <p:cNvPr id="6" name="Content Placeholder 5">
            <a:extLst>
              <a:ext uri="{FF2B5EF4-FFF2-40B4-BE49-F238E27FC236}">
                <a16:creationId xmlns:a16="http://schemas.microsoft.com/office/drawing/2014/main" id="{A6AC322A-E533-9954-6D82-00A4121C2C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06546" y="413344"/>
            <a:ext cx="6169025" cy="5073367"/>
          </a:xfrm>
          <a:prstGeom prst="rect">
            <a:avLst/>
          </a:prstGeom>
        </p:spPr>
      </p:pic>
      <p:sp>
        <p:nvSpPr>
          <p:cNvPr id="4" name="Text Placeholder 3">
            <a:extLst>
              <a:ext uri="{FF2B5EF4-FFF2-40B4-BE49-F238E27FC236}">
                <a16:creationId xmlns:a16="http://schemas.microsoft.com/office/drawing/2014/main" id="{25E40D27-4C6C-77A6-9FB7-392FA3FB40B5}"/>
              </a:ext>
            </a:extLst>
          </p:cNvPr>
          <p:cNvSpPr>
            <a:spLocks noGrp="1"/>
          </p:cNvSpPr>
          <p:nvPr>
            <p:ph type="body" sz="half" idx="2"/>
          </p:nvPr>
        </p:nvSpPr>
        <p:spPr>
          <a:xfrm>
            <a:off x="816428" y="1981200"/>
            <a:ext cx="3680885" cy="3951514"/>
          </a:xfrm>
        </p:spPr>
        <p:txBody>
          <a:bodyPr>
            <a:normAutofit/>
          </a:bodyPr>
          <a:lstStyle/>
          <a:p>
            <a:r>
              <a:rPr lang="en-US" dirty="0"/>
              <a:t>Using the LFI vulnerability on </a:t>
            </a:r>
            <a:r>
              <a:rPr lang="en-US" dirty="0" err="1"/>
              <a:t>evil.php</a:t>
            </a:r>
            <a:r>
              <a:rPr lang="en-US" dirty="0"/>
              <a:t>, we read the /</a:t>
            </a:r>
            <a:r>
              <a:rPr lang="en-US" dirty="0" err="1"/>
              <a:t>etc</a:t>
            </a:r>
            <a:r>
              <a:rPr lang="en-US" dirty="0"/>
              <a:t>/passwd file. The output shows standard system accounts, but </a:t>
            </a:r>
            <a:r>
              <a:rPr lang="en-US" dirty="0">
                <a:solidFill>
                  <a:schemeClr val="accent6">
                    <a:lumMod val="75000"/>
                  </a:schemeClr>
                </a:solidFill>
              </a:rPr>
              <a:t>the</a:t>
            </a:r>
            <a:r>
              <a:rPr lang="en-US" dirty="0"/>
              <a:t> </a:t>
            </a:r>
            <a:r>
              <a:rPr lang="en-US" dirty="0">
                <a:solidFill>
                  <a:schemeClr val="accent6">
                    <a:lumMod val="75000"/>
                  </a:schemeClr>
                </a:solidFill>
              </a:rPr>
              <a:t>important discovery is user </a:t>
            </a:r>
            <a:r>
              <a:rPr lang="en-US" dirty="0" err="1">
                <a:solidFill>
                  <a:schemeClr val="accent6">
                    <a:lumMod val="75000"/>
                  </a:schemeClr>
                </a:solidFill>
              </a:rPr>
              <a:t>mowree</a:t>
            </a:r>
            <a:r>
              <a:rPr lang="en-US" dirty="0">
                <a:solidFill>
                  <a:schemeClr val="accent6">
                    <a:lumMod val="75000"/>
                  </a:schemeClr>
                </a:solidFill>
              </a:rPr>
              <a:t> </a:t>
            </a:r>
            <a:r>
              <a:rPr lang="en-US" dirty="0"/>
              <a:t>– the only human user with a bash shell.</a:t>
            </a:r>
          </a:p>
          <a:p>
            <a:r>
              <a:rPr lang="en-US" dirty="0"/>
              <a:t>This confirms that compromising </a:t>
            </a:r>
            <a:r>
              <a:rPr lang="en-US" dirty="0" err="1"/>
              <a:t>mowree</a:t>
            </a:r>
            <a:r>
              <a:rPr lang="en-US" dirty="0"/>
              <a:t> is the key to accessing the system.</a:t>
            </a:r>
          </a:p>
          <a:p>
            <a:r>
              <a:rPr lang="en-US" dirty="0"/>
              <a:t>We also see that www-data runs the web server, and </a:t>
            </a:r>
            <a:r>
              <a:rPr lang="en-US" dirty="0" err="1"/>
              <a:t>sshd</a:t>
            </a:r>
            <a:r>
              <a:rPr lang="en-US" dirty="0"/>
              <a:t> indicates SSH is active – both useful for later lateral movement.</a:t>
            </a:r>
          </a:p>
          <a:p>
            <a:r>
              <a:rPr lang="en-US" dirty="0"/>
              <a:t>No password hashes are visible because they're stored in /</a:t>
            </a:r>
            <a:r>
              <a:rPr lang="en-US" dirty="0" err="1"/>
              <a:t>etc</a:t>
            </a:r>
            <a:r>
              <a:rPr lang="en-US" dirty="0"/>
              <a:t>/shadow, which requires root privileges or additional vulnerabilities to read.</a:t>
            </a:r>
            <a:endParaRPr lang="en-KE" dirty="0"/>
          </a:p>
        </p:txBody>
      </p:sp>
    </p:spTree>
    <p:extLst>
      <p:ext uri="{BB962C8B-B14F-4D97-AF65-F5344CB8AC3E}">
        <p14:creationId xmlns:p14="http://schemas.microsoft.com/office/powerpoint/2010/main" val="1253022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9C4F2-994D-8D82-67FA-08439062B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C73A67-1ABD-44E5-D526-BB64E34EC57B}"/>
              </a:ext>
            </a:extLst>
          </p:cNvPr>
          <p:cNvSpPr>
            <a:spLocks noGrp="1"/>
          </p:cNvSpPr>
          <p:nvPr>
            <p:ph type="title"/>
          </p:nvPr>
        </p:nvSpPr>
        <p:spPr>
          <a:xfrm>
            <a:off x="566058" y="609601"/>
            <a:ext cx="3680885" cy="1371600"/>
          </a:xfrm>
        </p:spPr>
        <p:txBody>
          <a:bodyPr/>
          <a:lstStyle/>
          <a:p>
            <a:pPr>
              <a:lnSpc>
                <a:spcPts val="2400"/>
              </a:lnSpc>
              <a:spcBef>
                <a:spcPts val="2400"/>
              </a:spcBef>
              <a:spcAft>
                <a:spcPts val="1200"/>
              </a:spcAft>
            </a:pPr>
            <a:r>
              <a:rPr lang="en-US" b="1" dirty="0">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LFI Exploitation – Stealing SSH Private Keys</a:t>
            </a:r>
            <a:br>
              <a:rPr lang="en-US" b="1" dirty="0">
                <a:solidFill>
                  <a:srgbClr val="F9FAFB"/>
                </a:solidFill>
                <a:effectLst/>
                <a:latin typeface="quote-cjk-patch"/>
              </a:rPr>
            </a:br>
            <a:endParaRPr lang="en-KE" dirty="0"/>
          </a:p>
        </p:txBody>
      </p:sp>
      <p:pic>
        <p:nvPicPr>
          <p:cNvPr id="6" name="Content Placeholder 5">
            <a:extLst>
              <a:ext uri="{FF2B5EF4-FFF2-40B4-BE49-F238E27FC236}">
                <a16:creationId xmlns:a16="http://schemas.microsoft.com/office/drawing/2014/main" id="{AB563E59-7F4B-F68F-6FDD-3E954909C3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1741" y="163286"/>
            <a:ext cx="7064829" cy="5388428"/>
          </a:xfrm>
          <a:prstGeom prst="rect">
            <a:avLst/>
          </a:prstGeom>
        </p:spPr>
      </p:pic>
      <p:sp>
        <p:nvSpPr>
          <p:cNvPr id="4" name="Text Placeholder 3">
            <a:extLst>
              <a:ext uri="{FF2B5EF4-FFF2-40B4-BE49-F238E27FC236}">
                <a16:creationId xmlns:a16="http://schemas.microsoft.com/office/drawing/2014/main" id="{78F2AB0E-3E7E-1774-0790-934D00DFFA07}"/>
              </a:ext>
            </a:extLst>
          </p:cNvPr>
          <p:cNvSpPr>
            <a:spLocks noGrp="1"/>
          </p:cNvSpPr>
          <p:nvPr>
            <p:ph type="body" sz="half" idx="2"/>
          </p:nvPr>
        </p:nvSpPr>
        <p:spPr>
          <a:xfrm>
            <a:off x="566058" y="1796143"/>
            <a:ext cx="3680885" cy="4332514"/>
          </a:xfrm>
        </p:spPr>
        <p:txBody>
          <a:bodyPr/>
          <a:lstStyle/>
          <a:p>
            <a:r>
              <a:rPr lang="en-US" dirty="0"/>
              <a:t>Using the LFI vulnerability on </a:t>
            </a:r>
            <a:r>
              <a:rPr lang="en-US" dirty="0" err="1"/>
              <a:t>evil.php</a:t>
            </a:r>
            <a:r>
              <a:rPr lang="en-US" dirty="0"/>
              <a:t>, we navigated to </a:t>
            </a:r>
            <a:r>
              <a:rPr lang="en-US" dirty="0" err="1"/>
              <a:t>mowree's</a:t>
            </a:r>
            <a:r>
              <a:rPr lang="en-US" dirty="0"/>
              <a:t> .ssh directory and successfully retrieved the private SSH key.</a:t>
            </a:r>
          </a:p>
          <a:p>
            <a:r>
              <a:rPr lang="en-US" dirty="0"/>
              <a:t>The key is encrypted with Triple DES, indicated by the DEK-Info header and Proc-Type: ENCRYPTED flags.</a:t>
            </a:r>
          </a:p>
          <a:p>
            <a:r>
              <a:rPr lang="en-US" dirty="0"/>
              <a:t>This explains why we were prompted for a passphrase when connecting via SSH – the private key requires a password to be used.</a:t>
            </a:r>
          </a:p>
          <a:p>
            <a:r>
              <a:rPr lang="en-US" dirty="0"/>
              <a:t>Without the passphrase, the key alone is useless to an attacker. However, with offline brute-force tools, a weak passphrase could be cracked, granting undetected access to the system.</a:t>
            </a:r>
            <a:endParaRPr lang="en-KE" dirty="0"/>
          </a:p>
        </p:txBody>
      </p:sp>
    </p:spTree>
    <p:extLst>
      <p:ext uri="{BB962C8B-B14F-4D97-AF65-F5344CB8AC3E}">
        <p14:creationId xmlns:p14="http://schemas.microsoft.com/office/powerpoint/2010/main" val="1379920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3B978-57EB-FE14-7179-3881D9B8E8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7C5C1-6EDE-CF0E-0229-D3534DD042D9}"/>
              </a:ext>
            </a:extLst>
          </p:cNvPr>
          <p:cNvSpPr>
            <a:spLocks noGrp="1"/>
          </p:cNvSpPr>
          <p:nvPr>
            <p:ph type="title"/>
          </p:nvPr>
        </p:nvSpPr>
        <p:spPr>
          <a:xfrm>
            <a:off x="685800" y="283029"/>
            <a:ext cx="3680885" cy="1371599"/>
          </a:xfrm>
        </p:spPr>
        <p:txBody>
          <a:bodyPr>
            <a:normAutofit/>
          </a:bodyPr>
          <a:lstStyle/>
          <a:p>
            <a:pPr>
              <a:lnSpc>
                <a:spcPts val="2400"/>
              </a:lnSpc>
              <a:spcBef>
                <a:spcPts val="2400"/>
              </a:spcBef>
              <a:spcAft>
                <a:spcPts val="1200"/>
              </a:spcAft>
            </a:pPr>
            <a:r>
              <a:rPr lang="en-US" b="1" dirty="0">
                <a:solidFill>
                  <a:srgbClr val="F9FAFB"/>
                </a:solidFill>
                <a:effectLst/>
                <a:latin typeface="quote-cjk-patch"/>
              </a:rPr>
              <a:t> </a:t>
            </a:r>
            <a:r>
              <a:rPr lang="en-US" b="1" dirty="0">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Cracking the SSH Private Key – Password Recovery</a:t>
            </a:r>
            <a:br>
              <a:rPr lang="en-US" b="1" dirty="0">
                <a:solidFill>
                  <a:srgbClr val="F9FAFB"/>
                </a:solidFill>
                <a:effectLst/>
                <a:latin typeface="quote-cjk-patch"/>
              </a:rPr>
            </a:br>
            <a:endParaRPr lang="en-KE" dirty="0"/>
          </a:p>
        </p:txBody>
      </p:sp>
      <p:pic>
        <p:nvPicPr>
          <p:cNvPr id="6" name="Content Placeholder 5">
            <a:extLst>
              <a:ext uri="{FF2B5EF4-FFF2-40B4-BE49-F238E27FC236}">
                <a16:creationId xmlns:a16="http://schemas.microsoft.com/office/drawing/2014/main" id="{2893E09A-5BB9-13A9-97EA-B7291B82EF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8200" y="413657"/>
            <a:ext cx="7282543" cy="5127171"/>
          </a:xfrm>
          <a:prstGeom prst="rect">
            <a:avLst/>
          </a:prstGeom>
        </p:spPr>
      </p:pic>
      <p:sp>
        <p:nvSpPr>
          <p:cNvPr id="4" name="Text Placeholder 3">
            <a:extLst>
              <a:ext uri="{FF2B5EF4-FFF2-40B4-BE49-F238E27FC236}">
                <a16:creationId xmlns:a16="http://schemas.microsoft.com/office/drawing/2014/main" id="{3A46C91D-60CB-1E73-8D32-87C71CD51BAE}"/>
              </a:ext>
            </a:extLst>
          </p:cNvPr>
          <p:cNvSpPr>
            <a:spLocks noGrp="1"/>
          </p:cNvSpPr>
          <p:nvPr>
            <p:ph type="body" sz="half" idx="2"/>
          </p:nvPr>
        </p:nvSpPr>
        <p:spPr>
          <a:xfrm>
            <a:off x="685800" y="1534886"/>
            <a:ext cx="3680885" cy="4256315"/>
          </a:xfrm>
        </p:spPr>
        <p:txBody>
          <a:bodyPr>
            <a:normAutofit lnSpcReduction="10000"/>
          </a:bodyPr>
          <a:lstStyle/>
          <a:p>
            <a:r>
              <a:rPr lang="en-US" dirty="0"/>
              <a:t>With the encrypted SSH key in hand, we used ssh2john to convert it into a hash format compatible with John the Ripper.</a:t>
            </a:r>
          </a:p>
          <a:p>
            <a:r>
              <a:rPr lang="en-US" dirty="0"/>
              <a:t>Using the famous rockyou.txt wordlist – which contains over 14 million real-world leaked passwords – John cracked the passphrase unicorn in less than one second.</a:t>
            </a:r>
          </a:p>
          <a:p>
            <a:r>
              <a:rPr lang="en-US" dirty="0"/>
              <a:t>This highlights a critical failure: the user </a:t>
            </a:r>
            <a:r>
              <a:rPr lang="en-US" dirty="0" err="1"/>
              <a:t>mowree</a:t>
            </a:r>
            <a:r>
              <a:rPr lang="en-US" dirty="0"/>
              <a:t> chose an extremely weak password for their private key.</a:t>
            </a:r>
          </a:p>
          <a:p>
            <a:r>
              <a:rPr lang="en-US" dirty="0"/>
              <a:t>With the passphrase unicorn, an attacker can now use the private key without any interactive prompts, enabling fully automated and stealthy access to the target system.</a:t>
            </a:r>
            <a:endParaRPr lang="en-KE" dirty="0"/>
          </a:p>
        </p:txBody>
      </p:sp>
    </p:spTree>
    <p:extLst>
      <p:ext uri="{BB962C8B-B14F-4D97-AF65-F5344CB8AC3E}">
        <p14:creationId xmlns:p14="http://schemas.microsoft.com/office/powerpoint/2010/main" val="290690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F56F1-CA5E-DAC4-5569-25811EED4B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CA58C-A491-843E-5713-1843687AF1EB}"/>
              </a:ext>
            </a:extLst>
          </p:cNvPr>
          <p:cNvSpPr>
            <a:spLocks noGrp="1"/>
          </p:cNvSpPr>
          <p:nvPr>
            <p:ph type="title"/>
          </p:nvPr>
        </p:nvSpPr>
        <p:spPr>
          <a:xfrm>
            <a:off x="826558" y="609601"/>
            <a:ext cx="3680885" cy="1371600"/>
          </a:xfrm>
        </p:spPr>
        <p:txBody>
          <a:bodyPr/>
          <a:lstStyle/>
          <a:p>
            <a:pPr>
              <a:lnSpc>
                <a:spcPts val="2400"/>
              </a:lnSpc>
              <a:spcBef>
                <a:spcPts val="2400"/>
              </a:spcBef>
              <a:spcAft>
                <a:spcPts val="1200"/>
              </a:spcAft>
            </a:pPr>
            <a:r>
              <a:rPr lang="en-US" b="1" dirty="0">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Initial Access – SSH Connection to </a:t>
            </a:r>
            <a:r>
              <a:rPr lang="en-US" b="1" dirty="0" err="1">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EvilBox:ONE</a:t>
            </a:r>
            <a:br>
              <a:rPr lang="en-US" b="1" dirty="0">
                <a:solidFill>
                  <a:srgbClr val="F9FAFB"/>
                </a:solidFill>
                <a:effectLst/>
                <a:latin typeface="quote-cjk-patch"/>
              </a:rPr>
            </a:br>
            <a:endParaRPr lang="en-KE" dirty="0"/>
          </a:p>
        </p:txBody>
      </p:sp>
      <p:pic>
        <p:nvPicPr>
          <p:cNvPr id="6" name="Content Placeholder 5">
            <a:extLst>
              <a:ext uri="{FF2B5EF4-FFF2-40B4-BE49-F238E27FC236}">
                <a16:creationId xmlns:a16="http://schemas.microsoft.com/office/drawing/2014/main" id="{319EC3A9-248E-E2CD-3F5B-26F5FEF5A7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35286" y="468086"/>
            <a:ext cx="7456714" cy="5040087"/>
          </a:xfrm>
          <a:prstGeom prst="rect">
            <a:avLst/>
          </a:prstGeom>
        </p:spPr>
      </p:pic>
      <p:sp>
        <p:nvSpPr>
          <p:cNvPr id="4" name="Text Placeholder 3">
            <a:extLst>
              <a:ext uri="{FF2B5EF4-FFF2-40B4-BE49-F238E27FC236}">
                <a16:creationId xmlns:a16="http://schemas.microsoft.com/office/drawing/2014/main" id="{894BB085-818C-657C-1665-A87AD6008A04}"/>
              </a:ext>
            </a:extLst>
          </p:cNvPr>
          <p:cNvSpPr>
            <a:spLocks noGrp="1"/>
          </p:cNvSpPr>
          <p:nvPr>
            <p:ph type="body" sz="half" idx="2"/>
          </p:nvPr>
        </p:nvSpPr>
        <p:spPr>
          <a:xfrm>
            <a:off x="826558" y="1730830"/>
            <a:ext cx="3680885" cy="4060372"/>
          </a:xfrm>
        </p:spPr>
        <p:txBody>
          <a:bodyPr>
            <a:normAutofit lnSpcReduction="10000"/>
          </a:bodyPr>
          <a:lstStyle/>
          <a:p>
            <a:r>
              <a:rPr lang="en-US" dirty="0"/>
              <a:t>With the cracked passphrase unicorn, we </a:t>
            </a:r>
            <a:r>
              <a:rPr lang="en-US" dirty="0">
                <a:solidFill>
                  <a:srgbClr val="C00000"/>
                </a:solidFill>
              </a:rPr>
              <a:t>used ssh -</a:t>
            </a:r>
            <a:r>
              <a:rPr lang="en-US" dirty="0" err="1">
                <a:solidFill>
                  <a:srgbClr val="C00000"/>
                </a:solidFill>
              </a:rPr>
              <a:t>i</a:t>
            </a:r>
            <a:r>
              <a:rPr lang="en-US" dirty="0">
                <a:solidFill>
                  <a:srgbClr val="C00000"/>
                </a:solidFill>
              </a:rPr>
              <a:t> </a:t>
            </a:r>
            <a:r>
              <a:rPr lang="en-US" dirty="0" err="1">
                <a:solidFill>
                  <a:srgbClr val="C00000"/>
                </a:solidFill>
              </a:rPr>
              <a:t>evilonekey</a:t>
            </a:r>
            <a:r>
              <a:rPr lang="en-US" dirty="0">
                <a:solidFill>
                  <a:srgbClr val="C00000"/>
                </a:solidFill>
              </a:rPr>
              <a:t> to connect to 192.168.1.136 as user </a:t>
            </a:r>
            <a:r>
              <a:rPr lang="en-US" dirty="0" err="1">
                <a:solidFill>
                  <a:srgbClr val="C00000"/>
                </a:solidFill>
              </a:rPr>
              <a:t>mowree</a:t>
            </a:r>
            <a:r>
              <a:rPr lang="en-US" dirty="0"/>
              <a:t>.</a:t>
            </a:r>
          </a:p>
          <a:p>
            <a:r>
              <a:rPr lang="en-US" dirty="0"/>
              <a:t>The SSH client displayed a warning about post-quantum cryptography – this is not an immediate threat but highlights future risks of quantum computing breaking today's encryption.</a:t>
            </a:r>
          </a:p>
          <a:p>
            <a:r>
              <a:rPr lang="en-US" dirty="0"/>
              <a:t>After entering the passphrase, we gained shell access as </a:t>
            </a:r>
            <a:r>
              <a:rPr lang="en-US" dirty="0" err="1"/>
              <a:t>mowree</a:t>
            </a:r>
            <a:r>
              <a:rPr lang="en-US" dirty="0"/>
              <a:t>, confirmed by the prompt </a:t>
            </a:r>
            <a:r>
              <a:rPr lang="en-US" dirty="0" err="1"/>
              <a:t>mowree@EvilBoxOne</a:t>
            </a:r>
            <a:r>
              <a:rPr lang="en-US" dirty="0"/>
              <a:t>:~$.</a:t>
            </a:r>
          </a:p>
          <a:p>
            <a:r>
              <a:rPr lang="en-US" dirty="0"/>
              <a:t>From here, we captured the user flag and began the privilege escalation phase, where we discovered the writable /</a:t>
            </a:r>
            <a:r>
              <a:rPr lang="en-US" dirty="0" err="1"/>
              <a:t>etc</a:t>
            </a:r>
            <a:r>
              <a:rPr lang="en-US" dirty="0"/>
              <a:t>/passwd file.</a:t>
            </a:r>
            <a:endParaRPr lang="en-KE" dirty="0"/>
          </a:p>
        </p:txBody>
      </p:sp>
    </p:spTree>
    <p:extLst>
      <p:ext uri="{BB962C8B-B14F-4D97-AF65-F5344CB8AC3E}">
        <p14:creationId xmlns:p14="http://schemas.microsoft.com/office/powerpoint/2010/main" val="1133203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4890D-4DE6-A1F2-6EB1-25E4BC97E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A8D5F-CBD4-7626-4C5A-90910D0F7740}"/>
              </a:ext>
            </a:extLst>
          </p:cNvPr>
          <p:cNvSpPr>
            <a:spLocks noGrp="1"/>
          </p:cNvSpPr>
          <p:nvPr>
            <p:ph type="title"/>
          </p:nvPr>
        </p:nvSpPr>
        <p:spPr>
          <a:xfrm>
            <a:off x="440495" y="337457"/>
            <a:ext cx="4137326" cy="1371600"/>
          </a:xfrm>
        </p:spPr>
        <p:txBody>
          <a:bodyPr/>
          <a:lstStyle/>
          <a:p>
            <a:pPr>
              <a:lnSpc>
                <a:spcPts val="2400"/>
              </a:lnSpc>
              <a:spcBef>
                <a:spcPts val="2400"/>
              </a:spcBef>
              <a:spcAft>
                <a:spcPts val="1200"/>
              </a:spcAft>
            </a:pPr>
            <a:r>
              <a:rPr lang="en-US" b="1" dirty="0">
                <a:solidFill>
                  <a:srgbClr val="F9FAFB"/>
                </a:solidFill>
                <a:effectLst/>
                <a:latin typeface="quote-cjk-patch"/>
              </a:rPr>
              <a:t> </a:t>
            </a:r>
            <a:r>
              <a:rPr lang="en-US" b="1" dirty="0">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Privilege Escalation – From Standard User to Root</a:t>
            </a:r>
            <a:br>
              <a:rPr lang="en-US" b="1" dirty="0">
                <a:solidFill>
                  <a:srgbClr val="F9FAFB"/>
                </a:solidFill>
                <a:effectLst/>
                <a:latin typeface="quote-cjk-patch"/>
              </a:rPr>
            </a:br>
            <a:endParaRPr lang="en-KE" dirty="0"/>
          </a:p>
        </p:txBody>
      </p:sp>
      <p:pic>
        <p:nvPicPr>
          <p:cNvPr id="6" name="Content Placeholder 5">
            <a:extLst>
              <a:ext uri="{FF2B5EF4-FFF2-40B4-BE49-F238E27FC236}">
                <a16:creationId xmlns:a16="http://schemas.microsoft.com/office/drawing/2014/main" id="{56B54673-10D4-394D-58F5-150CA50E495C}"/>
              </a:ext>
            </a:extLst>
          </p:cNvPr>
          <p:cNvPicPr>
            <a:picLocks noGrp="1" noChangeAspect="1"/>
          </p:cNvPicPr>
          <p:nvPr>
            <p:ph idx="1"/>
          </p:nvPr>
        </p:nvPicPr>
        <p:blipFill>
          <a:blip r:embed="rId2"/>
          <a:stretch>
            <a:fillRect/>
          </a:stretch>
        </p:blipFill>
        <p:spPr>
          <a:xfrm>
            <a:off x="4800599" y="174171"/>
            <a:ext cx="7304315" cy="5334000"/>
          </a:xfrm>
          <a:prstGeom prst="rect">
            <a:avLst/>
          </a:prstGeom>
        </p:spPr>
      </p:pic>
      <p:sp>
        <p:nvSpPr>
          <p:cNvPr id="4" name="Text Placeholder 3">
            <a:extLst>
              <a:ext uri="{FF2B5EF4-FFF2-40B4-BE49-F238E27FC236}">
                <a16:creationId xmlns:a16="http://schemas.microsoft.com/office/drawing/2014/main" id="{EA6C6879-AD66-99F9-9695-BDD761B2DF74}"/>
              </a:ext>
            </a:extLst>
          </p:cNvPr>
          <p:cNvSpPr>
            <a:spLocks noGrp="1"/>
          </p:cNvSpPr>
          <p:nvPr>
            <p:ph type="body" sz="half" idx="2"/>
          </p:nvPr>
        </p:nvSpPr>
        <p:spPr>
          <a:xfrm>
            <a:off x="370114" y="1611087"/>
            <a:ext cx="4517572" cy="4909456"/>
          </a:xfrm>
        </p:spPr>
        <p:txBody>
          <a:bodyPr>
            <a:normAutofit lnSpcReduction="10000"/>
          </a:bodyPr>
          <a:lstStyle/>
          <a:p>
            <a:r>
              <a:rPr lang="en-US" dirty="0"/>
              <a:t>After gaining initial access as </a:t>
            </a:r>
            <a:r>
              <a:rPr lang="en-US" dirty="0" err="1"/>
              <a:t>mowree</a:t>
            </a:r>
            <a:r>
              <a:rPr lang="en-US" dirty="0"/>
              <a:t>, we immediately checked for privilege escalation vectors. The command ls -l /</a:t>
            </a:r>
            <a:r>
              <a:rPr lang="en-US" dirty="0" err="1"/>
              <a:t>etc</a:t>
            </a:r>
            <a:r>
              <a:rPr lang="en-US" dirty="0"/>
              <a:t>/passwd revealed a critical misconfiguration: the file had world-writable permissions (-</a:t>
            </a:r>
            <a:r>
              <a:rPr lang="en-US" dirty="0" err="1"/>
              <a:t>rw-rw-rw</a:t>
            </a:r>
            <a:r>
              <a:rPr lang="en-US" dirty="0"/>
              <a:t>-).</a:t>
            </a:r>
          </a:p>
          <a:p>
            <a:r>
              <a:rPr lang="en-US" dirty="0"/>
              <a:t>This allowed any user to modify the password file. We crafted a new entry for a user named root2, setting its UID and GID to 0 – the same as the real root user.</a:t>
            </a:r>
          </a:p>
          <a:p>
            <a:r>
              <a:rPr lang="en-US" dirty="0"/>
              <a:t>The password hash was generated using </a:t>
            </a:r>
            <a:r>
              <a:rPr lang="en-US" dirty="0" err="1"/>
              <a:t>openssl</a:t>
            </a:r>
            <a:r>
              <a:rPr lang="en-US" dirty="0"/>
              <a:t> passwd -1 password123.</a:t>
            </a:r>
          </a:p>
          <a:p>
            <a:r>
              <a:rPr lang="en-US" dirty="0"/>
              <a:t>Initially, we encountered an authentication failure – likely due to a password typo or hash mismatch – but on the second attempt, we successfully switched to root2 and gained full root privileges, confirmed by the # prompt and id command showing </a:t>
            </a:r>
            <a:r>
              <a:rPr lang="en-US" dirty="0" err="1"/>
              <a:t>uid</a:t>
            </a:r>
            <a:r>
              <a:rPr lang="en-US" dirty="0"/>
              <a:t>=0(root).</a:t>
            </a:r>
          </a:p>
          <a:p>
            <a:r>
              <a:rPr lang="en-US" dirty="0"/>
              <a:t>From here, we can read any file, modify any configuration, and fully compromise the system.</a:t>
            </a:r>
            <a:endParaRPr lang="en-KE" dirty="0"/>
          </a:p>
        </p:txBody>
      </p:sp>
    </p:spTree>
    <p:extLst>
      <p:ext uri="{BB962C8B-B14F-4D97-AF65-F5344CB8AC3E}">
        <p14:creationId xmlns:p14="http://schemas.microsoft.com/office/powerpoint/2010/main" val="4138392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6E0DB-7097-C2E9-A479-2106DE823569}"/>
              </a:ext>
            </a:extLst>
          </p:cNvPr>
          <p:cNvSpPr>
            <a:spLocks noGrp="1"/>
          </p:cNvSpPr>
          <p:nvPr>
            <p:ph type="title"/>
          </p:nvPr>
        </p:nvSpPr>
        <p:spPr>
          <a:xfrm>
            <a:off x="152400" y="337456"/>
            <a:ext cx="4284285" cy="1328057"/>
          </a:xfrm>
        </p:spPr>
        <p:txBody>
          <a:bodyPr>
            <a:normAutofit/>
          </a:bodyPr>
          <a:lstStyle/>
          <a:p>
            <a:pPr>
              <a:lnSpc>
                <a:spcPts val="2400"/>
              </a:lnSpc>
              <a:spcBef>
                <a:spcPts val="2400"/>
              </a:spcBef>
              <a:spcAft>
                <a:spcPts val="1200"/>
              </a:spcAft>
            </a:pPr>
            <a:r>
              <a:rPr lang="en-US" b="1" dirty="0">
                <a:solidFill>
                  <a:srgbClr val="00B050"/>
                </a:solidFill>
                <a:effectLst/>
                <a:latin typeface="ADLaM Display" panose="02010000000000000000" pitchFamily="2" charset="0"/>
                <a:ea typeface="ADLaM Display" panose="02010000000000000000" pitchFamily="2" charset="0"/>
                <a:cs typeface="ADLaM Display" panose="02010000000000000000" pitchFamily="2" charset="0"/>
              </a:rPr>
              <a:t>Final Victory – Capturing the Root Flag</a:t>
            </a:r>
            <a:br>
              <a:rPr lang="en-US" b="1" dirty="0">
                <a:solidFill>
                  <a:srgbClr val="F9FAFB"/>
                </a:solidFill>
                <a:effectLst/>
                <a:latin typeface="quote-cjk-patch"/>
              </a:rPr>
            </a:br>
            <a:endParaRPr lang="en-KE" dirty="0"/>
          </a:p>
        </p:txBody>
      </p:sp>
      <p:pic>
        <p:nvPicPr>
          <p:cNvPr id="6" name="Content Placeholder 5">
            <a:extLst>
              <a:ext uri="{FF2B5EF4-FFF2-40B4-BE49-F238E27FC236}">
                <a16:creationId xmlns:a16="http://schemas.microsoft.com/office/drawing/2014/main" id="{5BBF9CAD-93FB-6995-51A8-FA97DB03879A}"/>
              </a:ext>
            </a:extLst>
          </p:cNvPr>
          <p:cNvPicPr>
            <a:picLocks noGrp="1" noChangeAspect="1"/>
          </p:cNvPicPr>
          <p:nvPr>
            <p:ph idx="1"/>
          </p:nvPr>
        </p:nvPicPr>
        <p:blipFill>
          <a:blip r:embed="rId2"/>
          <a:stretch>
            <a:fillRect/>
          </a:stretch>
        </p:blipFill>
        <p:spPr>
          <a:xfrm>
            <a:off x="4789714" y="446314"/>
            <a:ext cx="7249886" cy="4484914"/>
          </a:xfrm>
          <a:prstGeom prst="rect">
            <a:avLst/>
          </a:prstGeom>
        </p:spPr>
      </p:pic>
      <p:sp>
        <p:nvSpPr>
          <p:cNvPr id="4" name="Text Placeholder 3">
            <a:extLst>
              <a:ext uri="{FF2B5EF4-FFF2-40B4-BE49-F238E27FC236}">
                <a16:creationId xmlns:a16="http://schemas.microsoft.com/office/drawing/2014/main" id="{28E4E984-2478-F751-3FB7-BC335B3E0312}"/>
              </a:ext>
            </a:extLst>
          </p:cNvPr>
          <p:cNvSpPr>
            <a:spLocks noGrp="1"/>
          </p:cNvSpPr>
          <p:nvPr>
            <p:ph type="body" sz="half" idx="2"/>
          </p:nvPr>
        </p:nvSpPr>
        <p:spPr>
          <a:xfrm>
            <a:off x="152400" y="1839686"/>
            <a:ext cx="4637314" cy="4931229"/>
          </a:xfrm>
        </p:spPr>
        <p:txBody>
          <a:bodyPr>
            <a:normAutofit/>
          </a:bodyPr>
          <a:lstStyle/>
          <a:p>
            <a:r>
              <a:rPr lang="en-US" dirty="0"/>
              <a:t>With root access confirmed, we navigated to /root – the home directory of the superuser. A long listing revealed several standard configuration files: .</a:t>
            </a:r>
            <a:r>
              <a:rPr lang="en-US" dirty="0" err="1"/>
              <a:t>bashrc</a:t>
            </a:r>
            <a:r>
              <a:rPr lang="en-US" dirty="0"/>
              <a:t>, .profile, and .local.</a:t>
            </a:r>
          </a:p>
          <a:p>
            <a:r>
              <a:rPr lang="en-US" dirty="0"/>
              <a:t>Notice that .</a:t>
            </a:r>
            <a:r>
              <a:rPr lang="en-US" dirty="0" err="1"/>
              <a:t>bash_history</a:t>
            </a:r>
            <a:r>
              <a:rPr lang="en-US" dirty="0"/>
              <a:t> is </a:t>
            </a:r>
            <a:r>
              <a:rPr lang="en-US" dirty="0" err="1"/>
              <a:t>symlinked</a:t>
            </a:r>
            <a:r>
              <a:rPr lang="en-US" dirty="0"/>
              <a:t> to /dev/null – this prevents any command history from being saved, a common anti-forensics technique.</a:t>
            </a:r>
          </a:p>
          <a:p>
            <a:r>
              <a:rPr lang="en-US" dirty="0"/>
              <a:t>The file we're interested in is root.txt, with permissions r-------- – only readable by root.</a:t>
            </a:r>
          </a:p>
          <a:p>
            <a:r>
              <a:rPr lang="en-US" dirty="0"/>
              <a:t>We displayed its contents with cat root.txt, revealing the final flag: </a:t>
            </a:r>
            <a:r>
              <a:rPr lang="en-US" dirty="0">
                <a:solidFill>
                  <a:srgbClr val="C00000"/>
                </a:solidFill>
              </a:rPr>
              <a:t>36QtXfdJwvdC0VavLPIApUbDlqTsBM.</a:t>
            </a:r>
          </a:p>
          <a:p>
            <a:r>
              <a:rPr lang="en-US" dirty="0"/>
              <a:t>This marks the successful completion of the </a:t>
            </a:r>
            <a:r>
              <a:rPr lang="en-US" dirty="0" err="1"/>
              <a:t>EvilBox</a:t>
            </a:r>
            <a:r>
              <a:rPr lang="en-US" dirty="0"/>
              <a:t>: ONE challenge – from initial network discovery to full system compromise</a:t>
            </a:r>
            <a:endParaRPr lang="en-KE" dirty="0"/>
          </a:p>
        </p:txBody>
      </p:sp>
    </p:spTree>
    <p:extLst>
      <p:ext uri="{BB962C8B-B14F-4D97-AF65-F5344CB8AC3E}">
        <p14:creationId xmlns:p14="http://schemas.microsoft.com/office/powerpoint/2010/main" val="2872709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BC8F3-4057-62D0-69D2-2141589BAE4F}"/>
              </a:ext>
            </a:extLst>
          </p:cNvPr>
          <p:cNvSpPr>
            <a:spLocks noGrp="1"/>
          </p:cNvSpPr>
          <p:nvPr>
            <p:ph type="title"/>
          </p:nvPr>
        </p:nvSpPr>
        <p:spPr>
          <a:xfrm>
            <a:off x="250371" y="0"/>
            <a:ext cx="11593286" cy="6781800"/>
          </a:xfrm>
        </p:spPr>
        <p:txBody>
          <a:bodyPr>
            <a:normAutofit/>
          </a:bodyPr>
          <a:lstStyle/>
          <a:p>
            <a:r>
              <a:rPr lang="en-US" sz="2800" b="1" dirty="0"/>
              <a:t> </a:t>
            </a:r>
            <a:r>
              <a:rPr lang="en-US" sz="2800" b="1"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Lessons Learned (Key Takeaways)</a:t>
            </a:r>
            <a:br>
              <a:rPr lang="en-US" sz="2800" b="1" dirty="0"/>
            </a:br>
            <a:r>
              <a:rPr lang="en-US" sz="2800" b="1" dirty="0">
                <a:solidFill>
                  <a:srgbClr val="C00000"/>
                </a:solidFill>
              </a:rPr>
              <a:t>For Blue Teams (Defenders):</a:t>
            </a:r>
            <a:br>
              <a:rPr lang="en-US" sz="2800" b="1" dirty="0"/>
            </a:br>
            <a:r>
              <a:rPr lang="en-US" sz="2800" b="1" dirty="0"/>
              <a:t>Never make </a:t>
            </a:r>
            <a:r>
              <a:rPr lang="en-US" sz="2800" dirty="0"/>
              <a:t>/</a:t>
            </a:r>
            <a:r>
              <a:rPr lang="en-US" sz="2800" dirty="0" err="1"/>
              <a:t>etc</a:t>
            </a:r>
            <a:r>
              <a:rPr lang="en-US" sz="2800" dirty="0"/>
              <a:t>/passwd</a:t>
            </a:r>
            <a:r>
              <a:rPr lang="en-US" sz="2800" b="1" dirty="0"/>
              <a:t> writable</a:t>
            </a:r>
            <a:r>
              <a:rPr lang="en-US" sz="2800" dirty="0"/>
              <a:t> – </a:t>
            </a:r>
            <a:r>
              <a:rPr lang="en-US" sz="2800" dirty="0" err="1"/>
              <a:t>chmod</a:t>
            </a:r>
            <a:r>
              <a:rPr lang="en-US" sz="2800" dirty="0"/>
              <a:t> 644 /</a:t>
            </a:r>
            <a:r>
              <a:rPr lang="en-US" sz="2800" dirty="0" err="1"/>
              <a:t>etc</a:t>
            </a:r>
            <a:r>
              <a:rPr lang="en-US" sz="2800" dirty="0"/>
              <a:t>/passwd</a:t>
            </a:r>
            <a:br>
              <a:rPr lang="en-US" sz="2800" dirty="0"/>
            </a:br>
            <a:r>
              <a:rPr lang="en-US" sz="2800" b="1" dirty="0"/>
              <a:t>Remove web shells immediately</a:t>
            </a:r>
            <a:r>
              <a:rPr lang="en-US" sz="2800" dirty="0"/>
              <a:t> – Scan for </a:t>
            </a:r>
            <a:r>
              <a:rPr lang="en-US" sz="2800" dirty="0" err="1"/>
              <a:t>evil.php</a:t>
            </a:r>
            <a:r>
              <a:rPr lang="en-US" sz="2800" dirty="0"/>
              <a:t>, </a:t>
            </a:r>
            <a:r>
              <a:rPr lang="en-US" sz="2800" dirty="0" err="1"/>
              <a:t>cmd.php</a:t>
            </a:r>
            <a:r>
              <a:rPr lang="en-US" sz="2800" dirty="0"/>
              <a:t>, etc.</a:t>
            </a:r>
            <a:br>
              <a:rPr lang="en-US" sz="2800" dirty="0"/>
            </a:br>
            <a:r>
              <a:rPr lang="en-US" sz="2800" b="1" dirty="0"/>
              <a:t>Monitor file integrity</a:t>
            </a:r>
            <a:r>
              <a:rPr lang="en-US" sz="2800" dirty="0"/>
              <a:t> – Alert on /</a:t>
            </a:r>
            <a:r>
              <a:rPr lang="en-US" sz="2800" dirty="0" err="1"/>
              <a:t>etc</a:t>
            </a:r>
            <a:r>
              <a:rPr lang="en-US" sz="2800" dirty="0"/>
              <a:t>/passwd changes</a:t>
            </a:r>
            <a:br>
              <a:rPr lang="en-US" sz="2800" dirty="0"/>
            </a:br>
            <a:r>
              <a:rPr lang="en-US" sz="2800" b="1" dirty="0"/>
              <a:t>Use SHA-512 password hashing</a:t>
            </a:r>
            <a:r>
              <a:rPr lang="en-US" sz="2800" dirty="0"/>
              <a:t> – MD5 is deprecated</a:t>
            </a:r>
            <a:br>
              <a:rPr lang="en-US" sz="2800" dirty="0"/>
            </a:br>
            <a:r>
              <a:rPr lang="en-US" sz="2800" b="1" dirty="0"/>
              <a:t>Restrict .ssh directory access</a:t>
            </a:r>
            <a:r>
              <a:rPr lang="en-US" sz="2800" dirty="0"/>
              <a:t> – Web server should not read it</a:t>
            </a:r>
            <a:br>
              <a:rPr lang="en-US" sz="2800" dirty="0"/>
            </a:br>
            <a:r>
              <a:rPr lang="en-US" sz="2800" b="1" dirty="0">
                <a:solidFill>
                  <a:srgbClr val="C00000"/>
                </a:solidFill>
              </a:rPr>
              <a:t>For Red Teams (Attackers):</a:t>
            </a:r>
            <a:br>
              <a:rPr lang="en-US" sz="2800" b="1" dirty="0"/>
            </a:br>
            <a:r>
              <a:rPr lang="en-US" sz="2800" b="1" dirty="0"/>
              <a:t>Always check </a:t>
            </a:r>
            <a:r>
              <a:rPr lang="en-US" sz="2800" dirty="0"/>
              <a:t>/</a:t>
            </a:r>
            <a:r>
              <a:rPr lang="en-US" sz="2800" dirty="0" err="1"/>
              <a:t>etc</a:t>
            </a:r>
            <a:r>
              <a:rPr lang="en-US" sz="2800" dirty="0"/>
              <a:t>/passwd</a:t>
            </a:r>
            <a:r>
              <a:rPr lang="en-US" sz="2800" b="1" dirty="0"/>
              <a:t> permissions</a:t>
            </a:r>
            <a:r>
              <a:rPr lang="en-US" sz="2800" dirty="0"/>
              <a:t> – Quick win for </a:t>
            </a:r>
            <a:r>
              <a:rPr lang="en-US" sz="2800" dirty="0" err="1"/>
              <a:t>priv</a:t>
            </a:r>
            <a:r>
              <a:rPr lang="en-US" sz="2800" dirty="0"/>
              <a:t> esc</a:t>
            </a:r>
            <a:br>
              <a:rPr lang="en-US" sz="2800" dirty="0"/>
            </a:br>
            <a:r>
              <a:rPr lang="en-US" sz="2800" b="1" dirty="0"/>
              <a:t>LFI can lead to full compromise</a:t>
            </a:r>
            <a:r>
              <a:rPr lang="en-US" sz="2800" dirty="0"/>
              <a:t> – Chain with key extraction</a:t>
            </a:r>
            <a:br>
              <a:rPr lang="en-US" sz="2800" dirty="0"/>
            </a:br>
            <a:r>
              <a:rPr lang="en-US" sz="2800" b="1" dirty="0"/>
              <a:t>Wordlists work</a:t>
            </a:r>
            <a:r>
              <a:rPr lang="en-US" sz="2800" dirty="0"/>
              <a:t> – rockyou.txt cracked unicorn instantly</a:t>
            </a:r>
            <a:br>
              <a:rPr lang="en-US" sz="2800" dirty="0"/>
            </a:br>
            <a:r>
              <a:rPr lang="en-US" sz="2800" b="1" dirty="0"/>
              <a:t>Add root users directly</a:t>
            </a:r>
            <a:r>
              <a:rPr lang="en-US" sz="2800" dirty="0"/>
              <a:t> – When /</a:t>
            </a:r>
            <a:r>
              <a:rPr lang="en-US" sz="2800" dirty="0" err="1"/>
              <a:t>etc</a:t>
            </a:r>
            <a:r>
              <a:rPr lang="en-US" sz="2800" dirty="0"/>
              <a:t>/passwd writable, UID=0 is key</a:t>
            </a:r>
            <a:br>
              <a:rPr lang="en-US" sz="2800" dirty="0"/>
            </a:br>
            <a:endParaRPr lang="en-KE" sz="2800" dirty="0"/>
          </a:p>
        </p:txBody>
      </p:sp>
    </p:spTree>
    <p:extLst>
      <p:ext uri="{BB962C8B-B14F-4D97-AF65-F5344CB8AC3E}">
        <p14:creationId xmlns:p14="http://schemas.microsoft.com/office/powerpoint/2010/main" val="3133108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5EACB-5B95-6EF4-3B1D-8624B614BB17}"/>
              </a:ext>
            </a:extLst>
          </p:cNvPr>
          <p:cNvSpPr>
            <a:spLocks noGrp="1"/>
          </p:cNvSpPr>
          <p:nvPr>
            <p:ph type="title"/>
          </p:nvPr>
        </p:nvSpPr>
        <p:spPr>
          <a:xfrm>
            <a:off x="685801" y="217714"/>
            <a:ext cx="11168742" cy="6520543"/>
          </a:xfrm>
        </p:spPr>
        <p:txBody>
          <a:bodyPr>
            <a:noAutofit/>
          </a:bodyPr>
          <a:lstStyle/>
          <a:p>
            <a:endParaRPr lang="en-KE" sz="1800" dirty="0"/>
          </a:p>
        </p:txBody>
      </p:sp>
      <p:pic>
        <p:nvPicPr>
          <p:cNvPr id="4" name="Picture 3">
            <a:extLst>
              <a:ext uri="{FF2B5EF4-FFF2-40B4-BE49-F238E27FC236}">
                <a16:creationId xmlns:a16="http://schemas.microsoft.com/office/drawing/2014/main" id="{CB2140C4-F5F4-E16D-AB45-11670352F235}"/>
              </a:ext>
            </a:extLst>
          </p:cNvPr>
          <p:cNvPicPr>
            <a:picLocks noChangeAspect="1"/>
          </p:cNvPicPr>
          <p:nvPr/>
        </p:nvPicPr>
        <p:blipFill>
          <a:blip r:embed="rId2"/>
          <a:stretch>
            <a:fillRect/>
          </a:stretch>
        </p:blipFill>
        <p:spPr>
          <a:xfrm>
            <a:off x="952500" y="337456"/>
            <a:ext cx="10287000" cy="6204858"/>
          </a:xfrm>
          <a:prstGeom prst="rect">
            <a:avLst/>
          </a:prstGeom>
        </p:spPr>
      </p:pic>
    </p:spTree>
    <p:extLst>
      <p:ext uri="{BB962C8B-B14F-4D97-AF65-F5344CB8AC3E}">
        <p14:creationId xmlns:p14="http://schemas.microsoft.com/office/powerpoint/2010/main" val="2351031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C212B-B313-8176-DF7E-FF49561AEA64}"/>
              </a:ext>
            </a:extLst>
          </p:cNvPr>
          <p:cNvSpPr>
            <a:spLocks noGrp="1"/>
          </p:cNvSpPr>
          <p:nvPr>
            <p:ph type="title"/>
          </p:nvPr>
        </p:nvSpPr>
        <p:spPr>
          <a:xfrm>
            <a:off x="685801" y="609600"/>
            <a:ext cx="10131425" cy="5388429"/>
          </a:xfrm>
        </p:spPr>
        <p:txBody>
          <a:bodyPr>
            <a:normAutofit/>
          </a:bodyPr>
          <a:lstStyle/>
          <a:p>
            <a:pPr latinLnBrk="1"/>
            <a:r>
              <a:rPr lang="en-US" dirty="0"/>
              <a:t> </a:t>
            </a:r>
            <a:r>
              <a:rPr lang="en-US" sz="2200" dirty="0" err="1"/>
              <a:t>EvilBox</a:t>
            </a:r>
            <a:r>
              <a:rPr lang="en-US" sz="2200" dirty="0"/>
              <a:t>: ONE has been successfully rooted.                                  </a:t>
            </a:r>
            <a:br>
              <a:rPr lang="en-US" sz="2200" dirty="0"/>
            </a:br>
            <a:r>
              <a:rPr lang="en-US" sz="2200" dirty="0"/>
              <a:t>                                                                               </a:t>
            </a:r>
            <a:br>
              <a:rPr lang="en-US" sz="2200" dirty="0"/>
            </a:br>
            <a:r>
              <a:rPr lang="en-US" sz="2200" dirty="0"/>
              <a:t>  This walkthrough demonstrated:                                              </a:t>
            </a:r>
            <a:br>
              <a:rPr lang="en-US" sz="2200" dirty="0"/>
            </a:br>
            <a:r>
              <a:rPr lang="en-US" sz="2200" dirty="0"/>
              <a:t>   • Proper enumeration techniques                                            </a:t>
            </a:r>
            <a:br>
              <a:rPr lang="en-US" sz="2200" dirty="0"/>
            </a:br>
            <a:r>
              <a:rPr lang="en-US" sz="2200" dirty="0"/>
              <a:t>   • Chaining multiple vulnerabilities                                        </a:t>
            </a:r>
            <a:br>
              <a:rPr lang="en-US" sz="2200" dirty="0"/>
            </a:br>
            <a:r>
              <a:rPr lang="en-US" sz="2200" dirty="0"/>
              <a:t>   • The critical importance of file permissions                              </a:t>
            </a:r>
            <a:br>
              <a:rPr lang="en-US" sz="2200" dirty="0"/>
            </a:br>
            <a:r>
              <a:rPr lang="en-US" sz="2200" dirty="0"/>
              <a:t>   • How one weak link (writable /</a:t>
            </a:r>
            <a:r>
              <a:rPr lang="en-US" sz="2200" dirty="0" err="1"/>
              <a:t>etc</a:t>
            </a:r>
            <a:r>
              <a:rPr lang="en-US" sz="2200" dirty="0"/>
              <a:t>/passwd) breaks all security             </a:t>
            </a:r>
            <a:br>
              <a:rPr lang="en-US" sz="2200" dirty="0"/>
            </a:br>
            <a:r>
              <a:rPr lang="en-US" sz="2200" dirty="0"/>
              <a:t>                                                                                                                                                     </a:t>
            </a:r>
            <a:br>
              <a:rPr lang="en-US" dirty="0"/>
            </a:b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exploited by: ryan brian </a:t>
            </a:r>
            <a:r>
              <a:rPr lang="en-US" sz="1800" dirty="0" err="1">
                <a:solidFill>
                  <a:srgbClr val="00B050"/>
                </a:solidFill>
                <a:latin typeface="ADLaM Display" panose="02010000000000000000" pitchFamily="2" charset="0"/>
                <a:ea typeface="ADLaM Display" panose="02010000000000000000" pitchFamily="2" charset="0"/>
                <a:cs typeface="ADLaM Display" panose="02010000000000000000" pitchFamily="2" charset="0"/>
              </a:rPr>
              <a:t>odhiambo</a:t>
            </a:r>
            <a:endParaRPr lang="en-KE"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543857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TM03457452[[fn=Celestial]]</Template>
  <TotalTime>153</TotalTime>
  <Words>1400</Words>
  <Application>Microsoft Office PowerPoint</Application>
  <PresentationFormat>Widescreen</PresentationFormat>
  <Paragraphs>53</Paragraphs>
  <Slides>15</Slides>
  <Notes>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15</vt:i4>
      </vt:variant>
    </vt:vector>
  </HeadingPairs>
  <TitlesOfParts>
    <vt:vector size="28" baseType="lpstr">
      <vt:lpstr>ADLaM Display</vt:lpstr>
      <vt:lpstr>Algerian</vt:lpstr>
      <vt:lpstr>Aptos</vt:lpstr>
      <vt:lpstr>Aptos Display</vt:lpstr>
      <vt:lpstr>Arial</vt:lpstr>
      <vt:lpstr>Calibri</vt:lpstr>
      <vt:lpstr>Calibri Light</vt:lpstr>
      <vt:lpstr>Courier New</vt:lpstr>
      <vt:lpstr>Menlo</vt:lpstr>
      <vt:lpstr>quote-cjk-patch</vt:lpstr>
      <vt:lpstr>Celestial</vt:lpstr>
      <vt:lpstr>1_Custom Design</vt:lpstr>
      <vt:lpstr>Custom Design</vt:lpstr>
      <vt:lpstr>From Enumeration to Root: Exploiting EvilBox: One</vt:lpstr>
      <vt:lpstr>Host discovery</vt:lpstr>
      <vt:lpstr>Vulnerability Scanning – Nmap Script Scan </vt:lpstr>
      <vt:lpstr>Directory enumeration using gobuster.</vt:lpstr>
      <vt:lpstr>Directory enumeration using dirb.</vt:lpstr>
      <vt:lpstr> Parameter Fuzzing – Discovering LFI on evil.php </vt:lpstr>
      <vt:lpstr>LFI Exploitation – Reading /etc/passwd </vt:lpstr>
      <vt:lpstr>LFI Exploitation – Stealing SSH Private Keys </vt:lpstr>
      <vt:lpstr> Cracking the SSH Private Key – Password Recovery </vt:lpstr>
      <vt:lpstr>Initial Access – SSH Connection to EvilBox:ONE </vt:lpstr>
      <vt:lpstr> Privilege Escalation – From Standard User to Root </vt:lpstr>
      <vt:lpstr>Final Victory – Capturing the Root Flag </vt:lpstr>
      <vt:lpstr> Lessons Learned (Key Takeaways) For Blue Teams (Defenders): Never make /etc/passwd writable – chmod 644 /etc/passwd Remove web shells immediately – Scan for evil.php, cmd.php, etc. Monitor file integrity – Alert on /etc/passwd changes Use SHA-512 password hashing – MD5 is deprecated Restrict .ssh directory access – Web server should not read it For Red Teams (Attackers): Always check /etc/passwd permissions – Quick win for priv esc LFI can lead to full compromise – Chain with key extraction Wordlists work – rockyou.txt cracked unicorn instantly Add root users directly – When /etc/passwd writable, UID=0 is key </vt:lpstr>
      <vt:lpstr>PowerPoint Presentation</vt:lpstr>
      <vt:lpstr> EvilBox: ONE has been successfully rooted.                                                                                                                     This walkthrough demonstrated:                                                  • Proper enumeration techniques                                                • Chaining multiple vulnerabilities                                            • The critical importance of file permissions                                  • How one weak link (writable /etc/passwd) breaks all security                                                                                                                                                                    exploited by: ryan brian odhiambo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brian</dc:creator>
  <cp:lastModifiedBy>ryan brian</cp:lastModifiedBy>
  <cp:revision>3</cp:revision>
  <dcterms:created xsi:type="dcterms:W3CDTF">2026-04-30T05:15:26Z</dcterms:created>
  <dcterms:modified xsi:type="dcterms:W3CDTF">2026-05-02T03:56:17Z</dcterms:modified>
</cp:coreProperties>
</file>